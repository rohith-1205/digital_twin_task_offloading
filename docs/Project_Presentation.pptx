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a4c5243-92f6-7bed-a651-3059545294a7}">
          <p14:sldIdLst>
            <p14:sldId id="256"/>
            <p14:sldId id="257"/>
          </p14:sldIdLst>
        </p14:section>
        <p14:section name="Digital Twin" id="{c099fafc-74a2-319b-c376-b66798a70633}">
          <p14:sldIdLst>
            <p14:sldId id="258"/>
            <p14:sldId id="259"/>
            <p14:sldId id="260"/>
            <p14:sldId id="261"/>
          </p14:sldIdLst>
        </p14:section>
        <p14:section name="Predictor &amp; Decision" id="{a16c1e82-1cd0-7cbf-cd47-e4daa0c10892}">
          <p14:sldIdLst>
            <p14:sldId id="262"/>
            <p14:sldId id="263"/>
            <p14:sldId id="264"/>
          </p14:sldIdLst>
        </p14:section>
        <p14:section name="Results" id="{ec4f0bb4-2c6b-c55b-9fb6-721d34def567}">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2E8F0"/>
                </a:solidFill>
                <a:latin typeface="+mn-lt"/>
              </a:defRPr>
            </a:pPr>
            <a:r>
              <a:rPr sz="1400" b="0" i="0" u="none" strike="noStrike">
                <a:solidFill>
                  <a:srgbClr val="E2E8F0"/>
                </a:solidFill>
                <a:latin typeface="+mn-lt"/>
              </a:rPr>
              <a:t>Ideal decisions matched (%)</a:t>
            </a:r>
          </a:p>
        </c:rich>
      </c:tx>
      <c:layout/>
      <c:overlay val="0"/>
    </c:title>
    <c:autoTitleDeleted val="0"/>
    <c:plotArea>
      <c:layout/>
      <c:barChart>
        <c:barDir val="col"/>
        <c:grouping val="clustered"/>
        <c:varyColors val="0"/>
        <c:ser>
          <c:idx val="0"/>
          <c:order val="0"/>
          <c:tx>
            <c:strRef>
              <c:f>Sheet1!$B$1</c:f>
              <c:strCache>
                <c:ptCount val="1"/>
                <c:pt idx="0">
                  <c:v>Agreement with oracle (%)</c:v>
                </c:pt>
              </c:strCache>
            </c:strRef>
          </c:tx>
          <c:spPr>
            <a:solidFill>
              <a:srgbClr val="8B5CF6"/>
            </a:solidFill>
            <a:effectLst/>
          </c:spPr>
          <c:invertIfNegative val="0"/>
          <c:dLbls>
            <c:numFmt formatCode="0.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8B5CF6"/>
              </a:solidFill>
              <a:effectLst/>
            </c:spPr>
          </c:dPt>
          <c:dPt>
            <c:idx val="1"/>
            <c:invertIfNegative val="0"/>
            <c:bubble3D val="0"/>
            <c:spPr>
              <a:solidFill>
                <a:srgbClr val="06B6D4"/>
              </a:solidFill>
              <a:effectLst/>
            </c:spPr>
          </c:dPt>
          <c:dPt>
            <c:idx val="2"/>
            <c:invertIfNegative val="0"/>
            <c:bubble3D val="0"/>
            <c:spPr>
              <a:solidFill>
                <a:srgbClr val="10B981"/>
              </a:solidFill>
              <a:effectLst/>
            </c:spPr>
          </c:dPt>
          <c:cat>
            <c:multiLvlStrRef>
              <c:f>Sheet1!$A$2:$A$4</c:f>
              <c:multiLvlStrCache>
                <c:ptCount val="3"/>
                <c:lvl>
                  <c:pt idx="0">
                    <c:v>Fuzzy only</c:v>
                  </c:pt>
                  <c:pt idx="1">
                    <c:v>ANN only</c:v>
                  </c:pt>
                  <c:pt idx="2">
                    <c:v>ANN + ANFIS</c:v>
                  </c:pt>
                </c:lvl>
              </c:multiLvlStrCache>
            </c:multiLvlStrRef>
          </c:cat>
          <c:val>
            <c:numRef>
              <c:f>Sheet1!$B$2:$B$4</c:f>
              <c:numCache>
                <c:formatCode>General</c:formatCode>
                <c:ptCount val="3"/>
                <c:pt idx="0">
                  <c:v>92.7</c:v>
                </c:pt>
                <c:pt idx="1">
                  <c:v>95.9</c:v>
                </c:pt>
                <c:pt idx="2">
                  <c:v>96.6</c:v>
                </c:pt>
              </c:numCache>
            </c:numRef>
          </c:val>
        </c:ser>
        <c:dLbls>
          <c:numFmt formatCode="0.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E2E8F0"/>
                </a:solidFill>
                <a:latin typeface="+mn-lt"/>
              </a:defRPr>
            </a:pPr>
            <a:endParaRPr lang="en-US"/>
          </a:p>
        </c:txPr>
        <c:crossAx val="2094734552"/>
        <c:crosses val="autoZero"/>
        <c:auto val="1"/>
        <c:lblAlgn val="ctr"/>
        <c:noMultiLvlLbl val="1"/>
      </c:catAx>
      <c:valAx>
        <c:axId val="2094734552"/>
        <c:scaling>
          <c:orientation val="minMax"/>
          <c:max val="100"/>
          <c:min val="8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builds a digital twin of a solar-powered IoT device and an intelligent controller that decides, every minute, whether to process a task on the device or send it to an edge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doing homework yourself versus phoning a friend with a calculator. The call costs credit, a bad network means repeating, and the friend may be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 is a sub-model with datasheet-level parameters. Randomness only comes from physical processes: clouds, shadowing, task arrivals and server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closed loop: the battery level after one minute is the starting point of the next, so every decision affects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Lambda is the battery-risk price: 1 when full, 5 when empty. Solar only affects decisions through the battery. Missing the deadline adds +2 to either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is the world, the textbook and the exam. The ANN + ANFIS is the student. 20 automatic engineering checks confirm the twin behaves physically.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oracle is like a student with the answer key: perfect, but not possible in a real exam. We use it only to teach and to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ANN learns like practising throws: guess, measure the mistake, adjust the weights (back-propagation and Adam), repeat. Trained on 80% of the data, checked on the last 20% it never saw. Example: predicted 180 ms, real 179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ANFIS is fuzzy logic built like a neural network: it learns where words like Busy start and what each rule should output, from the oracle's answers. It is trained on the ANN's predictions, so it tolerates the ANN's errors. Every decision can be explained by the rule that fired. Here it matches the oracle: J_local 0.237 versus J_offload 0.483.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controller drove the battery itself for a new week it never saw. The hybrid came closest to the ideal decisions, used the least energy and missed the fewest deadlines, while still explaining every decision with readable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97480"/>
            <a:ext cx="8046720" cy="7315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tx2"/>
                </a:solidFill>
              </a:rPr>
              <a:t>Solar IoT Digital Twin · ANN + ANFIS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lIns="0" tIns="0" rIns="0" bIns="0" rtlCol="0" anchor="t"/>
          <a:lstStyle/>
          <a:p>
            <a:pPr algn="l" indent="0" marL="0">
              <a:buNone/>
            </a:pPr>
            <a:r>
              <a:rPr lang="en-US" sz="4000" b="1" dirty="0">
                <a:solidFill>
                  <a:schemeClr val="bg1"/>
                </a:solidFill>
              </a:rPr>
              <a:t>Solar IoT Digital Twin with an ANN + ANFIS Brain</a:t>
            </a:r>
            <a:endParaRPr lang="en-US" sz="4000" dirty="0"/>
          </a:p>
        </p:txBody>
      </p:sp>
      <p:sp>
        <p:nvSpPr>
          <p:cNvPr id="3" name="Text 0"/>
          <p:cNvSpPr/>
          <p:nvPr>
            <p:ph idx="101" type="body" hasCustomPrompt="1"/>
          </p:nvPr>
        </p:nvSpPr>
        <p:spPr>
          <a:xfrm>
            <a:off x="548640" y="2697480"/>
            <a:ext cx="8046720" cy="731520"/>
          </a:xfrm>
          <a:prstGeom prst="rect">
            <a:avLst/>
          </a:prstGeom>
          <a:noFill/>
          <a:ln/>
        </p:spPr>
        <p:txBody>
          <a:bodyPr wrap="square" lIns="0" tIns="0" rIns="0" bIns="0" rtlCol="0" anchor="t"/>
          <a:lstStyle/>
          <a:p>
            <a:pPr algn="l" indent="0" marL="0">
              <a:buNone/>
            </a:pPr>
            <a:r>
              <a:rPr lang="en-US" sz="1800" dirty="0">
                <a:solidFill>
                  <a:schemeClr val="bg2"/>
                </a:solidFill>
              </a:rPr>
              <a:t>Renewable-aware task offloading: should the device compute LOCAL or OFFLOAD to the edge?</a:t>
            </a:r>
            <a:endParaRPr lang="en-US" sz="1800" dirty="0"/>
          </a:p>
        </p:txBody>
      </p:sp>
      <p:sp>
        <p:nvSpPr>
          <p:cNvPr id="4" name="Solar circle"/>
          <p:cNvSpPr/>
          <p:nvPr/>
        </p:nvSpPr>
        <p:spPr>
          <a:xfrm>
            <a:off x="548640" y="3703320"/>
            <a:ext cx="640080" cy="640080"/>
          </a:xfrm>
          <a:prstGeom prst="ellipse">
            <a:avLst/>
          </a:prstGeom>
          <a:solidFill>
            <a:srgbClr val="F59E0B"/>
          </a:solidFill>
          <a:ln w="12700">
            <a:solidFill>
              <a:srgbClr val="F59E0B"/>
            </a:solidFill>
            <a:prstDash val="solid"/>
          </a:ln>
        </p:spPr>
      </p:sp>
      <p:pic>
        <p:nvPicPr>
          <p:cNvPr id="5" name="Solar" descr="preencoded.png">    </p:cNvPr>
          <p:cNvPicPr>
            <a:picLocks noChangeAspect="1"/>
          </p:cNvPicPr>
          <p:nvPr/>
        </p:nvPicPr>
        <p:blipFill>
          <a:blip r:embed="rId1"/>
          <a:stretch>
            <a:fillRect/>
          </a:stretch>
        </p:blipFill>
        <p:spPr>
          <a:xfrm>
            <a:off x="702259" y="3856939"/>
            <a:ext cx="332842" cy="332842"/>
          </a:xfrm>
          <a:prstGeom prst="rect">
            <a:avLst/>
          </a:prstGeom>
        </p:spPr>
      </p:pic>
      <p:sp>
        <p:nvSpPr>
          <p:cNvPr id="6" name="Text 3"/>
          <p:cNvSpPr txBox="1"/>
          <p:nvPr/>
        </p:nvSpPr>
        <p:spPr>
          <a:xfrm>
            <a:off x="365760" y="4407408"/>
            <a:ext cx="1005840" cy="274320"/>
          </a:xfrm>
          <a:prstGeom prst="rect">
            <a:avLst/>
          </a:prstGeom>
          <a:noFill/>
          <a:ln/>
        </p:spPr>
        <p:txBody>
          <a:bodyPr wrap="square" lIns="0" tIns="0" rIns="0" bIns="0" rtlCol="0" anchor="t"/>
          <a:lstStyle/>
          <a:p>
            <a:pPr algn="ctr" indent="0" marL="0">
              <a:buNone/>
            </a:pPr>
            <a:r>
              <a:rPr lang="en-US" sz="1200" dirty="0">
                <a:solidFill>
                  <a:srgbClr val="CBD5E1"/>
                </a:solidFill>
              </a:rPr>
              <a:t>Solar</a:t>
            </a:r>
            <a:endParaRPr lang="en-US" sz="1200" dirty="0"/>
          </a:p>
        </p:txBody>
      </p:sp>
      <p:sp>
        <p:nvSpPr>
          <p:cNvPr id="7" name="Battery circle"/>
          <p:cNvSpPr/>
          <p:nvPr/>
        </p:nvSpPr>
        <p:spPr>
          <a:xfrm>
            <a:off x="1783080" y="3703320"/>
            <a:ext cx="640080" cy="640080"/>
          </a:xfrm>
          <a:prstGeom prst="ellipse">
            <a:avLst/>
          </a:prstGeom>
          <a:solidFill>
            <a:srgbClr val="10B981"/>
          </a:solidFill>
          <a:ln w="12700">
            <a:solidFill>
              <a:srgbClr val="10B981"/>
            </a:solidFill>
            <a:prstDash val="solid"/>
          </a:ln>
        </p:spPr>
      </p:sp>
      <p:pic>
        <p:nvPicPr>
          <p:cNvPr id="8" name="Battery" descr="preencoded.png">    </p:cNvPr>
          <p:cNvPicPr>
            <a:picLocks noChangeAspect="1"/>
          </p:cNvPicPr>
          <p:nvPr/>
        </p:nvPicPr>
        <p:blipFill>
          <a:blip r:embed="rId2"/>
          <a:stretch>
            <a:fillRect/>
          </a:stretch>
        </p:blipFill>
        <p:spPr>
          <a:xfrm>
            <a:off x="1936699" y="3856939"/>
            <a:ext cx="332842" cy="332842"/>
          </a:xfrm>
          <a:prstGeom prst="rect">
            <a:avLst/>
          </a:prstGeom>
        </p:spPr>
      </p:pic>
      <p:sp>
        <p:nvSpPr>
          <p:cNvPr id="9" name="Text 5"/>
          <p:cNvSpPr txBox="1"/>
          <p:nvPr/>
        </p:nvSpPr>
        <p:spPr>
          <a:xfrm>
            <a:off x="1600200" y="4407408"/>
            <a:ext cx="1005840" cy="274320"/>
          </a:xfrm>
          <a:prstGeom prst="rect">
            <a:avLst/>
          </a:prstGeom>
          <a:noFill/>
          <a:ln/>
        </p:spPr>
        <p:txBody>
          <a:bodyPr wrap="square" lIns="0" tIns="0" rIns="0" bIns="0" rtlCol="0" anchor="t"/>
          <a:lstStyle/>
          <a:p>
            <a:pPr algn="ctr" indent="0" marL="0">
              <a:buNone/>
            </a:pPr>
            <a:r>
              <a:rPr lang="en-US" sz="1200" dirty="0">
                <a:solidFill>
                  <a:srgbClr val="CBD5E1"/>
                </a:solidFill>
              </a:rPr>
              <a:t>Battery</a:t>
            </a:r>
            <a:endParaRPr lang="en-US" sz="1200" dirty="0"/>
          </a:p>
        </p:txBody>
      </p:sp>
      <p:sp>
        <p:nvSpPr>
          <p:cNvPr id="10" name="ESP32 circle"/>
          <p:cNvSpPr/>
          <p:nvPr/>
        </p:nvSpPr>
        <p:spPr>
          <a:xfrm>
            <a:off x="3017520" y="3703320"/>
            <a:ext cx="640080" cy="640080"/>
          </a:xfrm>
          <a:prstGeom prst="ellipse">
            <a:avLst/>
          </a:prstGeom>
          <a:solidFill>
            <a:srgbClr val="06B6D4"/>
          </a:solidFill>
          <a:ln w="12700">
            <a:solidFill>
              <a:srgbClr val="06B6D4"/>
            </a:solidFill>
            <a:prstDash val="solid"/>
          </a:ln>
        </p:spPr>
      </p:sp>
      <p:pic>
        <p:nvPicPr>
          <p:cNvPr id="11" name="ESP32" descr="preencoded.png">    </p:cNvPr>
          <p:cNvPicPr>
            <a:picLocks noChangeAspect="1"/>
          </p:cNvPicPr>
          <p:nvPr/>
        </p:nvPicPr>
        <p:blipFill>
          <a:blip r:embed="rId3"/>
          <a:stretch>
            <a:fillRect/>
          </a:stretch>
        </p:blipFill>
        <p:spPr>
          <a:xfrm>
            <a:off x="3171139" y="3856939"/>
            <a:ext cx="332842" cy="332842"/>
          </a:xfrm>
          <a:prstGeom prst="rect">
            <a:avLst/>
          </a:prstGeom>
        </p:spPr>
      </p:pic>
      <p:sp>
        <p:nvSpPr>
          <p:cNvPr id="12" name="Text 7"/>
          <p:cNvSpPr txBox="1"/>
          <p:nvPr/>
        </p:nvSpPr>
        <p:spPr>
          <a:xfrm>
            <a:off x="2834640" y="4407408"/>
            <a:ext cx="1005840" cy="274320"/>
          </a:xfrm>
          <a:prstGeom prst="rect">
            <a:avLst/>
          </a:prstGeom>
          <a:noFill/>
          <a:ln/>
        </p:spPr>
        <p:txBody>
          <a:bodyPr wrap="square" lIns="0" tIns="0" rIns="0" bIns="0" rtlCol="0" anchor="t"/>
          <a:lstStyle/>
          <a:p>
            <a:pPr algn="ctr" indent="0" marL="0">
              <a:buNone/>
            </a:pPr>
            <a:r>
              <a:rPr lang="en-US" sz="1200" dirty="0">
                <a:solidFill>
                  <a:srgbClr val="CBD5E1"/>
                </a:solidFill>
              </a:rPr>
              <a:t>ESP32</a:t>
            </a:r>
            <a:endParaRPr lang="en-US" sz="1200" dirty="0"/>
          </a:p>
        </p:txBody>
      </p:sp>
      <p:sp>
        <p:nvSpPr>
          <p:cNvPr id="13" name="WiFi circle"/>
          <p:cNvSpPr/>
          <p:nvPr/>
        </p:nvSpPr>
        <p:spPr>
          <a:xfrm>
            <a:off x="4251960" y="3703320"/>
            <a:ext cx="640080" cy="640080"/>
          </a:xfrm>
          <a:prstGeom prst="ellipse">
            <a:avLst/>
          </a:prstGeom>
          <a:solidFill>
            <a:srgbClr val="8B5CF6"/>
          </a:solidFill>
          <a:ln w="12700">
            <a:solidFill>
              <a:srgbClr val="8B5CF6"/>
            </a:solidFill>
            <a:prstDash val="solid"/>
          </a:ln>
        </p:spPr>
      </p:sp>
      <p:pic>
        <p:nvPicPr>
          <p:cNvPr id="14" name="WiFi" descr="preencoded.png">    </p:cNvPr>
          <p:cNvPicPr>
            <a:picLocks noChangeAspect="1"/>
          </p:cNvPicPr>
          <p:nvPr/>
        </p:nvPicPr>
        <p:blipFill>
          <a:blip r:embed="rId4"/>
          <a:stretch>
            <a:fillRect/>
          </a:stretch>
        </p:blipFill>
        <p:spPr>
          <a:xfrm>
            <a:off x="4405579" y="3856939"/>
            <a:ext cx="332842" cy="332842"/>
          </a:xfrm>
          <a:prstGeom prst="rect">
            <a:avLst/>
          </a:prstGeom>
        </p:spPr>
      </p:pic>
      <p:sp>
        <p:nvSpPr>
          <p:cNvPr id="15" name="Text 9"/>
          <p:cNvSpPr txBox="1"/>
          <p:nvPr/>
        </p:nvSpPr>
        <p:spPr>
          <a:xfrm>
            <a:off x="4069080" y="4407408"/>
            <a:ext cx="1005840" cy="274320"/>
          </a:xfrm>
          <a:prstGeom prst="rect">
            <a:avLst/>
          </a:prstGeom>
          <a:noFill/>
          <a:ln/>
        </p:spPr>
        <p:txBody>
          <a:bodyPr wrap="square" lIns="0" tIns="0" rIns="0" bIns="0" rtlCol="0" anchor="t"/>
          <a:lstStyle/>
          <a:p>
            <a:pPr algn="ctr" indent="0" marL="0">
              <a:buNone/>
            </a:pPr>
            <a:r>
              <a:rPr lang="en-US" sz="1200" dirty="0">
                <a:solidFill>
                  <a:srgbClr val="CBD5E1"/>
                </a:solidFill>
              </a:rPr>
              <a:t>WiFi</a:t>
            </a:r>
            <a:endParaRPr lang="en-US" sz="1200" dirty="0"/>
          </a:p>
        </p:txBody>
      </p:sp>
      <p:sp>
        <p:nvSpPr>
          <p:cNvPr id="16" name="Edge circle"/>
          <p:cNvSpPr/>
          <p:nvPr/>
        </p:nvSpPr>
        <p:spPr>
          <a:xfrm>
            <a:off x="5486400" y="3703320"/>
            <a:ext cx="640080" cy="640080"/>
          </a:xfrm>
          <a:prstGeom prst="ellipse">
            <a:avLst/>
          </a:prstGeom>
          <a:solidFill>
            <a:srgbClr val="6366F1"/>
          </a:solidFill>
          <a:ln w="12700">
            <a:solidFill>
              <a:srgbClr val="6366F1"/>
            </a:solidFill>
            <a:prstDash val="solid"/>
          </a:ln>
        </p:spPr>
      </p:sp>
      <p:pic>
        <p:nvPicPr>
          <p:cNvPr id="17" name="Edge" descr="preencoded.png">    </p:cNvPr>
          <p:cNvPicPr>
            <a:picLocks noChangeAspect="1"/>
          </p:cNvPicPr>
          <p:nvPr/>
        </p:nvPicPr>
        <p:blipFill>
          <a:blip r:embed="rId5"/>
          <a:stretch>
            <a:fillRect/>
          </a:stretch>
        </p:blipFill>
        <p:spPr>
          <a:xfrm>
            <a:off x="5640019" y="3856939"/>
            <a:ext cx="332842" cy="332842"/>
          </a:xfrm>
          <a:prstGeom prst="rect">
            <a:avLst/>
          </a:prstGeom>
        </p:spPr>
      </p:pic>
      <p:sp>
        <p:nvSpPr>
          <p:cNvPr id="18" name="Text 11"/>
          <p:cNvSpPr txBox="1"/>
          <p:nvPr/>
        </p:nvSpPr>
        <p:spPr>
          <a:xfrm>
            <a:off x="5303520" y="4407408"/>
            <a:ext cx="1005840" cy="274320"/>
          </a:xfrm>
          <a:prstGeom prst="rect">
            <a:avLst/>
          </a:prstGeom>
          <a:noFill/>
          <a:ln/>
        </p:spPr>
        <p:txBody>
          <a:bodyPr wrap="square" lIns="0" tIns="0" rIns="0" bIns="0" rtlCol="0" anchor="t"/>
          <a:lstStyle/>
          <a:p>
            <a:pPr algn="ctr" indent="0" marL="0">
              <a:buNone/>
            </a:pPr>
            <a:r>
              <a:rPr lang="en-US" sz="1200" dirty="0">
                <a:solidFill>
                  <a:srgbClr val="CBD5E1"/>
                </a:solidFill>
              </a:rPr>
              <a:t>Edge</a:t>
            </a:r>
            <a:endParaRPr lang="en-US" sz="1200" dirty="0"/>
          </a:p>
        </p:txBody>
      </p:sp>
      <p:sp>
        <p:nvSpPr>
          <p:cNvPr id="19" name="Text 12"/>
          <p:cNvSpPr txBox="1"/>
          <p:nvPr/>
        </p:nvSpPr>
        <p:spPr>
          <a:xfrm>
            <a:off x="6583680" y="3931920"/>
            <a:ext cx="2011680" cy="365760"/>
          </a:xfrm>
          <a:prstGeom prst="rect">
            <a:avLst/>
          </a:prstGeom>
          <a:noFill/>
          <a:ln/>
        </p:spPr>
        <p:txBody>
          <a:bodyPr wrap="square" lIns="0" tIns="0" rIns="0" bIns="0" rtlCol="0" anchor="t"/>
          <a:lstStyle/>
          <a:p>
            <a:pPr algn="r" indent="0" marL="0">
              <a:buNone/>
            </a:pPr>
            <a:r>
              <a:rPr lang="en-US" sz="1400" dirty="0">
                <a:solidFill>
                  <a:srgbClr val="94A3B8"/>
                </a:solidFill>
              </a:rPr>
              <a:t>Rohith Sivakumar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Every minute: LOCAL or OFFLOAD?</a:t>
            </a:r>
            <a:endParaRPr lang="en-US" sz="3000" dirty="0"/>
          </a:p>
        </p:txBody>
      </p:sp>
      <p:sp>
        <p:nvSpPr>
          <p:cNvPr id="3" name="LOCAL card"/>
          <p:cNvSpPr/>
          <p:nvPr/>
        </p:nvSpPr>
        <p:spPr>
          <a:xfrm>
            <a:off x="457200" y="1188720"/>
            <a:ext cx="4023360" cy="2514600"/>
          </a:xfrm>
          <a:prstGeom prst="roundRect">
            <a:avLst>
              <a:gd name="adj" fmla="val 436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LOCAL circle"/>
          <p:cNvSpPr/>
          <p:nvPr/>
        </p:nvSpPr>
        <p:spPr>
          <a:xfrm>
            <a:off x="731520" y="1417320"/>
            <a:ext cx="731520" cy="731520"/>
          </a:xfrm>
          <a:prstGeom prst="ellipse">
            <a:avLst/>
          </a:prstGeom>
          <a:solidFill>
            <a:srgbClr val="06B6D4"/>
          </a:solidFill>
          <a:ln w="12700">
            <a:solidFill>
              <a:srgbClr val="06B6D4"/>
            </a:solidFill>
            <a:prstDash val="solid"/>
          </a:ln>
        </p:spPr>
      </p:sp>
      <p:pic>
        <p:nvPicPr>
          <p:cNvPr id="5" name="LOCAL" descr="preencoded.png">    </p:cNvPr>
          <p:cNvPicPr>
            <a:picLocks noChangeAspect="1"/>
          </p:cNvPicPr>
          <p:nvPr/>
        </p:nvPicPr>
        <p:blipFill>
          <a:blip r:embed="rId1"/>
          <a:stretch>
            <a:fillRect/>
          </a:stretch>
        </p:blipFill>
        <p:spPr>
          <a:xfrm>
            <a:off x="907085" y="1592885"/>
            <a:ext cx="380390" cy="380390"/>
          </a:xfrm>
          <a:prstGeom prst="rect">
            <a:avLst/>
          </a:prstGeom>
        </p:spPr>
      </p:pic>
      <p:sp>
        <p:nvSpPr>
          <p:cNvPr id="6" name="Text 3"/>
          <p:cNvSpPr txBox="1"/>
          <p:nvPr/>
        </p:nvSpPr>
        <p:spPr>
          <a:xfrm>
            <a:off x="1645920" y="1463040"/>
            <a:ext cx="2651760" cy="411480"/>
          </a:xfrm>
          <a:prstGeom prst="rect">
            <a:avLst/>
          </a:prstGeom>
          <a:noFill/>
          <a:ln/>
        </p:spPr>
        <p:txBody>
          <a:bodyPr wrap="square" lIns="0" tIns="0" rIns="0" bIns="0" rtlCol="0" anchor="t"/>
          <a:lstStyle/>
          <a:p>
            <a:pPr indent="0" marL="0">
              <a:buNone/>
            </a:pPr>
            <a:r>
              <a:rPr lang="en-US" sz="2400" b="1" dirty="0">
                <a:solidFill>
                  <a:srgbClr val="06B6D4"/>
                </a:solidFill>
              </a:rPr>
              <a:t>LOCAL</a:t>
            </a:r>
            <a:endParaRPr lang="en-US" sz="2400" dirty="0"/>
          </a:p>
        </p:txBody>
      </p:sp>
      <p:sp>
        <p:nvSpPr>
          <p:cNvPr id="7" name="Text 4"/>
          <p:cNvSpPr txBox="1"/>
          <p:nvPr/>
        </p:nvSpPr>
        <p:spPr>
          <a:xfrm>
            <a:off x="1645920" y="1874520"/>
            <a:ext cx="2651760" cy="457200"/>
          </a:xfrm>
          <a:prstGeom prst="rect">
            <a:avLst/>
          </a:prstGeom>
          <a:noFill/>
          <a:ln/>
        </p:spPr>
        <p:txBody>
          <a:bodyPr wrap="square" lIns="0" tIns="0" rIns="0" bIns="0" rtlCol="0" anchor="t"/>
          <a:lstStyle/>
          <a:p>
            <a:pPr indent="0" marL="0">
              <a:buNone/>
            </a:pPr>
            <a:r>
              <a:rPr lang="en-US" sz="1400" dirty="0">
                <a:solidFill>
                  <a:schemeClr val="tx2"/>
                </a:solidFill>
              </a:rPr>
              <a:t>Run the task on the ESP32 itself</a:t>
            </a:r>
            <a:endParaRPr lang="en-US" sz="1400" dirty="0"/>
          </a:p>
        </p:txBody>
      </p:sp>
      <p:sp>
        <p:nvSpPr>
          <p:cNvPr id="8" name="Text 5"/>
          <p:cNvSpPr txBox="1"/>
          <p:nvPr/>
        </p:nvSpPr>
        <p:spPr>
          <a:xfrm>
            <a:off x="731520" y="2514600"/>
            <a:ext cx="3566160" cy="365760"/>
          </a:xfrm>
          <a:prstGeom prst="rect">
            <a:avLst/>
          </a:prstGeom>
          <a:noFill/>
          <a:ln/>
        </p:spPr>
        <p:txBody>
          <a:bodyPr wrap="square" lIns="0" tIns="0" rIns="0" bIns="0" rtlCol="0" anchor="t"/>
          <a:lstStyle/>
          <a:p>
            <a:pPr indent="0" marL="0">
              <a:buNone/>
            </a:pPr>
            <a:r>
              <a:rPr lang="en-US" sz="1500" b="1" dirty="0">
                <a:solidFill>
                  <a:srgbClr val="10B981"/>
                </a:solidFill>
              </a:rPr>
              <a:t>+ </a:t>
            </a:r>
            <a:pPr indent="0" marL="0">
              <a:buNone/>
            </a:pPr>
            <a:r>
              <a:rPr lang="en-US" sz="1500" dirty="0">
                <a:solidFill>
                  <a:schemeClr val="tx1"/>
                </a:solidFill>
              </a:rPr>
              <a:t>No WiFi needed, no waiting</a:t>
            </a:r>
            <a:endParaRPr lang="en-US" sz="1500" dirty="0"/>
          </a:p>
        </p:txBody>
      </p:sp>
      <p:sp>
        <p:nvSpPr>
          <p:cNvPr id="9" name="Text 6"/>
          <p:cNvSpPr txBox="1"/>
          <p:nvPr/>
        </p:nvSpPr>
        <p:spPr>
          <a:xfrm>
            <a:off x="731520" y="2926080"/>
            <a:ext cx="3566160" cy="640080"/>
          </a:xfrm>
          <a:prstGeom prst="rect">
            <a:avLst/>
          </a:prstGeom>
          <a:noFill/>
          <a:ln/>
        </p:spPr>
        <p:txBody>
          <a:bodyPr wrap="square" lIns="0" tIns="0" rIns="0" bIns="0" rtlCol="0" anchor="t"/>
          <a:lstStyle/>
          <a:p>
            <a:pPr indent="0" marL="0">
              <a:buNone/>
            </a:pPr>
            <a:r>
              <a:rPr lang="en-US" sz="1500" b="1" dirty="0">
                <a:solidFill>
                  <a:srgbClr val="DC2626"/>
                </a:solidFill>
              </a:rPr>
              <a:t>− </a:t>
            </a:r>
            <a:pPr indent="0" marL="0">
              <a:buNone/>
            </a:pPr>
            <a:r>
              <a:rPr lang="en-US" sz="1500" dirty="0">
                <a:solidFill>
                  <a:schemeClr val="tx1"/>
                </a:solidFill>
              </a:rPr>
              <a:t>Slow for heavy tasks; CPU drains the battery</a:t>
            </a:r>
            <a:endParaRPr lang="en-US" sz="1500" dirty="0"/>
          </a:p>
        </p:txBody>
      </p:sp>
      <p:sp>
        <p:nvSpPr>
          <p:cNvPr id="10" name="OFFLOAD card"/>
          <p:cNvSpPr/>
          <p:nvPr/>
        </p:nvSpPr>
        <p:spPr>
          <a:xfrm>
            <a:off x="4663440" y="1188720"/>
            <a:ext cx="4023360" cy="2514600"/>
          </a:xfrm>
          <a:prstGeom prst="roundRect">
            <a:avLst>
              <a:gd name="adj" fmla="val 436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OFFLOAD circle"/>
          <p:cNvSpPr/>
          <p:nvPr/>
        </p:nvSpPr>
        <p:spPr>
          <a:xfrm>
            <a:off x="4937760" y="1417320"/>
            <a:ext cx="731520" cy="731520"/>
          </a:xfrm>
          <a:prstGeom prst="ellipse">
            <a:avLst/>
          </a:prstGeom>
          <a:solidFill>
            <a:srgbClr val="8B5CF6"/>
          </a:solidFill>
          <a:ln w="12700">
            <a:solidFill>
              <a:srgbClr val="8B5CF6"/>
            </a:solidFill>
            <a:prstDash val="solid"/>
          </a:ln>
        </p:spPr>
      </p:sp>
      <p:pic>
        <p:nvPicPr>
          <p:cNvPr id="12" name="OFFLOAD" descr="preencoded.png">    </p:cNvPr>
          <p:cNvPicPr>
            <a:picLocks noChangeAspect="1"/>
          </p:cNvPicPr>
          <p:nvPr/>
        </p:nvPicPr>
        <p:blipFill>
          <a:blip r:embed="rId2"/>
          <a:stretch>
            <a:fillRect/>
          </a:stretch>
        </p:blipFill>
        <p:spPr>
          <a:xfrm>
            <a:off x="5113325" y="1592885"/>
            <a:ext cx="380390" cy="380390"/>
          </a:xfrm>
          <a:prstGeom prst="rect">
            <a:avLst/>
          </a:prstGeom>
        </p:spPr>
      </p:pic>
      <p:sp>
        <p:nvSpPr>
          <p:cNvPr id="13" name="Text 9"/>
          <p:cNvSpPr txBox="1"/>
          <p:nvPr/>
        </p:nvSpPr>
        <p:spPr>
          <a:xfrm>
            <a:off x="5852160" y="1463040"/>
            <a:ext cx="2651760" cy="411480"/>
          </a:xfrm>
          <a:prstGeom prst="rect">
            <a:avLst/>
          </a:prstGeom>
          <a:noFill/>
          <a:ln/>
        </p:spPr>
        <p:txBody>
          <a:bodyPr wrap="square" lIns="0" tIns="0" rIns="0" bIns="0" rtlCol="0" anchor="t"/>
          <a:lstStyle/>
          <a:p>
            <a:pPr indent="0" marL="0">
              <a:buNone/>
            </a:pPr>
            <a:r>
              <a:rPr lang="en-US" sz="2400" b="1" dirty="0">
                <a:solidFill>
                  <a:srgbClr val="8B5CF6"/>
                </a:solidFill>
              </a:rPr>
              <a:t>OFFLOAD</a:t>
            </a:r>
            <a:endParaRPr lang="en-US" sz="2400" dirty="0"/>
          </a:p>
        </p:txBody>
      </p:sp>
      <p:sp>
        <p:nvSpPr>
          <p:cNvPr id="14" name="Text 10"/>
          <p:cNvSpPr txBox="1"/>
          <p:nvPr/>
        </p:nvSpPr>
        <p:spPr>
          <a:xfrm>
            <a:off x="5852160" y="1874520"/>
            <a:ext cx="2651760" cy="457200"/>
          </a:xfrm>
          <a:prstGeom prst="rect">
            <a:avLst/>
          </a:prstGeom>
          <a:noFill/>
          <a:ln/>
        </p:spPr>
        <p:txBody>
          <a:bodyPr wrap="square" lIns="0" tIns="0" rIns="0" bIns="0" rtlCol="0" anchor="t"/>
          <a:lstStyle/>
          <a:p>
            <a:pPr indent="0" marL="0">
              <a:buNone/>
            </a:pPr>
            <a:r>
              <a:rPr lang="en-US" sz="1400" dirty="0">
                <a:solidFill>
                  <a:schemeClr val="tx2"/>
                </a:solidFill>
              </a:rPr>
              <a:t>Send the data over WiFi to the edge server</a:t>
            </a:r>
            <a:endParaRPr lang="en-US" sz="1400" dirty="0"/>
          </a:p>
        </p:txBody>
      </p:sp>
      <p:sp>
        <p:nvSpPr>
          <p:cNvPr id="15" name="Text 11"/>
          <p:cNvSpPr txBox="1"/>
          <p:nvPr/>
        </p:nvSpPr>
        <p:spPr>
          <a:xfrm>
            <a:off x="4937760" y="2514600"/>
            <a:ext cx="3566160" cy="365760"/>
          </a:xfrm>
          <a:prstGeom prst="rect">
            <a:avLst/>
          </a:prstGeom>
          <a:noFill/>
          <a:ln/>
        </p:spPr>
        <p:txBody>
          <a:bodyPr wrap="square" lIns="0" tIns="0" rIns="0" bIns="0" rtlCol="0" anchor="t"/>
          <a:lstStyle/>
          <a:p>
            <a:pPr indent="0" marL="0">
              <a:buNone/>
            </a:pPr>
            <a:r>
              <a:rPr lang="en-US" sz="1500" b="1" dirty="0">
                <a:solidFill>
                  <a:srgbClr val="10B981"/>
                </a:solidFill>
              </a:rPr>
              <a:t>+ </a:t>
            </a:r>
            <a:pPr indent="0" marL="0">
              <a:buNone/>
            </a:pPr>
            <a:r>
              <a:rPr lang="en-US" sz="1500" dirty="0">
                <a:solidFill>
                  <a:schemeClr val="tx1"/>
                </a:solidFill>
              </a:rPr>
              <a:t>Server is about 12× faster</a:t>
            </a:r>
            <a:endParaRPr lang="en-US" sz="1500" dirty="0"/>
          </a:p>
        </p:txBody>
      </p:sp>
      <p:sp>
        <p:nvSpPr>
          <p:cNvPr id="16" name="Text 12"/>
          <p:cNvSpPr txBox="1"/>
          <p:nvPr/>
        </p:nvSpPr>
        <p:spPr>
          <a:xfrm>
            <a:off x="4937760" y="2926080"/>
            <a:ext cx="3566160" cy="640080"/>
          </a:xfrm>
          <a:prstGeom prst="rect">
            <a:avLst/>
          </a:prstGeom>
          <a:noFill/>
          <a:ln/>
        </p:spPr>
        <p:txBody>
          <a:bodyPr wrap="square" lIns="0" tIns="0" rIns="0" bIns="0" rtlCol="0" anchor="t"/>
          <a:lstStyle/>
          <a:p>
            <a:pPr indent="0" marL="0">
              <a:buNone/>
            </a:pPr>
            <a:r>
              <a:rPr lang="en-US" sz="1500" b="1" dirty="0">
                <a:solidFill>
                  <a:srgbClr val="DC2626"/>
                </a:solidFill>
              </a:rPr>
              <a:t>− </a:t>
            </a:r>
            <a:pPr indent="0" marL="0">
              <a:buNone/>
            </a:pPr>
            <a:r>
              <a:rPr lang="en-US" sz="1500" dirty="0">
                <a:solidFill>
                  <a:schemeClr val="tx1"/>
                </a:solidFill>
              </a:rPr>
              <a:t>Radio costs energy; weak signal and busy server add delay</a:t>
            </a:r>
            <a:endParaRPr lang="en-US" sz="1500" dirty="0"/>
          </a:p>
        </p:txBody>
      </p:sp>
      <p:sp>
        <p:nvSpPr>
          <p:cNvPr id="17" name="Text 13"/>
          <p:cNvSpPr txBox="1"/>
          <p:nvPr/>
        </p:nvSpPr>
        <p:spPr>
          <a:xfrm>
            <a:off x="457200" y="3977640"/>
            <a:ext cx="8229600" cy="457200"/>
          </a:xfrm>
          <a:prstGeom prst="rect">
            <a:avLst/>
          </a:prstGeom>
          <a:noFill/>
          <a:ln/>
        </p:spPr>
        <p:txBody>
          <a:bodyPr wrap="square" lIns="0" tIns="0" rIns="0" bIns="0" rtlCol="0" anchor="t"/>
          <a:lstStyle/>
          <a:p>
            <a:pPr indent="0" marL="0">
              <a:buNone/>
            </a:pPr>
            <a:r>
              <a:rPr lang="en-US" sz="1600" b="1" dirty="0">
                <a:solidFill>
                  <a:schemeClr val="tx1"/>
                </a:solidFill>
              </a:rPr>
              <a:t>The best choice keeps changing </a:t>
            </a:r>
            <a:pPr indent="0" marL="0">
              <a:buNone/>
            </a:pPr>
            <a:r>
              <a:rPr lang="en-US" sz="1600" dirty="0">
                <a:solidFill>
                  <a:schemeClr val="tx1"/>
                </a:solidFill>
              </a:rPr>
              <a:t>with battery level, WiFi signal, server load and task size.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Digital twin: a physics copy of the device</a:t>
            </a:r>
            <a:endParaRPr lang="en-US" sz="3000" dirty="0"/>
          </a:p>
        </p:txBody>
      </p:sp>
      <p:sp>
        <p:nvSpPr>
          <p:cNvPr id="3" name="Text 1"/>
          <p:cNvSpPr txBox="1"/>
          <p:nvPr/>
        </p:nvSpPr>
        <p:spPr>
          <a:xfrm>
            <a:off x="457200" y="1097280"/>
            <a:ext cx="8229600" cy="685800"/>
          </a:xfrm>
          <a:prstGeom prst="rect">
            <a:avLst/>
          </a:prstGeom>
          <a:noFill/>
          <a:ln/>
        </p:spPr>
        <p:txBody>
          <a:bodyPr wrap="square" lIns="0" tIns="0" rIns="0" bIns="0" rtlCol="0" anchor="t"/>
          <a:lstStyle/>
          <a:p>
            <a:pPr indent="0" marL="0">
              <a:buNone/>
            </a:pPr>
            <a:r>
              <a:rPr lang="en-US" sz="1600" dirty="0">
                <a:solidFill>
                  <a:schemeClr val="tx2"/>
                </a:solidFill>
              </a:rPr>
              <a:t>A software replica that follows the same physical equations as the real system, like a flight simulator for the IoT node. One step = one minute; 7 days = 10,080 tasks.</a:t>
            </a:r>
            <a:endParaRPr lang="en-US" sz="1600" dirty="0"/>
          </a:p>
        </p:txBody>
      </p:sp>
      <p:sp>
        <p:nvSpPr>
          <p:cNvPr id="4" name="Solar PV card"/>
          <p:cNvSpPr/>
          <p:nvPr/>
        </p:nvSpPr>
        <p:spPr>
          <a:xfrm>
            <a:off x="457200" y="2011680"/>
            <a:ext cx="1517904" cy="2423160"/>
          </a:xfrm>
          <a:prstGeom prst="roundRect">
            <a:avLst>
              <a:gd name="adj" fmla="val 722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Solar PV circle"/>
          <p:cNvSpPr/>
          <p:nvPr/>
        </p:nvSpPr>
        <p:spPr>
          <a:xfrm>
            <a:off x="850392" y="2194560"/>
            <a:ext cx="731520" cy="731520"/>
          </a:xfrm>
          <a:prstGeom prst="ellipse">
            <a:avLst/>
          </a:prstGeom>
          <a:solidFill>
            <a:srgbClr val="F59E0B"/>
          </a:solidFill>
          <a:ln w="12700">
            <a:solidFill>
              <a:srgbClr val="F59E0B"/>
            </a:solidFill>
            <a:prstDash val="solid"/>
          </a:ln>
        </p:spPr>
      </p:sp>
      <p:pic>
        <p:nvPicPr>
          <p:cNvPr id="6" name="Solar PV" descr="preencoded.png">    </p:cNvPr>
          <p:cNvPicPr>
            <a:picLocks noChangeAspect="1"/>
          </p:cNvPicPr>
          <p:nvPr/>
        </p:nvPicPr>
        <p:blipFill>
          <a:blip r:embed="rId1"/>
          <a:stretch>
            <a:fillRect/>
          </a:stretch>
        </p:blipFill>
        <p:spPr>
          <a:xfrm>
            <a:off x="1025957" y="2370125"/>
            <a:ext cx="380390" cy="380390"/>
          </a:xfrm>
          <a:prstGeom prst="rect">
            <a:avLst/>
          </a:prstGeom>
        </p:spPr>
      </p:pic>
      <p:sp>
        <p:nvSpPr>
          <p:cNvPr id="7" name="Text 4"/>
          <p:cNvSpPr txBox="1"/>
          <p:nvPr/>
        </p:nvSpPr>
        <p:spPr>
          <a:xfrm>
            <a:off x="548640" y="3017520"/>
            <a:ext cx="1335024" cy="320040"/>
          </a:xfrm>
          <a:prstGeom prst="rect">
            <a:avLst/>
          </a:prstGeom>
          <a:noFill/>
          <a:ln/>
        </p:spPr>
        <p:txBody>
          <a:bodyPr wrap="square" lIns="0" tIns="0" rIns="0" bIns="0" rtlCol="0" anchor="t"/>
          <a:lstStyle/>
          <a:p>
            <a:pPr algn="ctr" indent="0" marL="0">
              <a:buNone/>
            </a:pPr>
            <a:r>
              <a:rPr lang="en-US" sz="1500" b="1" dirty="0">
                <a:solidFill>
                  <a:srgbClr val="F59E0B"/>
                </a:solidFill>
              </a:rPr>
              <a:t>Solar PV</a:t>
            </a:r>
            <a:endParaRPr lang="en-US" sz="1500" dirty="0"/>
          </a:p>
        </p:txBody>
      </p:sp>
      <p:sp>
        <p:nvSpPr>
          <p:cNvPr id="8" name="Text 5"/>
          <p:cNvSpPr txBox="1"/>
          <p:nvPr/>
        </p:nvSpPr>
        <p:spPr>
          <a:xfrm>
            <a:off x="566928" y="3383280"/>
            <a:ext cx="1298448" cy="914400"/>
          </a:xfrm>
          <a:prstGeom prst="rect">
            <a:avLst/>
          </a:prstGeom>
          <a:noFill/>
          <a:ln/>
        </p:spPr>
        <p:txBody>
          <a:bodyPr wrap="square" lIns="0" tIns="0" rIns="0" bIns="0" rtlCol="0" anchor="t"/>
          <a:lstStyle/>
          <a:p>
            <a:pPr algn="ctr" indent="0" marL="0">
              <a:buNone/>
            </a:pPr>
            <a:r>
              <a:rPr lang="en-US" sz="1200" dirty="0">
                <a:solidFill>
                  <a:schemeClr val="tx2"/>
                </a:solidFill>
              </a:rPr>
              <a:t>1 W panel, clouds &amp; weather change daily</a:t>
            </a:r>
            <a:endParaRPr lang="en-US" sz="1200" dirty="0"/>
          </a:p>
        </p:txBody>
      </p:sp>
      <p:sp>
        <p:nvSpPr>
          <p:cNvPr id="9" name="arrow"/>
          <p:cNvSpPr/>
          <p:nvPr/>
        </p:nvSpPr>
        <p:spPr>
          <a:xfrm>
            <a:off x="1984248" y="3081528"/>
            <a:ext cx="146304" cy="201168"/>
          </a:xfrm>
          <a:prstGeom prst="rightArrow">
            <a:avLst/>
          </a:prstGeom>
          <a:solidFill>
            <a:srgbClr val="CBD5E1"/>
          </a:solidFill>
          <a:ln w="12700">
            <a:solidFill>
              <a:srgbClr val="CBD5E1"/>
            </a:solidFill>
            <a:prstDash val="solid"/>
          </a:ln>
        </p:spPr>
      </p:sp>
      <p:sp>
        <p:nvSpPr>
          <p:cNvPr id="10" name="Battery card"/>
          <p:cNvSpPr/>
          <p:nvPr/>
        </p:nvSpPr>
        <p:spPr>
          <a:xfrm>
            <a:off x="2139696" y="2011680"/>
            <a:ext cx="1517904" cy="2423160"/>
          </a:xfrm>
          <a:prstGeom prst="roundRect">
            <a:avLst>
              <a:gd name="adj" fmla="val 722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Battery circle"/>
          <p:cNvSpPr/>
          <p:nvPr/>
        </p:nvSpPr>
        <p:spPr>
          <a:xfrm>
            <a:off x="2532888" y="2194560"/>
            <a:ext cx="731520" cy="731520"/>
          </a:xfrm>
          <a:prstGeom prst="ellipse">
            <a:avLst/>
          </a:prstGeom>
          <a:solidFill>
            <a:srgbClr val="10B981"/>
          </a:solidFill>
          <a:ln w="12700">
            <a:solidFill>
              <a:srgbClr val="10B981"/>
            </a:solidFill>
            <a:prstDash val="solid"/>
          </a:ln>
        </p:spPr>
      </p:sp>
      <p:pic>
        <p:nvPicPr>
          <p:cNvPr id="12" name="Battery" descr="preencoded.png">    </p:cNvPr>
          <p:cNvPicPr>
            <a:picLocks noChangeAspect="1"/>
          </p:cNvPicPr>
          <p:nvPr/>
        </p:nvPicPr>
        <p:blipFill>
          <a:blip r:embed="rId2"/>
          <a:stretch>
            <a:fillRect/>
          </a:stretch>
        </p:blipFill>
        <p:spPr>
          <a:xfrm>
            <a:off x="2708453" y="2370125"/>
            <a:ext cx="380390" cy="380390"/>
          </a:xfrm>
          <a:prstGeom prst="rect">
            <a:avLst/>
          </a:prstGeom>
        </p:spPr>
      </p:pic>
      <p:sp>
        <p:nvSpPr>
          <p:cNvPr id="13" name="Text 9"/>
          <p:cNvSpPr txBox="1"/>
          <p:nvPr/>
        </p:nvSpPr>
        <p:spPr>
          <a:xfrm>
            <a:off x="2231136" y="3017520"/>
            <a:ext cx="1335024" cy="320040"/>
          </a:xfrm>
          <a:prstGeom prst="rect">
            <a:avLst/>
          </a:prstGeom>
          <a:noFill/>
          <a:ln/>
        </p:spPr>
        <p:txBody>
          <a:bodyPr wrap="square" lIns="0" tIns="0" rIns="0" bIns="0" rtlCol="0" anchor="t"/>
          <a:lstStyle/>
          <a:p>
            <a:pPr algn="ctr" indent="0" marL="0">
              <a:buNone/>
            </a:pPr>
            <a:r>
              <a:rPr lang="en-US" sz="1500" b="1" dirty="0">
                <a:solidFill>
                  <a:srgbClr val="10B981"/>
                </a:solidFill>
              </a:rPr>
              <a:t>Battery</a:t>
            </a:r>
            <a:endParaRPr lang="en-US" sz="1500" dirty="0"/>
          </a:p>
        </p:txBody>
      </p:sp>
      <p:sp>
        <p:nvSpPr>
          <p:cNvPr id="14" name="Text 10"/>
          <p:cNvSpPr txBox="1"/>
          <p:nvPr/>
        </p:nvSpPr>
        <p:spPr>
          <a:xfrm>
            <a:off x="2249424" y="3383280"/>
            <a:ext cx="1298448" cy="914400"/>
          </a:xfrm>
          <a:prstGeom prst="rect">
            <a:avLst/>
          </a:prstGeom>
          <a:noFill/>
          <a:ln/>
        </p:spPr>
        <p:txBody>
          <a:bodyPr wrap="square" lIns="0" tIns="0" rIns="0" bIns="0" rtlCol="0" anchor="t"/>
          <a:lstStyle/>
          <a:p>
            <a:pPr algn="ctr" indent="0" marL="0">
              <a:buNone/>
            </a:pPr>
            <a:r>
              <a:rPr lang="en-US" sz="1200" dirty="0">
                <a:solidFill>
                  <a:schemeClr val="tx2"/>
                </a:solidFill>
              </a:rPr>
              <a:t>12 Wh Li-ion, SOC from energy balance</a:t>
            </a:r>
            <a:endParaRPr lang="en-US" sz="1200" dirty="0"/>
          </a:p>
        </p:txBody>
      </p:sp>
      <p:sp>
        <p:nvSpPr>
          <p:cNvPr id="15" name="arrow"/>
          <p:cNvSpPr/>
          <p:nvPr/>
        </p:nvSpPr>
        <p:spPr>
          <a:xfrm>
            <a:off x="3666744" y="3081528"/>
            <a:ext cx="146304" cy="201168"/>
          </a:xfrm>
          <a:prstGeom prst="rightArrow">
            <a:avLst/>
          </a:prstGeom>
          <a:solidFill>
            <a:srgbClr val="CBD5E1"/>
          </a:solidFill>
          <a:ln w="12700">
            <a:solidFill>
              <a:srgbClr val="CBD5E1"/>
            </a:solidFill>
            <a:prstDash val="solid"/>
          </a:ln>
        </p:spPr>
      </p:sp>
      <p:sp>
        <p:nvSpPr>
          <p:cNvPr id="16" name="ESP32 card"/>
          <p:cNvSpPr/>
          <p:nvPr/>
        </p:nvSpPr>
        <p:spPr>
          <a:xfrm>
            <a:off x="3822192" y="2011680"/>
            <a:ext cx="1517904" cy="2423160"/>
          </a:xfrm>
          <a:prstGeom prst="roundRect">
            <a:avLst>
              <a:gd name="adj" fmla="val 722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ESP32 circle"/>
          <p:cNvSpPr/>
          <p:nvPr/>
        </p:nvSpPr>
        <p:spPr>
          <a:xfrm>
            <a:off x="4215384" y="2194560"/>
            <a:ext cx="731520" cy="731520"/>
          </a:xfrm>
          <a:prstGeom prst="ellipse">
            <a:avLst/>
          </a:prstGeom>
          <a:solidFill>
            <a:srgbClr val="06B6D4"/>
          </a:solidFill>
          <a:ln w="12700">
            <a:solidFill>
              <a:srgbClr val="06B6D4"/>
            </a:solidFill>
            <a:prstDash val="solid"/>
          </a:ln>
        </p:spPr>
      </p:sp>
      <p:pic>
        <p:nvPicPr>
          <p:cNvPr id="18" name="ESP32" descr="preencoded.png">    </p:cNvPr>
          <p:cNvPicPr>
            <a:picLocks noChangeAspect="1"/>
          </p:cNvPicPr>
          <p:nvPr/>
        </p:nvPicPr>
        <p:blipFill>
          <a:blip r:embed="rId3"/>
          <a:stretch>
            <a:fillRect/>
          </a:stretch>
        </p:blipFill>
        <p:spPr>
          <a:xfrm>
            <a:off x="4390949" y="2370125"/>
            <a:ext cx="380390" cy="380390"/>
          </a:xfrm>
          <a:prstGeom prst="rect">
            <a:avLst/>
          </a:prstGeom>
        </p:spPr>
      </p:pic>
      <p:sp>
        <p:nvSpPr>
          <p:cNvPr id="19" name="Text 14"/>
          <p:cNvSpPr txBox="1"/>
          <p:nvPr/>
        </p:nvSpPr>
        <p:spPr>
          <a:xfrm>
            <a:off x="3913632" y="3017520"/>
            <a:ext cx="1335024" cy="320040"/>
          </a:xfrm>
          <a:prstGeom prst="rect">
            <a:avLst/>
          </a:prstGeom>
          <a:noFill/>
          <a:ln/>
        </p:spPr>
        <p:txBody>
          <a:bodyPr wrap="square" lIns="0" tIns="0" rIns="0" bIns="0" rtlCol="0" anchor="t"/>
          <a:lstStyle/>
          <a:p>
            <a:pPr algn="ctr" indent="0" marL="0">
              <a:buNone/>
            </a:pPr>
            <a:r>
              <a:rPr lang="en-US" sz="1500" b="1" dirty="0">
                <a:solidFill>
                  <a:srgbClr val="06B6D4"/>
                </a:solidFill>
              </a:rPr>
              <a:t>ESP32</a:t>
            </a:r>
            <a:endParaRPr lang="en-US" sz="1500" dirty="0"/>
          </a:p>
        </p:txBody>
      </p:sp>
      <p:sp>
        <p:nvSpPr>
          <p:cNvPr id="20" name="Text 15"/>
          <p:cNvSpPr txBox="1"/>
          <p:nvPr/>
        </p:nvSpPr>
        <p:spPr>
          <a:xfrm>
            <a:off x="3931920" y="3383280"/>
            <a:ext cx="1298448" cy="914400"/>
          </a:xfrm>
          <a:prstGeom prst="rect">
            <a:avLst/>
          </a:prstGeom>
          <a:noFill/>
          <a:ln/>
        </p:spPr>
        <p:txBody>
          <a:bodyPr wrap="square" lIns="0" tIns="0" rIns="0" bIns="0" rtlCol="0" anchor="t"/>
          <a:lstStyle/>
          <a:p>
            <a:pPr algn="ctr" indent="0" marL="0">
              <a:buNone/>
            </a:pPr>
            <a:r>
              <a:rPr lang="en-US" sz="1200" dirty="0">
                <a:solidFill>
                  <a:schemeClr val="tx2"/>
                </a:solidFill>
              </a:rPr>
              <a:t>240 MHz, computes local time &amp; energy</a:t>
            </a:r>
            <a:endParaRPr lang="en-US" sz="1200" dirty="0"/>
          </a:p>
        </p:txBody>
      </p:sp>
      <p:sp>
        <p:nvSpPr>
          <p:cNvPr id="21" name="arrow"/>
          <p:cNvSpPr/>
          <p:nvPr/>
        </p:nvSpPr>
        <p:spPr>
          <a:xfrm>
            <a:off x="5349240" y="3081528"/>
            <a:ext cx="146304" cy="201168"/>
          </a:xfrm>
          <a:prstGeom prst="rightArrow">
            <a:avLst/>
          </a:prstGeom>
          <a:solidFill>
            <a:srgbClr val="CBD5E1"/>
          </a:solidFill>
          <a:ln w="12700">
            <a:solidFill>
              <a:srgbClr val="CBD5E1"/>
            </a:solidFill>
            <a:prstDash val="solid"/>
          </a:ln>
        </p:spPr>
      </p:sp>
      <p:sp>
        <p:nvSpPr>
          <p:cNvPr id="22" name="WiFi / MQTT card"/>
          <p:cNvSpPr/>
          <p:nvPr/>
        </p:nvSpPr>
        <p:spPr>
          <a:xfrm>
            <a:off x="5504688" y="2011680"/>
            <a:ext cx="1517904" cy="2423160"/>
          </a:xfrm>
          <a:prstGeom prst="roundRect">
            <a:avLst>
              <a:gd name="adj" fmla="val 722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3" name="WiFi / MQTT circle"/>
          <p:cNvSpPr/>
          <p:nvPr/>
        </p:nvSpPr>
        <p:spPr>
          <a:xfrm>
            <a:off x="5897880" y="2194560"/>
            <a:ext cx="731520" cy="731520"/>
          </a:xfrm>
          <a:prstGeom prst="ellipse">
            <a:avLst/>
          </a:prstGeom>
          <a:solidFill>
            <a:srgbClr val="8B5CF6"/>
          </a:solidFill>
          <a:ln w="12700">
            <a:solidFill>
              <a:srgbClr val="8B5CF6"/>
            </a:solidFill>
            <a:prstDash val="solid"/>
          </a:ln>
        </p:spPr>
      </p:sp>
      <p:pic>
        <p:nvPicPr>
          <p:cNvPr id="24" name="WiFi / MQTT" descr="preencoded.png">    </p:cNvPr>
          <p:cNvPicPr>
            <a:picLocks noChangeAspect="1"/>
          </p:cNvPicPr>
          <p:nvPr/>
        </p:nvPicPr>
        <p:blipFill>
          <a:blip r:embed="rId4"/>
          <a:stretch>
            <a:fillRect/>
          </a:stretch>
        </p:blipFill>
        <p:spPr>
          <a:xfrm>
            <a:off x="6073445" y="2370125"/>
            <a:ext cx="380390" cy="380390"/>
          </a:xfrm>
          <a:prstGeom prst="rect">
            <a:avLst/>
          </a:prstGeom>
        </p:spPr>
      </p:pic>
      <p:sp>
        <p:nvSpPr>
          <p:cNvPr id="25" name="Text 19"/>
          <p:cNvSpPr txBox="1"/>
          <p:nvPr/>
        </p:nvSpPr>
        <p:spPr>
          <a:xfrm>
            <a:off x="5596128" y="3017520"/>
            <a:ext cx="1335024" cy="320040"/>
          </a:xfrm>
          <a:prstGeom prst="rect">
            <a:avLst/>
          </a:prstGeom>
          <a:noFill/>
          <a:ln/>
        </p:spPr>
        <p:txBody>
          <a:bodyPr wrap="square" lIns="0" tIns="0" rIns="0" bIns="0" rtlCol="0" anchor="t"/>
          <a:lstStyle/>
          <a:p>
            <a:pPr algn="ctr" indent="0" marL="0">
              <a:buNone/>
            </a:pPr>
            <a:r>
              <a:rPr lang="en-US" sz="1500" b="1" dirty="0">
                <a:solidFill>
                  <a:srgbClr val="8B5CF6"/>
                </a:solidFill>
              </a:rPr>
              <a:t>WiFi / MQTT</a:t>
            </a:r>
            <a:endParaRPr lang="en-US" sz="1500" dirty="0"/>
          </a:p>
        </p:txBody>
      </p:sp>
      <p:sp>
        <p:nvSpPr>
          <p:cNvPr id="26" name="Text 20"/>
          <p:cNvSpPr txBox="1"/>
          <p:nvPr/>
        </p:nvSpPr>
        <p:spPr>
          <a:xfrm>
            <a:off x="5614416" y="3383280"/>
            <a:ext cx="1298448" cy="914400"/>
          </a:xfrm>
          <a:prstGeom prst="rect">
            <a:avLst/>
          </a:prstGeom>
          <a:noFill/>
          <a:ln/>
        </p:spPr>
        <p:txBody>
          <a:bodyPr wrap="square" lIns="0" tIns="0" rIns="0" bIns="0" rtlCol="0" anchor="t"/>
          <a:lstStyle/>
          <a:p>
            <a:pPr algn="ctr" indent="0" marL="0">
              <a:buNone/>
            </a:pPr>
            <a:r>
              <a:rPr lang="en-US" sz="1200" dirty="0">
                <a:solidFill>
                  <a:schemeClr val="tx2"/>
                </a:solidFill>
              </a:rPr>
              <a:t>RSSI → speed → packet errors → retries</a:t>
            </a:r>
            <a:endParaRPr lang="en-US" sz="1200" dirty="0"/>
          </a:p>
        </p:txBody>
      </p:sp>
      <p:sp>
        <p:nvSpPr>
          <p:cNvPr id="27" name="arrow"/>
          <p:cNvSpPr/>
          <p:nvPr/>
        </p:nvSpPr>
        <p:spPr>
          <a:xfrm>
            <a:off x="7031736" y="3081528"/>
            <a:ext cx="146304" cy="201168"/>
          </a:xfrm>
          <a:prstGeom prst="rightArrow">
            <a:avLst/>
          </a:prstGeom>
          <a:solidFill>
            <a:srgbClr val="CBD5E1"/>
          </a:solidFill>
          <a:ln w="12700">
            <a:solidFill>
              <a:srgbClr val="CBD5E1"/>
            </a:solidFill>
            <a:prstDash val="solid"/>
          </a:ln>
        </p:spPr>
      </p:sp>
      <p:sp>
        <p:nvSpPr>
          <p:cNvPr id="28" name="Edge server card"/>
          <p:cNvSpPr/>
          <p:nvPr/>
        </p:nvSpPr>
        <p:spPr>
          <a:xfrm>
            <a:off x="7187184" y="2011680"/>
            <a:ext cx="1517904" cy="2423160"/>
          </a:xfrm>
          <a:prstGeom prst="roundRect">
            <a:avLst>
              <a:gd name="adj" fmla="val 722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Edge server circle"/>
          <p:cNvSpPr/>
          <p:nvPr/>
        </p:nvSpPr>
        <p:spPr>
          <a:xfrm>
            <a:off x="7580376" y="2194560"/>
            <a:ext cx="731520" cy="731520"/>
          </a:xfrm>
          <a:prstGeom prst="ellipse">
            <a:avLst/>
          </a:prstGeom>
          <a:solidFill>
            <a:srgbClr val="6366F1"/>
          </a:solidFill>
          <a:ln w="12700">
            <a:solidFill>
              <a:srgbClr val="6366F1"/>
            </a:solidFill>
            <a:prstDash val="solid"/>
          </a:ln>
        </p:spPr>
      </p:sp>
      <p:pic>
        <p:nvPicPr>
          <p:cNvPr id="30" name="Edge server" descr="preencoded.png">    </p:cNvPr>
          <p:cNvPicPr>
            <a:picLocks noChangeAspect="1"/>
          </p:cNvPicPr>
          <p:nvPr/>
        </p:nvPicPr>
        <p:blipFill>
          <a:blip r:embed="rId5"/>
          <a:stretch>
            <a:fillRect/>
          </a:stretch>
        </p:blipFill>
        <p:spPr>
          <a:xfrm>
            <a:off x="7755941" y="2370125"/>
            <a:ext cx="380390" cy="380390"/>
          </a:xfrm>
          <a:prstGeom prst="rect">
            <a:avLst/>
          </a:prstGeom>
        </p:spPr>
      </p:pic>
      <p:sp>
        <p:nvSpPr>
          <p:cNvPr id="31" name="Text 24"/>
          <p:cNvSpPr txBox="1"/>
          <p:nvPr/>
        </p:nvSpPr>
        <p:spPr>
          <a:xfrm>
            <a:off x="7278624" y="3017520"/>
            <a:ext cx="1335024" cy="320040"/>
          </a:xfrm>
          <a:prstGeom prst="rect">
            <a:avLst/>
          </a:prstGeom>
          <a:noFill/>
          <a:ln/>
        </p:spPr>
        <p:txBody>
          <a:bodyPr wrap="square" lIns="0" tIns="0" rIns="0" bIns="0" rtlCol="0" anchor="t"/>
          <a:lstStyle/>
          <a:p>
            <a:pPr algn="ctr" indent="0" marL="0">
              <a:buNone/>
            </a:pPr>
            <a:r>
              <a:rPr lang="en-US" sz="1500" b="1" dirty="0">
                <a:solidFill>
                  <a:srgbClr val="6366F1"/>
                </a:solidFill>
              </a:rPr>
              <a:t>Edge server</a:t>
            </a:r>
            <a:endParaRPr lang="en-US" sz="1500" dirty="0"/>
          </a:p>
        </p:txBody>
      </p:sp>
      <p:sp>
        <p:nvSpPr>
          <p:cNvPr id="32" name="Text 25"/>
          <p:cNvSpPr txBox="1"/>
          <p:nvPr/>
        </p:nvSpPr>
        <p:spPr>
          <a:xfrm>
            <a:off x="7296912" y="3383280"/>
            <a:ext cx="1298448" cy="914400"/>
          </a:xfrm>
          <a:prstGeom prst="rect">
            <a:avLst/>
          </a:prstGeom>
          <a:noFill/>
          <a:ln/>
        </p:spPr>
        <p:txBody>
          <a:bodyPr wrap="square" lIns="0" tIns="0" rIns="0" bIns="0" rtlCol="0" anchor="t"/>
          <a:lstStyle/>
          <a:p>
            <a:pPr algn="ctr" indent="0" marL="0">
              <a:buNone/>
            </a:pPr>
            <a:r>
              <a:rPr lang="en-US" sz="1200" dirty="0">
                <a:solidFill>
                  <a:schemeClr val="tx2"/>
                </a:solidFill>
              </a:rPr>
              <a:t>3 GHz, slower when busy (queue)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What the twin does every simulated minute</a:t>
            </a:r>
            <a:endParaRPr lang="en-US" sz="3000" dirty="0"/>
          </a:p>
        </p:txBody>
      </p:sp>
      <p:sp>
        <p:nvSpPr>
          <p:cNvPr id="3" name="step 1"/>
          <p:cNvSpPr/>
          <p:nvPr/>
        </p:nvSpPr>
        <p:spPr>
          <a:xfrm>
            <a:off x="457200" y="118872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tep number 1"/>
          <p:cNvSpPr/>
          <p:nvPr/>
        </p:nvSpPr>
        <p:spPr>
          <a:xfrm>
            <a:off x="640080" y="1389888"/>
            <a:ext cx="502920" cy="502920"/>
          </a:xfrm>
          <a:prstGeom prst="ellipse">
            <a:avLst/>
          </a:prstGeom>
          <a:solidFill>
            <a:srgbClr val="F59E0B"/>
          </a:solidFill>
          <a:ln w="12700">
            <a:solidFill>
              <a:srgbClr val="F59E0B"/>
            </a:solidFill>
            <a:prstDash val="solid"/>
          </a:ln>
        </p:spPr>
      </p:sp>
      <p:sp>
        <p:nvSpPr>
          <p:cNvPr id="5" name="Text 3"/>
          <p:cNvSpPr txBox="1"/>
          <p:nvPr/>
        </p:nvSpPr>
        <p:spPr>
          <a:xfrm>
            <a:off x="640080" y="138988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280160" y="1435608"/>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Environment moves</a:t>
            </a:r>
            <a:endParaRPr lang="en-US" sz="1600" dirty="0"/>
          </a:p>
        </p:txBody>
      </p:sp>
      <p:sp>
        <p:nvSpPr>
          <p:cNvPr id="7" name="Text 5"/>
          <p:cNvSpPr txBox="1"/>
          <p:nvPr/>
        </p:nvSpPr>
        <p:spPr>
          <a:xfrm>
            <a:off x="640080" y="2011680"/>
            <a:ext cx="2286000" cy="548640"/>
          </a:xfrm>
          <a:prstGeom prst="rect">
            <a:avLst/>
          </a:prstGeom>
          <a:noFill/>
          <a:ln/>
        </p:spPr>
        <p:txBody>
          <a:bodyPr wrap="square" lIns="0" tIns="0" rIns="0" bIns="0" rtlCol="0" anchor="t"/>
          <a:lstStyle/>
          <a:p>
            <a:pPr indent="0" marL="0">
              <a:buNone/>
            </a:pPr>
            <a:r>
              <a:rPr lang="en-US" sz="1300" dirty="0">
                <a:solidFill>
                  <a:schemeClr val="tx2"/>
                </a:solidFill>
              </a:rPr>
              <a:t>Sun, clouds, distance to router, server traffic</a:t>
            </a:r>
            <a:endParaRPr lang="en-US" sz="1300" dirty="0"/>
          </a:p>
        </p:txBody>
      </p:sp>
      <p:sp>
        <p:nvSpPr>
          <p:cNvPr id="8" name="step 2"/>
          <p:cNvSpPr/>
          <p:nvPr/>
        </p:nvSpPr>
        <p:spPr>
          <a:xfrm>
            <a:off x="3246120" y="118872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tep number 2"/>
          <p:cNvSpPr/>
          <p:nvPr/>
        </p:nvSpPr>
        <p:spPr>
          <a:xfrm>
            <a:off x="3429000" y="1389888"/>
            <a:ext cx="502920" cy="502920"/>
          </a:xfrm>
          <a:prstGeom prst="ellipse">
            <a:avLst/>
          </a:prstGeom>
          <a:solidFill>
            <a:srgbClr val="EC4899"/>
          </a:solidFill>
          <a:ln w="12700">
            <a:solidFill>
              <a:srgbClr val="EC4899"/>
            </a:solidFill>
            <a:prstDash val="solid"/>
          </a:ln>
        </p:spPr>
      </p:sp>
      <p:sp>
        <p:nvSpPr>
          <p:cNvPr id="10" name="Text 8"/>
          <p:cNvSpPr txBox="1"/>
          <p:nvPr/>
        </p:nvSpPr>
        <p:spPr>
          <a:xfrm>
            <a:off x="3429000" y="138988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4069080" y="1435608"/>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Task arrives</a:t>
            </a:r>
            <a:endParaRPr lang="en-US" sz="1600" dirty="0"/>
          </a:p>
        </p:txBody>
      </p:sp>
      <p:sp>
        <p:nvSpPr>
          <p:cNvPr id="12" name="Text 10"/>
          <p:cNvSpPr txBox="1"/>
          <p:nvPr/>
        </p:nvSpPr>
        <p:spPr>
          <a:xfrm>
            <a:off x="3429000" y="2011680"/>
            <a:ext cx="2286000" cy="548640"/>
          </a:xfrm>
          <a:prstGeom prst="rect">
            <a:avLst/>
          </a:prstGeom>
          <a:noFill/>
          <a:ln/>
        </p:spPr>
        <p:txBody>
          <a:bodyPr wrap="square" lIns="0" tIns="0" rIns="0" bIns="0" rtlCol="0" anchor="t"/>
          <a:lstStyle/>
          <a:p>
            <a:pPr indent="0" marL="0">
              <a:buNone/>
            </a:pPr>
            <a:r>
              <a:rPr lang="en-US" sz="1300" dirty="0">
                <a:solidFill>
                  <a:schemeClr val="tx2"/>
                </a:solidFill>
              </a:rPr>
              <a:t>Size (KB) × complexity (cycles/byte)</a:t>
            </a:r>
            <a:endParaRPr lang="en-US" sz="1300" dirty="0"/>
          </a:p>
        </p:txBody>
      </p:sp>
      <p:sp>
        <p:nvSpPr>
          <p:cNvPr id="13" name="step 3"/>
          <p:cNvSpPr/>
          <p:nvPr/>
        </p:nvSpPr>
        <p:spPr>
          <a:xfrm>
            <a:off x="6035040" y="118872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step number 3"/>
          <p:cNvSpPr/>
          <p:nvPr/>
        </p:nvSpPr>
        <p:spPr>
          <a:xfrm>
            <a:off x="6217920" y="1389888"/>
            <a:ext cx="502920" cy="502920"/>
          </a:xfrm>
          <a:prstGeom prst="ellipse">
            <a:avLst/>
          </a:prstGeom>
          <a:solidFill>
            <a:srgbClr val="06B6D4"/>
          </a:solidFill>
          <a:ln w="12700">
            <a:solidFill>
              <a:srgbClr val="06B6D4"/>
            </a:solidFill>
            <a:prstDash val="solid"/>
          </a:ln>
        </p:spPr>
      </p:sp>
      <p:sp>
        <p:nvSpPr>
          <p:cNvPr id="15" name="Text 13"/>
          <p:cNvSpPr txBox="1"/>
          <p:nvPr/>
        </p:nvSpPr>
        <p:spPr>
          <a:xfrm>
            <a:off x="6217920" y="138988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6858000" y="1435608"/>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LOCAL costed</a:t>
            </a:r>
            <a:endParaRPr lang="en-US" sz="1600" dirty="0"/>
          </a:p>
        </p:txBody>
      </p:sp>
      <p:sp>
        <p:nvSpPr>
          <p:cNvPr id="17" name="Text 15"/>
          <p:cNvSpPr txBox="1"/>
          <p:nvPr/>
        </p:nvSpPr>
        <p:spPr>
          <a:xfrm>
            <a:off x="6217920" y="2011680"/>
            <a:ext cx="2286000" cy="548640"/>
          </a:xfrm>
          <a:prstGeom prst="rect">
            <a:avLst/>
          </a:prstGeom>
          <a:noFill/>
          <a:ln/>
        </p:spPr>
        <p:txBody>
          <a:bodyPr wrap="square" lIns="0" tIns="0" rIns="0" bIns="0" rtlCol="0" anchor="t"/>
          <a:lstStyle/>
          <a:p>
            <a:pPr indent="0" marL="0">
              <a:buNone/>
            </a:pPr>
            <a:r>
              <a:rPr lang="en-US" sz="1300" dirty="0">
                <a:solidFill>
                  <a:schemeClr val="tx2"/>
                </a:solidFill>
              </a:rPr>
              <a:t>Time &amp; energy on the ESP32</a:t>
            </a:r>
            <a:endParaRPr lang="en-US" sz="1300" dirty="0"/>
          </a:p>
        </p:txBody>
      </p:sp>
      <p:sp>
        <p:nvSpPr>
          <p:cNvPr id="18" name="step 4"/>
          <p:cNvSpPr/>
          <p:nvPr/>
        </p:nvSpPr>
        <p:spPr>
          <a:xfrm>
            <a:off x="457200" y="288036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step number 4"/>
          <p:cNvSpPr/>
          <p:nvPr/>
        </p:nvSpPr>
        <p:spPr>
          <a:xfrm>
            <a:off x="640080" y="3081528"/>
            <a:ext cx="502920" cy="502920"/>
          </a:xfrm>
          <a:prstGeom prst="ellipse">
            <a:avLst/>
          </a:prstGeom>
          <a:solidFill>
            <a:srgbClr val="8B5CF6"/>
          </a:solidFill>
          <a:ln w="12700">
            <a:solidFill>
              <a:srgbClr val="8B5CF6"/>
            </a:solidFill>
            <a:prstDash val="solid"/>
          </a:ln>
        </p:spPr>
      </p:sp>
      <p:sp>
        <p:nvSpPr>
          <p:cNvPr id="20" name="Text 18"/>
          <p:cNvSpPr txBox="1"/>
          <p:nvPr/>
        </p:nvSpPr>
        <p:spPr>
          <a:xfrm>
            <a:off x="640080" y="308152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1280160" y="3127248"/>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OFFLOAD costed</a:t>
            </a:r>
            <a:endParaRPr lang="en-US" sz="1600" dirty="0"/>
          </a:p>
        </p:txBody>
      </p:sp>
      <p:sp>
        <p:nvSpPr>
          <p:cNvPr id="22" name="Text 20"/>
          <p:cNvSpPr txBox="1"/>
          <p:nvPr/>
        </p:nvSpPr>
        <p:spPr>
          <a:xfrm>
            <a:off x="640080" y="3703320"/>
            <a:ext cx="2286000" cy="548640"/>
          </a:xfrm>
          <a:prstGeom prst="rect">
            <a:avLst/>
          </a:prstGeom>
          <a:noFill/>
          <a:ln/>
        </p:spPr>
        <p:txBody>
          <a:bodyPr wrap="square" lIns="0" tIns="0" rIns="0" bIns="0" rtlCol="0" anchor="t"/>
          <a:lstStyle/>
          <a:p>
            <a:pPr indent="0" marL="0">
              <a:buNone/>
            </a:pPr>
            <a:r>
              <a:rPr lang="en-US" sz="1300" dirty="0">
                <a:solidFill>
                  <a:schemeClr val="tx2"/>
                </a:solidFill>
              </a:rPr>
              <a:t>Upload + server + reply: time &amp; radio energy</a:t>
            </a:r>
            <a:endParaRPr lang="en-US" sz="1300" dirty="0"/>
          </a:p>
        </p:txBody>
      </p:sp>
      <p:sp>
        <p:nvSpPr>
          <p:cNvPr id="23" name="step 5"/>
          <p:cNvSpPr/>
          <p:nvPr/>
        </p:nvSpPr>
        <p:spPr>
          <a:xfrm>
            <a:off x="3246120" y="288036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step number 5"/>
          <p:cNvSpPr/>
          <p:nvPr/>
        </p:nvSpPr>
        <p:spPr>
          <a:xfrm>
            <a:off x="3429000" y="3081528"/>
            <a:ext cx="502920" cy="502920"/>
          </a:xfrm>
          <a:prstGeom prst="ellipse">
            <a:avLst/>
          </a:prstGeom>
          <a:solidFill>
            <a:srgbClr val="F59E0B"/>
          </a:solidFill>
          <a:ln w="12700">
            <a:solidFill>
              <a:srgbClr val="F59E0B"/>
            </a:solidFill>
            <a:prstDash val="solid"/>
          </a:ln>
        </p:spPr>
      </p:sp>
      <p:sp>
        <p:nvSpPr>
          <p:cNvPr id="25" name="Text 23"/>
          <p:cNvSpPr txBox="1"/>
          <p:nvPr/>
        </p:nvSpPr>
        <p:spPr>
          <a:xfrm>
            <a:off x="3429000" y="308152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 24"/>
          <p:cNvSpPr txBox="1"/>
          <p:nvPr/>
        </p:nvSpPr>
        <p:spPr>
          <a:xfrm>
            <a:off x="4069080" y="3127248"/>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Cheaper bill wins</a:t>
            </a:r>
            <a:endParaRPr lang="en-US" sz="1600" dirty="0"/>
          </a:p>
        </p:txBody>
      </p:sp>
      <p:sp>
        <p:nvSpPr>
          <p:cNvPr id="27" name="Text 25"/>
          <p:cNvSpPr txBox="1"/>
          <p:nvPr/>
        </p:nvSpPr>
        <p:spPr>
          <a:xfrm>
            <a:off x="3429000" y="3703320"/>
            <a:ext cx="2286000" cy="548640"/>
          </a:xfrm>
          <a:prstGeom prst="rect">
            <a:avLst/>
          </a:prstGeom>
          <a:noFill/>
          <a:ln/>
        </p:spPr>
        <p:txBody>
          <a:bodyPr wrap="square" lIns="0" tIns="0" rIns="0" bIns="0" rtlCol="0" anchor="t"/>
          <a:lstStyle/>
          <a:p>
            <a:pPr indent="0" marL="0">
              <a:buNone/>
            </a:pPr>
            <a:r>
              <a:rPr lang="en-US" sz="1300" dirty="0">
                <a:solidFill>
                  <a:schemeClr val="tx2"/>
                </a:solidFill>
              </a:rPr>
              <a:t>Compare cost J of both options</a:t>
            </a:r>
            <a:endParaRPr lang="en-US" sz="1300" dirty="0"/>
          </a:p>
        </p:txBody>
      </p:sp>
      <p:sp>
        <p:nvSpPr>
          <p:cNvPr id="28" name="step 6"/>
          <p:cNvSpPr/>
          <p:nvPr/>
        </p:nvSpPr>
        <p:spPr>
          <a:xfrm>
            <a:off x="6035040" y="2880360"/>
            <a:ext cx="2606040"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step number 6"/>
          <p:cNvSpPr/>
          <p:nvPr/>
        </p:nvSpPr>
        <p:spPr>
          <a:xfrm>
            <a:off x="6217920" y="3081528"/>
            <a:ext cx="502920" cy="502920"/>
          </a:xfrm>
          <a:prstGeom prst="ellipse">
            <a:avLst/>
          </a:prstGeom>
          <a:solidFill>
            <a:srgbClr val="10B981"/>
          </a:solidFill>
          <a:ln w="12700">
            <a:solidFill>
              <a:srgbClr val="10B981"/>
            </a:solidFill>
            <a:prstDash val="solid"/>
          </a:ln>
        </p:spPr>
      </p:sp>
      <p:sp>
        <p:nvSpPr>
          <p:cNvPr id="30" name="Text 28"/>
          <p:cNvSpPr txBox="1"/>
          <p:nvPr/>
        </p:nvSpPr>
        <p:spPr>
          <a:xfrm>
            <a:off x="6217920" y="308152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Text 29"/>
          <p:cNvSpPr txBox="1"/>
          <p:nvPr/>
        </p:nvSpPr>
        <p:spPr>
          <a:xfrm>
            <a:off x="6858000" y="3127248"/>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Battery updated</a:t>
            </a:r>
            <a:endParaRPr lang="en-US" sz="1600" dirty="0"/>
          </a:p>
        </p:txBody>
      </p:sp>
      <p:sp>
        <p:nvSpPr>
          <p:cNvPr id="32" name="Text 30"/>
          <p:cNvSpPr txBox="1"/>
          <p:nvPr/>
        </p:nvSpPr>
        <p:spPr>
          <a:xfrm>
            <a:off x="6217920" y="3703320"/>
            <a:ext cx="2286000" cy="548640"/>
          </a:xfrm>
          <a:prstGeom prst="rect">
            <a:avLst/>
          </a:prstGeom>
          <a:noFill/>
          <a:ln/>
        </p:spPr>
        <p:txBody>
          <a:bodyPr wrap="square" lIns="0" tIns="0" rIns="0" bIns="0" rtlCol="0" anchor="t"/>
          <a:lstStyle/>
          <a:p>
            <a:pPr indent="0" marL="0">
              <a:buNone/>
            </a:pPr>
            <a:r>
              <a:rPr lang="en-US" sz="1300" dirty="0">
                <a:solidFill>
                  <a:schemeClr val="tx2"/>
                </a:solidFill>
              </a:rPr>
              <a:t>Chosen option's energy drained; loop repeats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Decision parameters and the cost "bill"</a:t>
            </a:r>
            <a:endParaRPr lang="en-US" sz="3000" dirty="0"/>
          </a:p>
        </p:txBody>
      </p:sp>
      <p:sp>
        <p:nvSpPr>
          <p:cNvPr id="3" name="Battery SOC circle"/>
          <p:cNvSpPr/>
          <p:nvPr/>
        </p:nvSpPr>
        <p:spPr>
          <a:xfrm>
            <a:off x="457200" y="1097280"/>
            <a:ext cx="502920" cy="502920"/>
          </a:xfrm>
          <a:prstGeom prst="ellipse">
            <a:avLst/>
          </a:prstGeom>
          <a:solidFill>
            <a:srgbClr val="10B981"/>
          </a:solidFill>
          <a:ln w="12700">
            <a:solidFill>
              <a:srgbClr val="10B981"/>
            </a:solidFill>
            <a:prstDash val="solid"/>
          </a:ln>
        </p:spPr>
      </p:sp>
      <p:pic>
        <p:nvPicPr>
          <p:cNvPr id="4" name="Battery SOC" descr="preencoded.png">    </p:cNvPr>
          <p:cNvPicPr>
            <a:picLocks noChangeAspect="1"/>
          </p:cNvPicPr>
          <p:nvPr/>
        </p:nvPicPr>
        <p:blipFill>
          <a:blip r:embed="rId1"/>
          <a:stretch>
            <a:fillRect/>
          </a:stretch>
        </p:blipFill>
        <p:spPr>
          <a:xfrm>
            <a:off x="577901" y="1217981"/>
            <a:ext cx="261518" cy="261518"/>
          </a:xfrm>
          <a:prstGeom prst="rect">
            <a:avLst/>
          </a:prstGeom>
        </p:spPr>
      </p:pic>
      <p:sp>
        <p:nvSpPr>
          <p:cNvPr id="5" name="Text 2"/>
          <p:cNvSpPr txBox="1"/>
          <p:nvPr/>
        </p:nvSpPr>
        <p:spPr>
          <a:xfrm>
            <a:off x="1097280" y="1078992"/>
            <a:ext cx="3017520" cy="274320"/>
          </a:xfrm>
          <a:prstGeom prst="rect">
            <a:avLst/>
          </a:prstGeom>
          <a:noFill/>
          <a:ln/>
        </p:spPr>
        <p:txBody>
          <a:bodyPr wrap="square" lIns="0" tIns="0" rIns="0" bIns="0" rtlCol="0" anchor="t"/>
          <a:lstStyle/>
          <a:p>
            <a:pPr indent="0" marL="0">
              <a:buNone/>
            </a:pPr>
            <a:r>
              <a:rPr lang="en-US" sz="1500" b="1" dirty="0">
                <a:solidFill>
                  <a:schemeClr val="tx1"/>
                </a:solidFill>
              </a:rPr>
              <a:t>Battery SOC</a:t>
            </a:r>
            <a:endParaRPr lang="en-US" sz="1500" dirty="0"/>
          </a:p>
        </p:txBody>
      </p:sp>
      <p:sp>
        <p:nvSpPr>
          <p:cNvPr id="6" name="Text 3"/>
          <p:cNvSpPr txBox="1"/>
          <p:nvPr/>
        </p:nvSpPr>
        <p:spPr>
          <a:xfrm>
            <a:off x="1097280" y="1353312"/>
            <a:ext cx="3017520" cy="274320"/>
          </a:xfrm>
          <a:prstGeom prst="rect">
            <a:avLst/>
          </a:prstGeom>
          <a:noFill/>
          <a:ln/>
        </p:spPr>
        <p:txBody>
          <a:bodyPr wrap="square" lIns="0" tIns="0" rIns="0" bIns="0" rtlCol="0" anchor="t"/>
          <a:lstStyle/>
          <a:p>
            <a:pPr indent="0" marL="0">
              <a:buNone/>
            </a:pPr>
            <a:r>
              <a:rPr lang="en-US" sz="1300" dirty="0">
                <a:solidFill>
                  <a:schemeClr val="tx2"/>
                </a:solidFill>
              </a:rPr>
              <a:t>low SOC → energy costs more (λ)</a:t>
            </a:r>
            <a:endParaRPr lang="en-US" sz="1300" dirty="0"/>
          </a:p>
        </p:txBody>
      </p:sp>
      <p:sp>
        <p:nvSpPr>
          <p:cNvPr id="7" name="Task size × complexity circle"/>
          <p:cNvSpPr/>
          <p:nvPr/>
        </p:nvSpPr>
        <p:spPr>
          <a:xfrm>
            <a:off x="457200" y="1810512"/>
            <a:ext cx="502920" cy="502920"/>
          </a:xfrm>
          <a:prstGeom prst="ellipse">
            <a:avLst/>
          </a:prstGeom>
          <a:solidFill>
            <a:srgbClr val="06B6D4"/>
          </a:solidFill>
          <a:ln w="12700">
            <a:solidFill>
              <a:srgbClr val="06B6D4"/>
            </a:solidFill>
            <a:prstDash val="solid"/>
          </a:ln>
        </p:spPr>
      </p:sp>
      <p:pic>
        <p:nvPicPr>
          <p:cNvPr id="8" name="Task size × complexity" descr="preencoded.png">    </p:cNvPr>
          <p:cNvPicPr>
            <a:picLocks noChangeAspect="1"/>
          </p:cNvPicPr>
          <p:nvPr/>
        </p:nvPicPr>
        <p:blipFill>
          <a:blip r:embed="rId2"/>
          <a:stretch>
            <a:fillRect/>
          </a:stretch>
        </p:blipFill>
        <p:spPr>
          <a:xfrm>
            <a:off x="577901" y="1931213"/>
            <a:ext cx="261518" cy="261518"/>
          </a:xfrm>
          <a:prstGeom prst="rect">
            <a:avLst/>
          </a:prstGeom>
        </p:spPr>
      </p:pic>
      <p:sp>
        <p:nvSpPr>
          <p:cNvPr id="9" name="Text 5"/>
          <p:cNvSpPr txBox="1"/>
          <p:nvPr/>
        </p:nvSpPr>
        <p:spPr>
          <a:xfrm>
            <a:off x="1097280" y="1792224"/>
            <a:ext cx="3017520" cy="274320"/>
          </a:xfrm>
          <a:prstGeom prst="rect">
            <a:avLst/>
          </a:prstGeom>
          <a:noFill/>
          <a:ln/>
        </p:spPr>
        <p:txBody>
          <a:bodyPr wrap="square" lIns="0" tIns="0" rIns="0" bIns="0" rtlCol="0" anchor="t"/>
          <a:lstStyle/>
          <a:p>
            <a:pPr indent="0" marL="0">
              <a:buNone/>
            </a:pPr>
            <a:r>
              <a:rPr lang="en-US" sz="1500" b="1" dirty="0">
                <a:solidFill>
                  <a:schemeClr val="tx1"/>
                </a:solidFill>
              </a:rPr>
              <a:t>Task size × complexity</a:t>
            </a:r>
            <a:endParaRPr lang="en-US" sz="1500" dirty="0"/>
          </a:p>
        </p:txBody>
      </p:sp>
      <p:sp>
        <p:nvSpPr>
          <p:cNvPr id="10" name="Text 6"/>
          <p:cNvSpPr txBox="1"/>
          <p:nvPr/>
        </p:nvSpPr>
        <p:spPr>
          <a:xfrm>
            <a:off x="1097280" y="2066544"/>
            <a:ext cx="3017520" cy="274320"/>
          </a:xfrm>
          <a:prstGeom prst="rect">
            <a:avLst/>
          </a:prstGeom>
          <a:noFill/>
          <a:ln/>
        </p:spPr>
        <p:txBody>
          <a:bodyPr wrap="square" lIns="0" tIns="0" rIns="0" bIns="0" rtlCol="0" anchor="t"/>
          <a:lstStyle/>
          <a:p>
            <a:pPr indent="0" marL="0">
              <a:buNone/>
            </a:pPr>
            <a:r>
              <a:rPr lang="en-US" sz="1300" dirty="0">
                <a:solidFill>
                  <a:schemeClr val="tx2"/>
                </a:solidFill>
              </a:rPr>
              <a:t>heavy task → favours OFFLOAD</a:t>
            </a:r>
            <a:endParaRPr lang="en-US" sz="1300" dirty="0"/>
          </a:p>
        </p:txBody>
      </p:sp>
      <p:sp>
        <p:nvSpPr>
          <p:cNvPr id="11" name="WiFi signal (RSSI) circle"/>
          <p:cNvSpPr/>
          <p:nvPr/>
        </p:nvSpPr>
        <p:spPr>
          <a:xfrm>
            <a:off x="457200" y="2523744"/>
            <a:ext cx="502920" cy="502920"/>
          </a:xfrm>
          <a:prstGeom prst="ellipse">
            <a:avLst/>
          </a:prstGeom>
          <a:solidFill>
            <a:srgbClr val="8B5CF6"/>
          </a:solidFill>
          <a:ln w="12700">
            <a:solidFill>
              <a:srgbClr val="8B5CF6"/>
            </a:solidFill>
            <a:prstDash val="solid"/>
          </a:ln>
        </p:spPr>
      </p:sp>
      <p:pic>
        <p:nvPicPr>
          <p:cNvPr id="12" name="WiFi signal (RSSI)" descr="preencoded.png">    </p:cNvPr>
          <p:cNvPicPr>
            <a:picLocks noChangeAspect="1"/>
          </p:cNvPicPr>
          <p:nvPr/>
        </p:nvPicPr>
        <p:blipFill>
          <a:blip r:embed="rId3"/>
          <a:stretch>
            <a:fillRect/>
          </a:stretch>
        </p:blipFill>
        <p:spPr>
          <a:xfrm>
            <a:off x="577901" y="2644445"/>
            <a:ext cx="261518" cy="261518"/>
          </a:xfrm>
          <a:prstGeom prst="rect">
            <a:avLst/>
          </a:prstGeom>
        </p:spPr>
      </p:pic>
      <p:sp>
        <p:nvSpPr>
          <p:cNvPr id="13" name="Text 8"/>
          <p:cNvSpPr txBox="1"/>
          <p:nvPr/>
        </p:nvSpPr>
        <p:spPr>
          <a:xfrm>
            <a:off x="1097280" y="2505456"/>
            <a:ext cx="3017520" cy="274320"/>
          </a:xfrm>
          <a:prstGeom prst="rect">
            <a:avLst/>
          </a:prstGeom>
          <a:noFill/>
          <a:ln/>
        </p:spPr>
        <p:txBody>
          <a:bodyPr wrap="square" lIns="0" tIns="0" rIns="0" bIns="0" rtlCol="0" anchor="t"/>
          <a:lstStyle/>
          <a:p>
            <a:pPr indent="0" marL="0">
              <a:buNone/>
            </a:pPr>
            <a:r>
              <a:rPr lang="en-US" sz="1500" b="1" dirty="0">
                <a:solidFill>
                  <a:schemeClr val="tx1"/>
                </a:solidFill>
              </a:rPr>
              <a:t>WiFi signal (RSSI)</a:t>
            </a:r>
            <a:endParaRPr lang="en-US" sz="1500" dirty="0"/>
          </a:p>
        </p:txBody>
      </p:sp>
      <p:sp>
        <p:nvSpPr>
          <p:cNvPr id="14" name="Text 9"/>
          <p:cNvSpPr txBox="1"/>
          <p:nvPr/>
        </p:nvSpPr>
        <p:spPr>
          <a:xfrm>
            <a:off x="1097280" y="2779776"/>
            <a:ext cx="3017520" cy="274320"/>
          </a:xfrm>
          <a:prstGeom prst="rect">
            <a:avLst/>
          </a:prstGeom>
          <a:noFill/>
          <a:ln/>
        </p:spPr>
        <p:txBody>
          <a:bodyPr wrap="square" lIns="0" tIns="0" rIns="0" bIns="0" rtlCol="0" anchor="t"/>
          <a:lstStyle/>
          <a:p>
            <a:pPr indent="0" marL="0">
              <a:buNone/>
            </a:pPr>
            <a:r>
              <a:rPr lang="en-US" sz="1300" dirty="0">
                <a:solidFill>
                  <a:schemeClr val="tx2"/>
                </a:solidFill>
              </a:rPr>
              <a:t>weak → retries → favours LOCAL</a:t>
            </a:r>
            <a:endParaRPr lang="en-US" sz="1300" dirty="0"/>
          </a:p>
        </p:txBody>
      </p:sp>
      <p:sp>
        <p:nvSpPr>
          <p:cNvPr id="15" name="Server load circle"/>
          <p:cNvSpPr/>
          <p:nvPr/>
        </p:nvSpPr>
        <p:spPr>
          <a:xfrm>
            <a:off x="457200" y="3236976"/>
            <a:ext cx="502920" cy="502920"/>
          </a:xfrm>
          <a:prstGeom prst="ellipse">
            <a:avLst/>
          </a:prstGeom>
          <a:solidFill>
            <a:srgbClr val="6366F1"/>
          </a:solidFill>
          <a:ln w="12700">
            <a:solidFill>
              <a:srgbClr val="6366F1"/>
            </a:solidFill>
            <a:prstDash val="solid"/>
          </a:ln>
        </p:spPr>
      </p:sp>
      <p:pic>
        <p:nvPicPr>
          <p:cNvPr id="16" name="Server load" descr="preencoded.png">    </p:cNvPr>
          <p:cNvPicPr>
            <a:picLocks noChangeAspect="1"/>
          </p:cNvPicPr>
          <p:nvPr/>
        </p:nvPicPr>
        <p:blipFill>
          <a:blip r:embed="rId4"/>
          <a:stretch>
            <a:fillRect/>
          </a:stretch>
        </p:blipFill>
        <p:spPr>
          <a:xfrm>
            <a:off x="577901" y="3357677"/>
            <a:ext cx="261518" cy="261518"/>
          </a:xfrm>
          <a:prstGeom prst="rect">
            <a:avLst/>
          </a:prstGeom>
        </p:spPr>
      </p:pic>
      <p:sp>
        <p:nvSpPr>
          <p:cNvPr id="17" name="Text 11"/>
          <p:cNvSpPr txBox="1"/>
          <p:nvPr/>
        </p:nvSpPr>
        <p:spPr>
          <a:xfrm>
            <a:off x="1097280" y="3218688"/>
            <a:ext cx="3017520" cy="274320"/>
          </a:xfrm>
          <a:prstGeom prst="rect">
            <a:avLst/>
          </a:prstGeom>
          <a:noFill/>
          <a:ln/>
        </p:spPr>
        <p:txBody>
          <a:bodyPr wrap="square" lIns="0" tIns="0" rIns="0" bIns="0" rtlCol="0" anchor="t"/>
          <a:lstStyle/>
          <a:p>
            <a:pPr indent="0" marL="0">
              <a:buNone/>
            </a:pPr>
            <a:r>
              <a:rPr lang="en-US" sz="1500" b="1" dirty="0">
                <a:solidFill>
                  <a:schemeClr val="tx1"/>
                </a:solidFill>
              </a:rPr>
              <a:t>Server load</a:t>
            </a:r>
            <a:endParaRPr lang="en-US" sz="1500" dirty="0"/>
          </a:p>
        </p:txBody>
      </p:sp>
      <p:sp>
        <p:nvSpPr>
          <p:cNvPr id="18" name="Text 12"/>
          <p:cNvSpPr txBox="1"/>
          <p:nvPr/>
        </p:nvSpPr>
        <p:spPr>
          <a:xfrm>
            <a:off x="1097280" y="3493008"/>
            <a:ext cx="3017520" cy="274320"/>
          </a:xfrm>
          <a:prstGeom prst="rect">
            <a:avLst/>
          </a:prstGeom>
          <a:noFill/>
          <a:ln/>
        </p:spPr>
        <p:txBody>
          <a:bodyPr wrap="square" lIns="0" tIns="0" rIns="0" bIns="0" rtlCol="0" anchor="t"/>
          <a:lstStyle/>
          <a:p>
            <a:pPr indent="0" marL="0">
              <a:buNone/>
            </a:pPr>
            <a:r>
              <a:rPr lang="en-US" sz="1300" dirty="0">
                <a:solidFill>
                  <a:schemeClr val="tx2"/>
                </a:solidFill>
              </a:rPr>
              <a:t>busy → long wait → favours LOCAL</a:t>
            </a:r>
            <a:endParaRPr lang="en-US" sz="1300" dirty="0"/>
          </a:p>
        </p:txBody>
      </p:sp>
      <p:sp>
        <p:nvSpPr>
          <p:cNvPr id="19" name="Deadline 5 s circle"/>
          <p:cNvSpPr/>
          <p:nvPr/>
        </p:nvSpPr>
        <p:spPr>
          <a:xfrm>
            <a:off x="457200" y="3950208"/>
            <a:ext cx="502920" cy="502920"/>
          </a:xfrm>
          <a:prstGeom prst="ellipse">
            <a:avLst/>
          </a:prstGeom>
          <a:solidFill>
            <a:srgbClr val="F59E0B"/>
          </a:solidFill>
          <a:ln w="12700">
            <a:solidFill>
              <a:srgbClr val="F59E0B"/>
            </a:solidFill>
            <a:prstDash val="solid"/>
          </a:ln>
        </p:spPr>
      </p:sp>
      <p:pic>
        <p:nvPicPr>
          <p:cNvPr id="20" name="Deadline 5 s" descr="preencoded.png">    </p:cNvPr>
          <p:cNvPicPr>
            <a:picLocks noChangeAspect="1"/>
          </p:cNvPicPr>
          <p:nvPr/>
        </p:nvPicPr>
        <p:blipFill>
          <a:blip r:embed="rId5"/>
          <a:stretch>
            <a:fillRect/>
          </a:stretch>
        </p:blipFill>
        <p:spPr>
          <a:xfrm>
            <a:off x="577901" y="4070909"/>
            <a:ext cx="261518" cy="261518"/>
          </a:xfrm>
          <a:prstGeom prst="rect">
            <a:avLst/>
          </a:prstGeom>
        </p:spPr>
      </p:pic>
      <p:sp>
        <p:nvSpPr>
          <p:cNvPr id="21" name="Text 14"/>
          <p:cNvSpPr txBox="1"/>
          <p:nvPr/>
        </p:nvSpPr>
        <p:spPr>
          <a:xfrm>
            <a:off x="1097280" y="3931920"/>
            <a:ext cx="3017520" cy="274320"/>
          </a:xfrm>
          <a:prstGeom prst="rect">
            <a:avLst/>
          </a:prstGeom>
          <a:noFill/>
          <a:ln/>
        </p:spPr>
        <p:txBody>
          <a:bodyPr wrap="square" lIns="0" tIns="0" rIns="0" bIns="0" rtlCol="0" anchor="t"/>
          <a:lstStyle/>
          <a:p>
            <a:pPr indent="0" marL="0">
              <a:buNone/>
            </a:pPr>
            <a:r>
              <a:rPr lang="en-US" sz="1500" b="1" dirty="0">
                <a:solidFill>
                  <a:schemeClr val="tx1"/>
                </a:solidFill>
              </a:rPr>
              <a:t>Deadline 5 s</a:t>
            </a:r>
            <a:endParaRPr lang="en-US" sz="1500" dirty="0"/>
          </a:p>
        </p:txBody>
      </p:sp>
      <p:sp>
        <p:nvSpPr>
          <p:cNvPr id="22" name="Text 15"/>
          <p:cNvSpPr txBox="1"/>
          <p:nvPr/>
        </p:nvSpPr>
        <p:spPr>
          <a:xfrm>
            <a:off x="1097280" y="4206240"/>
            <a:ext cx="3017520" cy="274320"/>
          </a:xfrm>
          <a:prstGeom prst="rect">
            <a:avLst/>
          </a:prstGeom>
          <a:noFill/>
          <a:ln/>
        </p:spPr>
        <p:txBody>
          <a:bodyPr wrap="square" lIns="0" tIns="0" rIns="0" bIns="0" rtlCol="0" anchor="t"/>
          <a:lstStyle/>
          <a:p>
            <a:pPr indent="0" marL="0">
              <a:buNone/>
            </a:pPr>
            <a:r>
              <a:rPr lang="en-US" sz="1300" dirty="0">
                <a:solidFill>
                  <a:schemeClr val="tx2"/>
                </a:solidFill>
              </a:rPr>
              <a:t>late answer → +2 penalty</a:t>
            </a:r>
            <a:endParaRPr lang="en-US" sz="1300" dirty="0"/>
          </a:p>
        </p:txBody>
      </p:sp>
      <p:sp>
        <p:nvSpPr>
          <p:cNvPr id="23" name="formula card"/>
          <p:cNvSpPr/>
          <p:nvPr/>
        </p:nvSpPr>
        <p:spPr>
          <a:xfrm>
            <a:off x="4480560" y="1097280"/>
            <a:ext cx="4206240" cy="3429000"/>
          </a:xfrm>
          <a:prstGeom prst="roundRect">
            <a:avLst>
              <a:gd name="adj" fmla="val 3200"/>
            </a:avLst>
          </a:prstGeom>
          <a:solidFill>
            <a:srgbClr val="0F172A"/>
          </a:solidFill>
          <a:ln w="12700">
            <a:solidFill>
              <a:srgbClr val="0F172A"/>
            </a:solidFill>
            <a:prstDash val="solid"/>
          </a:ln>
          <a:effectLst>
            <a:outerShdw sx="100000" sy="100000" kx="0" ky="0" algn="bl" rotWithShape="0" blurRad="76200" dist="25400" dir="5400000">
              <a:srgbClr val="000000">
                <a:alpha val="12000"/>
              </a:srgbClr>
            </a:outerShdw>
          </a:effectLst>
        </p:spPr>
      </p:sp>
      <p:sp>
        <p:nvSpPr>
          <p:cNvPr id="24" name="Text 17"/>
          <p:cNvSpPr txBox="1"/>
          <p:nvPr/>
        </p:nvSpPr>
        <p:spPr>
          <a:xfrm>
            <a:off x="4709160" y="1261872"/>
            <a:ext cx="3749040" cy="320040"/>
          </a:xfrm>
          <a:prstGeom prst="rect">
            <a:avLst/>
          </a:prstGeom>
          <a:noFill/>
          <a:ln/>
        </p:spPr>
        <p:txBody>
          <a:bodyPr wrap="square" lIns="0" tIns="0" rIns="0" bIns="0" rtlCol="0" anchor="t"/>
          <a:lstStyle/>
          <a:p>
            <a:pPr indent="0" marL="0">
              <a:buNone/>
            </a:pPr>
            <a:r>
              <a:rPr lang="en-US" sz="1500" b="1" dirty="0">
                <a:solidFill>
                  <a:srgbClr val="F59E0B"/>
                </a:solidFill>
              </a:rPr>
              <a:t>Oracle cost (perfect knowledge)</a:t>
            </a:r>
            <a:endParaRPr lang="en-US" sz="1500" dirty="0"/>
          </a:p>
        </p:txBody>
      </p:sp>
      <p:sp>
        <p:nvSpPr>
          <p:cNvPr id="25" name="Text 18"/>
          <p:cNvSpPr txBox="1"/>
          <p:nvPr/>
        </p:nvSpPr>
        <p:spPr>
          <a:xfrm>
            <a:off x="4709160" y="1691640"/>
            <a:ext cx="3840480" cy="182880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λ = 1 + 4·(1 − SOC/100)^1.5</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J_local   = λ·E_loc + T_loc/5s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J_offload = λ·E_off + T_off/5s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+ 0.3·PER + 0.3·Load²</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Smaller J wins → LOCAL / OFFLOAD</a:t>
            </a:r>
            <a:endParaRPr lang="en-US" sz="1300" dirty="0"/>
          </a:p>
        </p:txBody>
      </p:sp>
      <p:sp>
        <p:nvSpPr>
          <p:cNvPr id="26" name="Text 19"/>
          <p:cNvSpPr txBox="1"/>
          <p:nvPr/>
        </p:nvSpPr>
        <p:spPr>
          <a:xfrm>
            <a:off x="4709160" y="3611880"/>
            <a:ext cx="3794760" cy="731520"/>
          </a:xfrm>
          <a:prstGeom prst="rect">
            <a:avLst/>
          </a:prstGeom>
          <a:noFill/>
          <a:ln/>
        </p:spPr>
        <p:txBody>
          <a:bodyPr wrap="square" lIns="0" tIns="0" rIns="0" bIns="0" rtlCol="0" anchor="t"/>
          <a:lstStyle/>
          <a:p>
            <a:pPr indent="0" marL="0">
              <a:buNone/>
            </a:pPr>
            <a:r>
              <a:rPr lang="en-US" sz="1300" i="1" dirty="0">
                <a:solidFill>
                  <a:srgbClr val="CBD5E1"/>
                </a:solidFill>
              </a:rPr>
              <a:t>Low battery + good link → OFFLOAD saves energy. Low battery + weak link → stay LOCAL.</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The twin plays three roles</a:t>
            </a:r>
            <a:endParaRPr lang="en-US" sz="3000" dirty="0"/>
          </a:p>
        </p:txBody>
      </p:sp>
      <p:sp>
        <p:nvSpPr>
          <p:cNvPr id="3" name="1 · Dataset"/>
          <p:cNvSpPr/>
          <p:nvPr/>
        </p:nvSpPr>
        <p:spPr>
          <a:xfrm>
            <a:off x="457200" y="1143000"/>
            <a:ext cx="2606040" cy="33375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1 · Dataset circle"/>
          <p:cNvSpPr/>
          <p:nvPr/>
        </p:nvSpPr>
        <p:spPr>
          <a:xfrm>
            <a:off x="685800" y="1371600"/>
            <a:ext cx="731520" cy="731520"/>
          </a:xfrm>
          <a:prstGeom prst="ellipse">
            <a:avLst/>
          </a:prstGeom>
          <a:solidFill>
            <a:srgbClr val="06B6D4"/>
          </a:solidFill>
          <a:ln w="12700">
            <a:solidFill>
              <a:srgbClr val="06B6D4"/>
            </a:solidFill>
            <a:prstDash val="solid"/>
          </a:ln>
        </p:spPr>
      </p:sp>
      <p:pic>
        <p:nvPicPr>
          <p:cNvPr id="5" name="1 · Dataset" descr="preencoded.png">    </p:cNvPr>
          <p:cNvPicPr>
            <a:picLocks noChangeAspect="1"/>
          </p:cNvPicPr>
          <p:nvPr/>
        </p:nvPicPr>
        <p:blipFill>
          <a:blip r:embed="rId1"/>
          <a:stretch>
            <a:fillRect/>
          </a:stretch>
        </p:blipFill>
        <p:spPr>
          <a:xfrm>
            <a:off x="861365" y="1547165"/>
            <a:ext cx="380390" cy="380390"/>
          </a:xfrm>
          <a:prstGeom prst="rect">
            <a:avLst/>
          </a:prstGeom>
        </p:spPr>
      </p:pic>
      <p:sp>
        <p:nvSpPr>
          <p:cNvPr id="6" name="Text 3"/>
          <p:cNvSpPr txBox="1"/>
          <p:nvPr/>
        </p:nvSpPr>
        <p:spPr>
          <a:xfrm>
            <a:off x="685800" y="2286000"/>
            <a:ext cx="2194560" cy="365760"/>
          </a:xfrm>
          <a:prstGeom prst="rect">
            <a:avLst/>
          </a:prstGeom>
          <a:noFill/>
          <a:ln/>
        </p:spPr>
        <p:txBody>
          <a:bodyPr wrap="square" lIns="0" tIns="0" rIns="0" bIns="0" rtlCol="0" anchor="t"/>
          <a:lstStyle/>
          <a:p>
            <a:pPr indent="0" marL="0">
              <a:buNone/>
            </a:pPr>
            <a:r>
              <a:rPr lang="en-US" sz="1800" b="1" dirty="0">
                <a:solidFill>
                  <a:srgbClr val="06B6D4"/>
                </a:solidFill>
              </a:rPr>
              <a:t>1 · Dataset</a:t>
            </a:r>
            <a:endParaRPr lang="en-US" sz="1800" dirty="0"/>
          </a:p>
        </p:txBody>
      </p:sp>
      <p:sp>
        <p:nvSpPr>
          <p:cNvPr id="7" name="Text 4"/>
          <p:cNvSpPr txBox="1"/>
          <p:nvPr/>
        </p:nvSpPr>
        <p:spPr>
          <a:xfrm>
            <a:off x="685800" y="2697480"/>
            <a:ext cx="2194560" cy="1097280"/>
          </a:xfrm>
          <a:prstGeom prst="rect">
            <a:avLst/>
          </a:prstGeom>
          <a:noFill/>
          <a:ln/>
        </p:spPr>
        <p:txBody>
          <a:bodyPr wrap="square" lIns="0" tIns="0" rIns="0" bIns="0" rtlCol="0" anchor="t"/>
          <a:lstStyle/>
          <a:p>
            <a:pPr indent="0" marL="0">
              <a:buNone/>
            </a:pPr>
            <a:r>
              <a:rPr lang="en-US" sz="1400" dirty="0">
                <a:solidFill>
                  <a:schemeClr val="tx1"/>
                </a:solidFill>
              </a:rPr>
              <a:t>Simulates 7 days and records every minute: battery, task, signal, server load, costs.</a:t>
            </a:r>
            <a:endParaRPr lang="en-US" sz="1400" dirty="0"/>
          </a:p>
        </p:txBody>
      </p:sp>
      <p:sp>
        <p:nvSpPr>
          <p:cNvPr id="8" name="Text 5"/>
          <p:cNvSpPr txBox="1"/>
          <p:nvPr/>
        </p:nvSpPr>
        <p:spPr>
          <a:xfrm>
            <a:off x="685800" y="3886200"/>
            <a:ext cx="2194560" cy="457200"/>
          </a:xfrm>
          <a:prstGeom prst="rect">
            <a:avLst/>
          </a:prstGeom>
          <a:noFill/>
          <a:ln/>
        </p:spPr>
        <p:txBody>
          <a:bodyPr wrap="square" lIns="0" tIns="0" rIns="0" bIns="0" rtlCol="0" anchor="t"/>
          <a:lstStyle/>
          <a:p>
            <a:pPr indent="0" marL="0">
              <a:buNone/>
            </a:pPr>
            <a:r>
              <a:rPr lang="en-US" sz="1200" i="1" dirty="0">
                <a:solidFill>
                  <a:schemeClr val="tx2"/>
                </a:solidFill>
              </a:rPr>
              <a:t>10,080 rows × 38 columns</a:t>
            </a:r>
            <a:endParaRPr lang="en-US" sz="1200" dirty="0"/>
          </a:p>
        </p:txBody>
      </p:sp>
      <p:sp>
        <p:nvSpPr>
          <p:cNvPr id="9" name="2 · Teacher (oracle)"/>
          <p:cNvSpPr/>
          <p:nvPr/>
        </p:nvSpPr>
        <p:spPr>
          <a:xfrm>
            <a:off x="3246120" y="1143000"/>
            <a:ext cx="2606040" cy="33375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2 · Teacher (oracle) circle"/>
          <p:cNvSpPr/>
          <p:nvPr/>
        </p:nvSpPr>
        <p:spPr>
          <a:xfrm>
            <a:off x="3474720" y="1371600"/>
            <a:ext cx="731520" cy="731520"/>
          </a:xfrm>
          <a:prstGeom prst="ellipse">
            <a:avLst/>
          </a:prstGeom>
          <a:solidFill>
            <a:srgbClr val="F59E0B"/>
          </a:solidFill>
          <a:ln w="12700">
            <a:solidFill>
              <a:srgbClr val="F59E0B"/>
            </a:solidFill>
            <a:prstDash val="solid"/>
          </a:ln>
        </p:spPr>
      </p:sp>
      <p:pic>
        <p:nvPicPr>
          <p:cNvPr id="11" name="2 · Teacher (oracle)" descr="preencoded.png">    </p:cNvPr>
          <p:cNvPicPr>
            <a:picLocks noChangeAspect="1"/>
          </p:cNvPicPr>
          <p:nvPr/>
        </p:nvPicPr>
        <p:blipFill>
          <a:blip r:embed="rId2"/>
          <a:stretch>
            <a:fillRect/>
          </a:stretch>
        </p:blipFill>
        <p:spPr>
          <a:xfrm>
            <a:off x="3650285" y="1547165"/>
            <a:ext cx="380390" cy="380390"/>
          </a:xfrm>
          <a:prstGeom prst="rect">
            <a:avLst/>
          </a:prstGeom>
        </p:spPr>
      </p:pic>
      <p:sp>
        <p:nvSpPr>
          <p:cNvPr id="12" name="Text 8"/>
          <p:cNvSpPr txBox="1"/>
          <p:nvPr/>
        </p:nvSpPr>
        <p:spPr>
          <a:xfrm>
            <a:off x="3474720" y="2286000"/>
            <a:ext cx="2194560" cy="365760"/>
          </a:xfrm>
          <a:prstGeom prst="rect">
            <a:avLst/>
          </a:prstGeom>
          <a:noFill/>
          <a:ln/>
        </p:spPr>
        <p:txBody>
          <a:bodyPr wrap="square" lIns="0" tIns="0" rIns="0" bIns="0" rtlCol="0" anchor="t"/>
          <a:lstStyle/>
          <a:p>
            <a:pPr indent="0" marL="0">
              <a:buNone/>
            </a:pPr>
            <a:r>
              <a:rPr lang="en-US" sz="1800" b="1" dirty="0">
                <a:solidFill>
                  <a:srgbClr val="F59E0B"/>
                </a:solidFill>
              </a:rPr>
              <a:t>2 · Teacher (oracle)</a:t>
            </a:r>
            <a:endParaRPr lang="en-US" sz="1800" dirty="0"/>
          </a:p>
        </p:txBody>
      </p:sp>
      <p:sp>
        <p:nvSpPr>
          <p:cNvPr id="13" name="Text 9"/>
          <p:cNvSpPr txBox="1"/>
          <p:nvPr/>
        </p:nvSpPr>
        <p:spPr>
          <a:xfrm>
            <a:off x="3474720" y="2697480"/>
            <a:ext cx="2194560" cy="1097280"/>
          </a:xfrm>
          <a:prstGeom prst="rect">
            <a:avLst/>
          </a:prstGeom>
          <a:noFill/>
          <a:ln/>
        </p:spPr>
        <p:txBody>
          <a:bodyPr wrap="square" lIns="0" tIns="0" rIns="0" bIns="0" rtlCol="0" anchor="t"/>
          <a:lstStyle/>
          <a:p>
            <a:pPr indent="0" marL="0">
              <a:buNone/>
            </a:pPr>
            <a:r>
              <a:rPr lang="en-US" sz="1400" dirty="0">
                <a:solidFill>
                  <a:schemeClr val="tx1"/>
                </a:solidFill>
              </a:rPr>
              <a:t>Knows everything, so it gives the correct LOCAL / OFFLOAD answer for each minute.</a:t>
            </a:r>
            <a:endParaRPr lang="en-US" sz="1400" dirty="0"/>
          </a:p>
        </p:txBody>
      </p:sp>
      <p:sp>
        <p:nvSpPr>
          <p:cNvPr id="14" name="Text 10"/>
          <p:cNvSpPr txBox="1"/>
          <p:nvPr/>
        </p:nvSpPr>
        <p:spPr>
          <a:xfrm>
            <a:off x="3474720" y="3886200"/>
            <a:ext cx="2194560" cy="457200"/>
          </a:xfrm>
          <a:prstGeom prst="rect">
            <a:avLst/>
          </a:prstGeom>
          <a:noFill/>
          <a:ln/>
        </p:spPr>
        <p:txBody>
          <a:bodyPr wrap="square" lIns="0" tIns="0" rIns="0" bIns="0" rtlCol="0" anchor="t"/>
          <a:lstStyle/>
          <a:p>
            <a:pPr indent="0" marL="0">
              <a:buNone/>
            </a:pPr>
            <a:r>
              <a:rPr lang="en-US" sz="1200" i="1" dirty="0">
                <a:solidFill>
                  <a:schemeClr val="tx2"/>
                </a:solidFill>
              </a:rPr>
              <a:t>the labels models learn from</a:t>
            </a:r>
            <a:endParaRPr lang="en-US" sz="1200" dirty="0"/>
          </a:p>
        </p:txBody>
      </p:sp>
      <p:sp>
        <p:nvSpPr>
          <p:cNvPr id="15" name="3 · Test world"/>
          <p:cNvSpPr/>
          <p:nvPr/>
        </p:nvSpPr>
        <p:spPr>
          <a:xfrm>
            <a:off x="6035040" y="1143000"/>
            <a:ext cx="2606040" cy="33375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3 · Test world circle"/>
          <p:cNvSpPr/>
          <p:nvPr/>
        </p:nvSpPr>
        <p:spPr>
          <a:xfrm>
            <a:off x="6263640" y="1371600"/>
            <a:ext cx="731520" cy="731520"/>
          </a:xfrm>
          <a:prstGeom prst="ellipse">
            <a:avLst/>
          </a:prstGeom>
          <a:solidFill>
            <a:srgbClr val="10B981"/>
          </a:solidFill>
          <a:ln w="12700">
            <a:solidFill>
              <a:srgbClr val="10B981"/>
            </a:solidFill>
            <a:prstDash val="solid"/>
          </a:ln>
        </p:spPr>
      </p:sp>
      <p:pic>
        <p:nvPicPr>
          <p:cNvPr id="17" name="3 · Test world" descr="preencoded.png">    </p:cNvPr>
          <p:cNvPicPr>
            <a:picLocks noChangeAspect="1"/>
          </p:cNvPicPr>
          <p:nvPr/>
        </p:nvPicPr>
        <p:blipFill>
          <a:blip r:embed="rId3"/>
          <a:stretch>
            <a:fillRect/>
          </a:stretch>
        </p:blipFill>
        <p:spPr>
          <a:xfrm>
            <a:off x="6439205" y="1547165"/>
            <a:ext cx="380390" cy="380390"/>
          </a:xfrm>
          <a:prstGeom prst="rect">
            <a:avLst/>
          </a:prstGeom>
        </p:spPr>
      </p:pic>
      <p:sp>
        <p:nvSpPr>
          <p:cNvPr id="18" name="Text 13"/>
          <p:cNvSpPr txBox="1"/>
          <p:nvPr/>
        </p:nvSpPr>
        <p:spPr>
          <a:xfrm>
            <a:off x="6263640" y="2286000"/>
            <a:ext cx="2194560" cy="365760"/>
          </a:xfrm>
          <a:prstGeom prst="rect">
            <a:avLst/>
          </a:prstGeom>
          <a:noFill/>
          <a:ln/>
        </p:spPr>
        <p:txBody>
          <a:bodyPr wrap="square" lIns="0" tIns="0" rIns="0" bIns="0" rtlCol="0" anchor="t"/>
          <a:lstStyle/>
          <a:p>
            <a:pPr indent="0" marL="0">
              <a:buNone/>
            </a:pPr>
            <a:r>
              <a:rPr lang="en-US" sz="1800" b="1" dirty="0">
                <a:solidFill>
                  <a:srgbClr val="10B981"/>
                </a:solidFill>
              </a:rPr>
              <a:t>3 · Test world</a:t>
            </a:r>
            <a:endParaRPr lang="en-US" sz="1800" dirty="0"/>
          </a:p>
        </p:txBody>
      </p:sp>
      <p:sp>
        <p:nvSpPr>
          <p:cNvPr id="19" name="Text 14"/>
          <p:cNvSpPr txBox="1"/>
          <p:nvPr/>
        </p:nvSpPr>
        <p:spPr>
          <a:xfrm>
            <a:off x="6263640" y="2697480"/>
            <a:ext cx="2194560" cy="1097280"/>
          </a:xfrm>
          <a:prstGeom prst="rect">
            <a:avLst/>
          </a:prstGeom>
          <a:noFill/>
          <a:ln/>
        </p:spPr>
        <p:txBody>
          <a:bodyPr wrap="square" lIns="0" tIns="0" rIns="0" bIns="0" rtlCol="0" anchor="t"/>
          <a:lstStyle/>
          <a:p>
            <a:pPr indent="0" marL="0">
              <a:buNone/>
            </a:pPr>
            <a:r>
              <a:rPr lang="en-US" sz="1400" dirty="0">
                <a:solidFill>
                  <a:schemeClr val="tx1"/>
                </a:solidFill>
              </a:rPr>
              <a:t>Trained controllers drive the twin's battery for a new, unseen week.</a:t>
            </a:r>
            <a:endParaRPr lang="en-US" sz="1400" dirty="0"/>
          </a:p>
        </p:txBody>
      </p:sp>
      <p:sp>
        <p:nvSpPr>
          <p:cNvPr id="20" name="Text 15"/>
          <p:cNvSpPr txBox="1"/>
          <p:nvPr/>
        </p:nvSpPr>
        <p:spPr>
          <a:xfrm>
            <a:off x="6263640" y="3886200"/>
            <a:ext cx="2194560" cy="457200"/>
          </a:xfrm>
          <a:prstGeom prst="rect">
            <a:avLst/>
          </a:prstGeom>
          <a:noFill/>
          <a:ln/>
        </p:spPr>
        <p:txBody>
          <a:bodyPr wrap="square" lIns="0" tIns="0" rIns="0" bIns="0" rtlCol="0" anchor="t"/>
          <a:lstStyle/>
          <a:p>
            <a:pPr indent="0" marL="0">
              <a:buNone/>
            </a:pPr>
            <a:r>
              <a:rPr lang="en-US" sz="1200" i="1" dirty="0">
                <a:solidFill>
                  <a:schemeClr val="tx2"/>
                </a:solidFill>
              </a:rPr>
              <a:t>mistakes add up, like a real device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Why a predictor is needed</a:t>
            </a:r>
            <a:endParaRPr lang="en-US" sz="3000" dirty="0"/>
          </a:p>
        </p:txBody>
      </p:sp>
      <p:sp>
        <p:nvSpPr>
          <p:cNvPr id="3" name="The twin (oracle) knows"/>
          <p:cNvSpPr/>
          <p:nvPr/>
        </p:nvSpPr>
        <p:spPr>
          <a:xfrm>
            <a:off x="457200" y="1143000"/>
            <a:ext cx="4023360" cy="260604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he twin (oracle) knows circle"/>
          <p:cNvSpPr/>
          <p:nvPr/>
        </p:nvSpPr>
        <p:spPr>
          <a:xfrm>
            <a:off x="731520" y="1325880"/>
            <a:ext cx="594360" cy="594360"/>
          </a:xfrm>
          <a:prstGeom prst="ellipse">
            <a:avLst/>
          </a:prstGeom>
          <a:solidFill>
            <a:srgbClr val="F59E0B"/>
          </a:solidFill>
          <a:ln w="12700">
            <a:solidFill>
              <a:srgbClr val="F59E0B"/>
            </a:solidFill>
            <a:prstDash val="solid"/>
          </a:ln>
        </p:spPr>
      </p:sp>
      <p:pic>
        <p:nvPicPr>
          <p:cNvPr id="5" name="The twin (oracle) knows" descr="preencoded.png">    </p:cNvPr>
          <p:cNvPicPr>
            <a:picLocks noChangeAspect="1"/>
          </p:cNvPicPr>
          <p:nvPr/>
        </p:nvPicPr>
        <p:blipFill>
          <a:blip r:embed="rId1"/>
          <a:stretch>
            <a:fillRect/>
          </a:stretch>
        </p:blipFill>
        <p:spPr>
          <a:xfrm>
            <a:off x="874166" y="1468526"/>
            <a:ext cx="309067" cy="309067"/>
          </a:xfrm>
          <a:prstGeom prst="rect">
            <a:avLst/>
          </a:prstGeom>
        </p:spPr>
      </p:pic>
      <p:sp>
        <p:nvSpPr>
          <p:cNvPr id="6" name="Text 3"/>
          <p:cNvSpPr txBox="1"/>
          <p:nvPr/>
        </p:nvSpPr>
        <p:spPr>
          <a:xfrm>
            <a:off x="1463040" y="1417320"/>
            <a:ext cx="2834640" cy="411480"/>
          </a:xfrm>
          <a:prstGeom prst="rect">
            <a:avLst/>
          </a:prstGeom>
          <a:noFill/>
          <a:ln/>
        </p:spPr>
        <p:txBody>
          <a:bodyPr wrap="square" lIns="0" tIns="0" rIns="0" bIns="0" rtlCol="0" anchor="t"/>
          <a:lstStyle/>
          <a:p>
            <a:pPr indent="0" marL="0">
              <a:buNone/>
            </a:pPr>
            <a:r>
              <a:rPr lang="en-US" sz="1800" b="1" dirty="0">
                <a:solidFill>
                  <a:srgbClr val="F59E0B"/>
                </a:solidFill>
              </a:rPr>
              <a:t>The twin (oracle) knows</a:t>
            </a:r>
            <a:endParaRPr lang="en-US" sz="1800" dirty="0"/>
          </a:p>
        </p:txBody>
      </p:sp>
      <p:sp>
        <p:nvSpPr>
          <p:cNvPr id="7" name="Text 4"/>
          <p:cNvSpPr txBox="1"/>
          <p:nvPr/>
        </p:nvSpPr>
        <p:spPr>
          <a:xfrm>
            <a:off x="777240" y="2103120"/>
            <a:ext cx="352044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Exact upload time and packet errors</a:t>
            </a:r>
            <a:endParaRPr lang="en-US" sz="1500" dirty="0"/>
          </a:p>
          <a:p>
            <a:pPr marL="342900" indent="-342900">
              <a:spcAft>
                <a:spcPts val="600"/>
              </a:spcAft>
              <a:buSzPct val="100000"/>
              <a:buChar char="•"/>
            </a:pPr>
            <a:r>
              <a:rPr lang="en-US" sz="1500" dirty="0">
                <a:solidFill>
                  <a:schemeClr val="tx1"/>
                </a:solidFill>
              </a:rPr>
              <a:t>Exact radio energy</a:t>
            </a:r>
            <a:endParaRPr lang="en-US" sz="1500" dirty="0"/>
          </a:p>
          <a:p>
            <a:pPr marL="342900" indent="-342900">
              <a:spcAft>
                <a:spcPts val="600"/>
              </a:spcAft>
              <a:buSzPct val="100000"/>
              <a:buChar char="•"/>
            </a:pPr>
            <a:r>
              <a:rPr lang="en-US" sz="1500" dirty="0">
                <a:solidFill>
                  <a:schemeClr val="tx1"/>
                </a:solidFill>
              </a:rPr>
              <a:t>Current server load</a:t>
            </a:r>
            <a:endParaRPr lang="en-US" sz="1500" dirty="0"/>
          </a:p>
          <a:p>
            <a:pPr marL="342900" indent="-342900">
              <a:spcAft>
                <a:spcPts val="600"/>
              </a:spcAft>
              <a:buSzPct val="100000"/>
              <a:buChar char="•"/>
            </a:pPr>
            <a:r>
              <a:rPr lang="en-US" sz="1500" dirty="0">
                <a:solidFill>
                  <a:schemeClr val="tx1"/>
                </a:solidFill>
              </a:rPr>
              <a:t>→ perfect, but unrealistic</a:t>
            </a:r>
            <a:endParaRPr lang="en-US" sz="1500" dirty="0"/>
          </a:p>
        </p:txBody>
      </p:sp>
      <p:sp>
        <p:nvSpPr>
          <p:cNvPr id="8" name="A real ESP32 only knows"/>
          <p:cNvSpPr/>
          <p:nvPr/>
        </p:nvSpPr>
        <p:spPr>
          <a:xfrm>
            <a:off x="4663440" y="1143000"/>
            <a:ext cx="4023360" cy="260604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A real ESP32 only knows circle"/>
          <p:cNvSpPr/>
          <p:nvPr/>
        </p:nvSpPr>
        <p:spPr>
          <a:xfrm>
            <a:off x="4937760" y="1325880"/>
            <a:ext cx="594360" cy="594360"/>
          </a:xfrm>
          <a:prstGeom prst="ellipse">
            <a:avLst/>
          </a:prstGeom>
          <a:solidFill>
            <a:srgbClr val="06B6D4"/>
          </a:solidFill>
          <a:ln w="12700">
            <a:solidFill>
              <a:srgbClr val="06B6D4"/>
            </a:solidFill>
            <a:prstDash val="solid"/>
          </a:ln>
        </p:spPr>
      </p:sp>
      <p:pic>
        <p:nvPicPr>
          <p:cNvPr id="10" name="A real ESP32 only knows" descr="preencoded.png">    </p:cNvPr>
          <p:cNvPicPr>
            <a:picLocks noChangeAspect="1"/>
          </p:cNvPicPr>
          <p:nvPr/>
        </p:nvPicPr>
        <p:blipFill>
          <a:blip r:embed="rId2"/>
          <a:stretch>
            <a:fillRect/>
          </a:stretch>
        </p:blipFill>
        <p:spPr>
          <a:xfrm>
            <a:off x="5080406" y="1468526"/>
            <a:ext cx="309067" cy="309067"/>
          </a:xfrm>
          <a:prstGeom prst="rect">
            <a:avLst/>
          </a:prstGeom>
        </p:spPr>
      </p:pic>
      <p:sp>
        <p:nvSpPr>
          <p:cNvPr id="11" name="Text 7"/>
          <p:cNvSpPr txBox="1"/>
          <p:nvPr/>
        </p:nvSpPr>
        <p:spPr>
          <a:xfrm>
            <a:off x="5669280" y="1417320"/>
            <a:ext cx="2834640" cy="411480"/>
          </a:xfrm>
          <a:prstGeom prst="rect">
            <a:avLst/>
          </a:prstGeom>
          <a:noFill/>
          <a:ln/>
        </p:spPr>
        <p:txBody>
          <a:bodyPr wrap="square" lIns="0" tIns="0" rIns="0" bIns="0" rtlCol="0" anchor="t"/>
          <a:lstStyle/>
          <a:p>
            <a:pPr indent="0" marL="0">
              <a:buNone/>
            </a:pPr>
            <a:r>
              <a:rPr lang="en-US" sz="1800" b="1" dirty="0">
                <a:solidFill>
                  <a:srgbClr val="06B6D4"/>
                </a:solidFill>
              </a:rPr>
              <a:t>A real ESP32 only knows</a:t>
            </a:r>
            <a:endParaRPr lang="en-US" sz="1800" dirty="0"/>
          </a:p>
        </p:txBody>
      </p:sp>
      <p:sp>
        <p:nvSpPr>
          <p:cNvPr id="12" name="Text 8"/>
          <p:cNvSpPr txBox="1"/>
          <p:nvPr/>
        </p:nvSpPr>
        <p:spPr>
          <a:xfrm>
            <a:off x="4983480" y="2103120"/>
            <a:ext cx="352044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Its battery level and the task</a:t>
            </a:r>
            <a:endParaRPr lang="en-US" sz="1500" dirty="0"/>
          </a:p>
          <a:p>
            <a:pPr marL="342900" indent="-342900">
              <a:spcAft>
                <a:spcPts val="600"/>
              </a:spcAft>
              <a:buSzPct val="100000"/>
              <a:buChar char="•"/>
            </a:pPr>
            <a:r>
              <a:rPr lang="en-US" sz="1500" dirty="0">
                <a:solidFill>
                  <a:schemeClr val="tx1"/>
                </a:solidFill>
              </a:rPr>
              <a:t>Its own local time &amp; energy</a:t>
            </a:r>
            <a:endParaRPr lang="en-US" sz="1500" dirty="0"/>
          </a:p>
          <a:p>
            <a:pPr marL="342900" indent="-342900">
              <a:spcAft>
                <a:spcPts val="600"/>
              </a:spcAft>
              <a:buSzPct val="100000"/>
              <a:buChar char="•"/>
            </a:pPr>
            <a:r>
              <a:rPr lang="en-US" sz="1500" dirty="0">
                <a:solidFill>
                  <a:schemeClr val="tx1"/>
                </a:solidFill>
              </a:rPr>
              <a:t>Last measured WiFi signal</a:t>
            </a:r>
            <a:endParaRPr lang="en-US" sz="1500" dirty="0"/>
          </a:p>
          <a:p>
            <a:pPr marL="342900" indent="-342900">
              <a:spcAft>
                <a:spcPts val="600"/>
              </a:spcAft>
              <a:buSzPct val="100000"/>
              <a:buChar char="•"/>
            </a:pPr>
            <a:r>
              <a:rPr lang="en-US" sz="1500" dirty="0">
                <a:solidFill>
                  <a:schemeClr val="tx1"/>
                </a:solidFill>
              </a:rPr>
              <a:t>Last reported server load</a:t>
            </a:r>
            <a:endParaRPr lang="en-US" sz="1500" dirty="0"/>
          </a:p>
        </p:txBody>
      </p:sp>
      <p:sp>
        <p:nvSpPr>
          <p:cNvPr id="13" name="takeaway"/>
          <p:cNvSpPr/>
          <p:nvPr/>
        </p:nvSpPr>
        <p:spPr>
          <a:xfrm>
            <a:off x="457200" y="3931920"/>
            <a:ext cx="8229600" cy="640080"/>
          </a:xfrm>
          <a:prstGeom prst="roundRect">
            <a:avLst>
              <a:gd name="adj" fmla="val 17143"/>
            </a:avLst>
          </a:prstGeom>
          <a:solidFill>
            <a:srgbClr val="0F172A"/>
          </a:solidFill>
          <a:ln w="12700">
            <a:solidFill>
              <a:srgbClr val="0F172A"/>
            </a:solidFill>
            <a:prstDash val="solid"/>
          </a:ln>
          <a:effectLst>
            <a:outerShdw sx="100000" sy="100000" kx="0" ky="0" algn="bl" rotWithShape="0" blurRad="76200" dist="25400" dir="5400000">
              <a:srgbClr val="000000">
                <a:alpha val="12000"/>
              </a:srgbClr>
            </a:outerShdw>
          </a:effectLst>
        </p:spPr>
      </p:sp>
      <p:sp>
        <p:nvSpPr>
          <p:cNvPr id="14" name="Text 10"/>
          <p:cNvSpPr txBox="1"/>
          <p:nvPr/>
        </p:nvSpPr>
        <p:spPr>
          <a:xfrm>
            <a:off x="685800" y="3931920"/>
            <a:ext cx="7863840" cy="640080"/>
          </a:xfrm>
          <a:prstGeom prst="rect">
            <a:avLst/>
          </a:prstGeom>
          <a:noFill/>
          <a:ln/>
        </p:spPr>
        <p:txBody>
          <a:bodyPr wrap="square" lIns="0" tIns="0" rIns="0" bIns="0" rtlCol="0" anchor="ctr"/>
          <a:lstStyle/>
          <a:p>
            <a:pPr indent="0" marL="0">
              <a:buNone/>
            </a:pPr>
            <a:r>
              <a:rPr lang="en-US" sz="1600" b="1" dirty="0">
                <a:solidFill>
                  <a:srgbClr val="F59E0B"/>
                </a:solidFill>
              </a:rPr>
              <a:t>Solution: </a:t>
            </a:r>
            <a:pPr indent="0" marL="0">
              <a:buNone/>
            </a:pPr>
            <a:r>
              <a:rPr lang="en-US" sz="1600" dirty="0">
                <a:solidFill>
                  <a:schemeClr val="bg1"/>
                </a:solidFill>
              </a:rPr>
              <a:t>an ANN predicts the unknown offload cost, and ANFIS turns it into a decision.</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ANN predictor: the cost of offloading</a:t>
            </a:r>
            <a:endParaRPr lang="en-US" sz="3000" dirty="0"/>
          </a:p>
        </p:txBody>
      </p:sp>
      <p:sp>
        <p:nvSpPr>
          <p:cNvPr id="3" name="Text 1"/>
          <p:cNvSpPr txBox="1"/>
          <p:nvPr/>
        </p:nvSpPr>
        <p:spPr>
          <a:xfrm>
            <a:off x="457200" y="1097280"/>
            <a:ext cx="2194560" cy="320040"/>
          </a:xfrm>
          <a:prstGeom prst="rect">
            <a:avLst/>
          </a:prstGeom>
          <a:noFill/>
          <a:ln/>
        </p:spPr>
        <p:txBody>
          <a:bodyPr wrap="square" lIns="0" tIns="0" rIns="0" bIns="0" rtlCol="0" anchor="t"/>
          <a:lstStyle/>
          <a:p>
            <a:pPr indent="0" marL="0">
              <a:buNone/>
            </a:pPr>
            <a:r>
              <a:rPr lang="en-US" sz="1500" b="1" dirty="0">
                <a:solidFill>
                  <a:srgbClr val="06B6D4"/>
                </a:solidFill>
              </a:rPr>
              <a:t>Inputs (known)</a:t>
            </a:r>
            <a:endParaRPr lang="en-US" sz="1500" dirty="0"/>
          </a:p>
        </p:txBody>
      </p:sp>
      <p:sp>
        <p:nvSpPr>
          <p:cNvPr id="4" name="Text 2"/>
          <p:cNvSpPr txBox="1"/>
          <p:nvPr/>
        </p:nvSpPr>
        <p:spPr>
          <a:xfrm>
            <a:off x="457200" y="1481328"/>
            <a:ext cx="2194560" cy="1828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Task size</a:t>
            </a:r>
            <a:endParaRPr lang="en-US" sz="1400" dirty="0"/>
          </a:p>
          <a:p>
            <a:pPr marL="342900" indent="-342900">
              <a:spcAft>
                <a:spcPts val="400"/>
              </a:spcAft>
              <a:buSzPct val="100000"/>
              <a:buChar char="•"/>
            </a:pPr>
            <a:r>
              <a:rPr lang="en-US" sz="1400" dirty="0">
                <a:solidFill>
                  <a:schemeClr val="tx1"/>
                </a:solidFill>
              </a:rPr>
              <a:t>Task complexity</a:t>
            </a:r>
            <a:endParaRPr lang="en-US" sz="1400" dirty="0"/>
          </a:p>
          <a:p>
            <a:pPr marL="342900" indent="-342900">
              <a:spcAft>
                <a:spcPts val="400"/>
              </a:spcAft>
              <a:buSzPct val="100000"/>
              <a:buChar char="•"/>
            </a:pPr>
            <a:r>
              <a:rPr lang="en-US" sz="1400" dirty="0">
                <a:solidFill>
                  <a:schemeClr val="tx1"/>
                </a:solidFill>
              </a:rPr>
              <a:t>Last WiFi signal</a:t>
            </a:r>
            <a:endParaRPr lang="en-US" sz="1400" dirty="0"/>
          </a:p>
          <a:p>
            <a:pPr marL="342900" indent="-342900">
              <a:spcAft>
                <a:spcPts val="400"/>
              </a:spcAft>
              <a:buSzPct val="100000"/>
              <a:buChar char="•"/>
            </a:pPr>
            <a:r>
              <a:rPr lang="en-US" sz="1400" dirty="0">
                <a:solidFill>
                  <a:schemeClr val="tx1"/>
                </a:solidFill>
              </a:rPr>
              <a:t>Last server load</a:t>
            </a:r>
            <a:endParaRPr lang="en-US" sz="1400" dirty="0"/>
          </a:p>
          <a:p>
            <a:pPr marL="342900" indent="-342900">
              <a:spcAft>
                <a:spcPts val="400"/>
              </a:spcAft>
              <a:buSzPct val="100000"/>
              <a:buChar char="•"/>
            </a:pPr>
            <a:r>
              <a:rPr lang="en-US" sz="1400" dirty="0">
                <a:solidFill>
                  <a:schemeClr val="tx1"/>
                </a:solidFill>
              </a:rPr>
              <a:t>Time of day</a:t>
            </a:r>
            <a:endParaRPr lang="en-US" sz="1400" dirty="0"/>
          </a:p>
        </p:txBody>
      </p:sp>
      <p:sp>
        <p:nvSpPr>
          <p:cNvPr id="5" name="connection"/>
          <p:cNvSpPr/>
          <p:nvPr/>
        </p:nvSpPr>
        <p:spPr>
          <a:xfrm flipV="1">
            <a:off x="3127248" y="1444752"/>
            <a:ext cx="603504" cy="52578"/>
          </a:xfrm>
          <a:prstGeom prst="line">
            <a:avLst/>
          </a:prstGeom>
          <a:noFill/>
          <a:ln w="9525">
            <a:solidFill>
              <a:srgbClr val="CBD5E1"/>
            </a:solidFill>
            <a:prstDash val="solid"/>
          </a:ln>
        </p:spPr>
      </p:sp>
      <p:sp>
        <p:nvSpPr>
          <p:cNvPr id="6" name="connection"/>
          <p:cNvSpPr/>
          <p:nvPr/>
        </p:nvSpPr>
        <p:spPr>
          <a:xfrm>
            <a:off x="3127248" y="1497330"/>
            <a:ext cx="603504" cy="368046"/>
          </a:xfrm>
          <a:prstGeom prst="line">
            <a:avLst/>
          </a:prstGeom>
          <a:noFill/>
          <a:ln w="9525">
            <a:solidFill>
              <a:srgbClr val="CBD5E1"/>
            </a:solidFill>
            <a:prstDash val="solid"/>
          </a:ln>
        </p:spPr>
      </p:sp>
      <p:sp>
        <p:nvSpPr>
          <p:cNvPr id="7" name="connection"/>
          <p:cNvSpPr/>
          <p:nvPr/>
        </p:nvSpPr>
        <p:spPr>
          <a:xfrm>
            <a:off x="3127248" y="1497330"/>
            <a:ext cx="603504" cy="788670"/>
          </a:xfrm>
          <a:prstGeom prst="line">
            <a:avLst/>
          </a:prstGeom>
          <a:noFill/>
          <a:ln w="9525">
            <a:solidFill>
              <a:srgbClr val="CBD5E1"/>
            </a:solidFill>
            <a:prstDash val="solid"/>
          </a:ln>
        </p:spPr>
      </p:sp>
      <p:sp>
        <p:nvSpPr>
          <p:cNvPr id="8" name="connection"/>
          <p:cNvSpPr/>
          <p:nvPr/>
        </p:nvSpPr>
        <p:spPr>
          <a:xfrm>
            <a:off x="3127248" y="1497330"/>
            <a:ext cx="603504" cy="1209294"/>
          </a:xfrm>
          <a:prstGeom prst="line">
            <a:avLst/>
          </a:prstGeom>
          <a:noFill/>
          <a:ln w="9525">
            <a:solidFill>
              <a:srgbClr val="CBD5E1"/>
            </a:solidFill>
            <a:prstDash val="solid"/>
          </a:ln>
        </p:spPr>
      </p:sp>
      <p:sp>
        <p:nvSpPr>
          <p:cNvPr id="9" name="connection"/>
          <p:cNvSpPr/>
          <p:nvPr/>
        </p:nvSpPr>
        <p:spPr>
          <a:xfrm>
            <a:off x="3127248" y="1497330"/>
            <a:ext cx="603504" cy="1629918"/>
          </a:xfrm>
          <a:prstGeom prst="line">
            <a:avLst/>
          </a:prstGeom>
          <a:noFill/>
          <a:ln w="9525">
            <a:solidFill>
              <a:srgbClr val="CBD5E1"/>
            </a:solidFill>
            <a:prstDash val="solid"/>
          </a:ln>
        </p:spPr>
      </p:sp>
      <p:sp>
        <p:nvSpPr>
          <p:cNvPr id="10" name="connection"/>
          <p:cNvSpPr/>
          <p:nvPr/>
        </p:nvSpPr>
        <p:spPr>
          <a:xfrm flipV="1">
            <a:off x="3127248" y="1444752"/>
            <a:ext cx="603504" cy="578358"/>
          </a:xfrm>
          <a:prstGeom prst="line">
            <a:avLst/>
          </a:prstGeom>
          <a:noFill/>
          <a:ln w="9525">
            <a:solidFill>
              <a:srgbClr val="CBD5E1"/>
            </a:solidFill>
            <a:prstDash val="solid"/>
          </a:ln>
        </p:spPr>
      </p:sp>
      <p:sp>
        <p:nvSpPr>
          <p:cNvPr id="11" name="connection"/>
          <p:cNvSpPr/>
          <p:nvPr/>
        </p:nvSpPr>
        <p:spPr>
          <a:xfrm flipV="1">
            <a:off x="3127248" y="1865376"/>
            <a:ext cx="603504" cy="157734"/>
          </a:xfrm>
          <a:prstGeom prst="line">
            <a:avLst/>
          </a:prstGeom>
          <a:noFill/>
          <a:ln w="9525">
            <a:solidFill>
              <a:srgbClr val="CBD5E1"/>
            </a:solidFill>
            <a:prstDash val="solid"/>
          </a:ln>
        </p:spPr>
      </p:sp>
      <p:sp>
        <p:nvSpPr>
          <p:cNvPr id="12" name="connection"/>
          <p:cNvSpPr/>
          <p:nvPr/>
        </p:nvSpPr>
        <p:spPr>
          <a:xfrm>
            <a:off x="3127248" y="2023110"/>
            <a:ext cx="603504" cy="262890"/>
          </a:xfrm>
          <a:prstGeom prst="line">
            <a:avLst/>
          </a:prstGeom>
          <a:noFill/>
          <a:ln w="9525">
            <a:solidFill>
              <a:srgbClr val="CBD5E1"/>
            </a:solidFill>
            <a:prstDash val="solid"/>
          </a:ln>
        </p:spPr>
      </p:sp>
      <p:sp>
        <p:nvSpPr>
          <p:cNvPr id="13" name="connection"/>
          <p:cNvSpPr/>
          <p:nvPr/>
        </p:nvSpPr>
        <p:spPr>
          <a:xfrm>
            <a:off x="3127248" y="2023110"/>
            <a:ext cx="603504" cy="683514"/>
          </a:xfrm>
          <a:prstGeom prst="line">
            <a:avLst/>
          </a:prstGeom>
          <a:noFill/>
          <a:ln w="9525">
            <a:solidFill>
              <a:srgbClr val="CBD5E1"/>
            </a:solidFill>
            <a:prstDash val="solid"/>
          </a:ln>
        </p:spPr>
      </p:sp>
      <p:sp>
        <p:nvSpPr>
          <p:cNvPr id="14" name="connection"/>
          <p:cNvSpPr/>
          <p:nvPr/>
        </p:nvSpPr>
        <p:spPr>
          <a:xfrm>
            <a:off x="3127248" y="2023110"/>
            <a:ext cx="603504" cy="1104138"/>
          </a:xfrm>
          <a:prstGeom prst="line">
            <a:avLst/>
          </a:prstGeom>
          <a:noFill/>
          <a:ln w="9525">
            <a:solidFill>
              <a:srgbClr val="CBD5E1"/>
            </a:solidFill>
            <a:prstDash val="solid"/>
          </a:ln>
        </p:spPr>
      </p:sp>
      <p:sp>
        <p:nvSpPr>
          <p:cNvPr id="15" name="connection"/>
          <p:cNvSpPr/>
          <p:nvPr/>
        </p:nvSpPr>
        <p:spPr>
          <a:xfrm flipV="1">
            <a:off x="3127248" y="1444752"/>
            <a:ext cx="603504" cy="1104138"/>
          </a:xfrm>
          <a:prstGeom prst="line">
            <a:avLst/>
          </a:prstGeom>
          <a:noFill/>
          <a:ln w="9525">
            <a:solidFill>
              <a:srgbClr val="CBD5E1"/>
            </a:solidFill>
            <a:prstDash val="solid"/>
          </a:ln>
        </p:spPr>
      </p:sp>
      <p:sp>
        <p:nvSpPr>
          <p:cNvPr id="16" name="connection"/>
          <p:cNvSpPr/>
          <p:nvPr/>
        </p:nvSpPr>
        <p:spPr>
          <a:xfrm flipV="1">
            <a:off x="3127248" y="1865376"/>
            <a:ext cx="603504" cy="683514"/>
          </a:xfrm>
          <a:prstGeom prst="line">
            <a:avLst/>
          </a:prstGeom>
          <a:noFill/>
          <a:ln w="9525">
            <a:solidFill>
              <a:srgbClr val="CBD5E1"/>
            </a:solidFill>
            <a:prstDash val="solid"/>
          </a:ln>
        </p:spPr>
      </p:sp>
      <p:sp>
        <p:nvSpPr>
          <p:cNvPr id="17" name="connection"/>
          <p:cNvSpPr/>
          <p:nvPr/>
        </p:nvSpPr>
        <p:spPr>
          <a:xfrm flipV="1">
            <a:off x="3127248" y="2286000"/>
            <a:ext cx="603504" cy="262890"/>
          </a:xfrm>
          <a:prstGeom prst="line">
            <a:avLst/>
          </a:prstGeom>
          <a:noFill/>
          <a:ln w="9525">
            <a:solidFill>
              <a:srgbClr val="CBD5E1"/>
            </a:solidFill>
            <a:prstDash val="solid"/>
          </a:ln>
        </p:spPr>
      </p:sp>
      <p:sp>
        <p:nvSpPr>
          <p:cNvPr id="18" name="connection"/>
          <p:cNvSpPr/>
          <p:nvPr/>
        </p:nvSpPr>
        <p:spPr>
          <a:xfrm>
            <a:off x="3127248" y="2548890"/>
            <a:ext cx="603504" cy="157734"/>
          </a:xfrm>
          <a:prstGeom prst="line">
            <a:avLst/>
          </a:prstGeom>
          <a:noFill/>
          <a:ln w="9525">
            <a:solidFill>
              <a:srgbClr val="CBD5E1"/>
            </a:solidFill>
            <a:prstDash val="solid"/>
          </a:ln>
        </p:spPr>
      </p:sp>
      <p:sp>
        <p:nvSpPr>
          <p:cNvPr id="19" name="connection"/>
          <p:cNvSpPr/>
          <p:nvPr/>
        </p:nvSpPr>
        <p:spPr>
          <a:xfrm>
            <a:off x="3127248" y="2548890"/>
            <a:ext cx="603504" cy="578358"/>
          </a:xfrm>
          <a:prstGeom prst="line">
            <a:avLst/>
          </a:prstGeom>
          <a:noFill/>
          <a:ln w="9525">
            <a:solidFill>
              <a:srgbClr val="CBD5E1"/>
            </a:solidFill>
            <a:prstDash val="solid"/>
          </a:ln>
        </p:spPr>
      </p:sp>
      <p:sp>
        <p:nvSpPr>
          <p:cNvPr id="20" name="connection"/>
          <p:cNvSpPr/>
          <p:nvPr/>
        </p:nvSpPr>
        <p:spPr>
          <a:xfrm flipV="1">
            <a:off x="3127248" y="1444752"/>
            <a:ext cx="603504" cy="1629918"/>
          </a:xfrm>
          <a:prstGeom prst="line">
            <a:avLst/>
          </a:prstGeom>
          <a:noFill/>
          <a:ln w="9525">
            <a:solidFill>
              <a:srgbClr val="CBD5E1"/>
            </a:solidFill>
            <a:prstDash val="solid"/>
          </a:ln>
        </p:spPr>
      </p:sp>
      <p:sp>
        <p:nvSpPr>
          <p:cNvPr id="21" name="connection"/>
          <p:cNvSpPr/>
          <p:nvPr/>
        </p:nvSpPr>
        <p:spPr>
          <a:xfrm flipV="1">
            <a:off x="3127248" y="1865376"/>
            <a:ext cx="603504" cy="1209294"/>
          </a:xfrm>
          <a:prstGeom prst="line">
            <a:avLst/>
          </a:prstGeom>
          <a:noFill/>
          <a:ln w="9525">
            <a:solidFill>
              <a:srgbClr val="CBD5E1"/>
            </a:solidFill>
            <a:prstDash val="solid"/>
          </a:ln>
        </p:spPr>
      </p:sp>
      <p:sp>
        <p:nvSpPr>
          <p:cNvPr id="22" name="connection"/>
          <p:cNvSpPr/>
          <p:nvPr/>
        </p:nvSpPr>
        <p:spPr>
          <a:xfrm flipV="1">
            <a:off x="3127248" y="2286000"/>
            <a:ext cx="603504" cy="788670"/>
          </a:xfrm>
          <a:prstGeom prst="line">
            <a:avLst/>
          </a:prstGeom>
          <a:noFill/>
          <a:ln w="9525">
            <a:solidFill>
              <a:srgbClr val="CBD5E1"/>
            </a:solidFill>
            <a:prstDash val="solid"/>
          </a:ln>
        </p:spPr>
      </p:sp>
      <p:sp>
        <p:nvSpPr>
          <p:cNvPr id="23" name="connection"/>
          <p:cNvSpPr/>
          <p:nvPr/>
        </p:nvSpPr>
        <p:spPr>
          <a:xfrm flipV="1">
            <a:off x="3127248" y="2706624"/>
            <a:ext cx="603504" cy="368046"/>
          </a:xfrm>
          <a:prstGeom prst="line">
            <a:avLst/>
          </a:prstGeom>
          <a:noFill/>
          <a:ln w="9525">
            <a:solidFill>
              <a:srgbClr val="CBD5E1"/>
            </a:solidFill>
            <a:prstDash val="solid"/>
          </a:ln>
        </p:spPr>
      </p:sp>
      <p:sp>
        <p:nvSpPr>
          <p:cNvPr id="24" name="connection"/>
          <p:cNvSpPr/>
          <p:nvPr/>
        </p:nvSpPr>
        <p:spPr>
          <a:xfrm>
            <a:off x="3127248" y="3074670"/>
            <a:ext cx="603504" cy="52578"/>
          </a:xfrm>
          <a:prstGeom prst="line">
            <a:avLst/>
          </a:prstGeom>
          <a:noFill/>
          <a:ln w="9525">
            <a:solidFill>
              <a:srgbClr val="CBD5E1"/>
            </a:solidFill>
            <a:prstDash val="solid"/>
          </a:ln>
        </p:spPr>
      </p:sp>
      <p:sp>
        <p:nvSpPr>
          <p:cNvPr id="25" name="connection"/>
          <p:cNvSpPr/>
          <p:nvPr/>
        </p:nvSpPr>
        <p:spPr>
          <a:xfrm>
            <a:off x="3950208" y="1444752"/>
            <a:ext cx="603504" cy="52578"/>
          </a:xfrm>
          <a:prstGeom prst="line">
            <a:avLst/>
          </a:prstGeom>
          <a:noFill/>
          <a:ln w="9525">
            <a:solidFill>
              <a:srgbClr val="CBD5E1"/>
            </a:solidFill>
            <a:prstDash val="solid"/>
          </a:ln>
        </p:spPr>
      </p:sp>
      <p:sp>
        <p:nvSpPr>
          <p:cNvPr id="26" name="connection"/>
          <p:cNvSpPr/>
          <p:nvPr/>
        </p:nvSpPr>
        <p:spPr>
          <a:xfrm>
            <a:off x="3950208" y="1444752"/>
            <a:ext cx="603504" cy="578358"/>
          </a:xfrm>
          <a:prstGeom prst="line">
            <a:avLst/>
          </a:prstGeom>
          <a:noFill/>
          <a:ln w="9525">
            <a:solidFill>
              <a:srgbClr val="CBD5E1"/>
            </a:solidFill>
            <a:prstDash val="solid"/>
          </a:ln>
        </p:spPr>
      </p:sp>
      <p:sp>
        <p:nvSpPr>
          <p:cNvPr id="27" name="connection"/>
          <p:cNvSpPr/>
          <p:nvPr/>
        </p:nvSpPr>
        <p:spPr>
          <a:xfrm>
            <a:off x="3950208" y="1444752"/>
            <a:ext cx="603504" cy="1104138"/>
          </a:xfrm>
          <a:prstGeom prst="line">
            <a:avLst/>
          </a:prstGeom>
          <a:noFill/>
          <a:ln w="9525">
            <a:solidFill>
              <a:srgbClr val="CBD5E1"/>
            </a:solidFill>
            <a:prstDash val="solid"/>
          </a:ln>
        </p:spPr>
      </p:sp>
      <p:sp>
        <p:nvSpPr>
          <p:cNvPr id="28" name="connection"/>
          <p:cNvSpPr/>
          <p:nvPr/>
        </p:nvSpPr>
        <p:spPr>
          <a:xfrm>
            <a:off x="3950208" y="1444752"/>
            <a:ext cx="603504" cy="1629918"/>
          </a:xfrm>
          <a:prstGeom prst="line">
            <a:avLst/>
          </a:prstGeom>
          <a:noFill/>
          <a:ln w="9525">
            <a:solidFill>
              <a:srgbClr val="CBD5E1"/>
            </a:solidFill>
            <a:prstDash val="solid"/>
          </a:ln>
        </p:spPr>
      </p:sp>
      <p:sp>
        <p:nvSpPr>
          <p:cNvPr id="29" name="connection"/>
          <p:cNvSpPr/>
          <p:nvPr/>
        </p:nvSpPr>
        <p:spPr>
          <a:xfrm flipV="1">
            <a:off x="3950208" y="1497330"/>
            <a:ext cx="603504" cy="368046"/>
          </a:xfrm>
          <a:prstGeom prst="line">
            <a:avLst/>
          </a:prstGeom>
          <a:noFill/>
          <a:ln w="9525">
            <a:solidFill>
              <a:srgbClr val="CBD5E1"/>
            </a:solidFill>
            <a:prstDash val="solid"/>
          </a:ln>
        </p:spPr>
      </p:sp>
      <p:sp>
        <p:nvSpPr>
          <p:cNvPr id="30" name="connection"/>
          <p:cNvSpPr/>
          <p:nvPr/>
        </p:nvSpPr>
        <p:spPr>
          <a:xfrm>
            <a:off x="3950208" y="1865376"/>
            <a:ext cx="603504" cy="157734"/>
          </a:xfrm>
          <a:prstGeom prst="line">
            <a:avLst/>
          </a:prstGeom>
          <a:noFill/>
          <a:ln w="9525">
            <a:solidFill>
              <a:srgbClr val="CBD5E1"/>
            </a:solidFill>
            <a:prstDash val="solid"/>
          </a:ln>
        </p:spPr>
      </p:sp>
      <p:sp>
        <p:nvSpPr>
          <p:cNvPr id="31" name="connection"/>
          <p:cNvSpPr/>
          <p:nvPr/>
        </p:nvSpPr>
        <p:spPr>
          <a:xfrm>
            <a:off x="3950208" y="1865376"/>
            <a:ext cx="603504" cy="683514"/>
          </a:xfrm>
          <a:prstGeom prst="line">
            <a:avLst/>
          </a:prstGeom>
          <a:noFill/>
          <a:ln w="9525">
            <a:solidFill>
              <a:srgbClr val="CBD5E1"/>
            </a:solidFill>
            <a:prstDash val="solid"/>
          </a:ln>
        </p:spPr>
      </p:sp>
      <p:sp>
        <p:nvSpPr>
          <p:cNvPr id="32" name="connection"/>
          <p:cNvSpPr/>
          <p:nvPr/>
        </p:nvSpPr>
        <p:spPr>
          <a:xfrm>
            <a:off x="3950208" y="1865376"/>
            <a:ext cx="603504" cy="1209294"/>
          </a:xfrm>
          <a:prstGeom prst="line">
            <a:avLst/>
          </a:prstGeom>
          <a:noFill/>
          <a:ln w="9525">
            <a:solidFill>
              <a:srgbClr val="CBD5E1"/>
            </a:solidFill>
            <a:prstDash val="solid"/>
          </a:ln>
        </p:spPr>
      </p:sp>
      <p:sp>
        <p:nvSpPr>
          <p:cNvPr id="33" name="connection"/>
          <p:cNvSpPr/>
          <p:nvPr/>
        </p:nvSpPr>
        <p:spPr>
          <a:xfrm flipV="1">
            <a:off x="3950208" y="1497330"/>
            <a:ext cx="603504" cy="788670"/>
          </a:xfrm>
          <a:prstGeom prst="line">
            <a:avLst/>
          </a:prstGeom>
          <a:noFill/>
          <a:ln w="9525">
            <a:solidFill>
              <a:srgbClr val="CBD5E1"/>
            </a:solidFill>
            <a:prstDash val="solid"/>
          </a:ln>
        </p:spPr>
      </p:sp>
      <p:sp>
        <p:nvSpPr>
          <p:cNvPr id="34" name="connection"/>
          <p:cNvSpPr/>
          <p:nvPr/>
        </p:nvSpPr>
        <p:spPr>
          <a:xfrm flipV="1">
            <a:off x="3950208" y="2023110"/>
            <a:ext cx="603504" cy="262890"/>
          </a:xfrm>
          <a:prstGeom prst="line">
            <a:avLst/>
          </a:prstGeom>
          <a:noFill/>
          <a:ln w="9525">
            <a:solidFill>
              <a:srgbClr val="CBD5E1"/>
            </a:solidFill>
            <a:prstDash val="solid"/>
          </a:ln>
        </p:spPr>
      </p:sp>
      <p:sp>
        <p:nvSpPr>
          <p:cNvPr id="35" name="connection"/>
          <p:cNvSpPr/>
          <p:nvPr/>
        </p:nvSpPr>
        <p:spPr>
          <a:xfrm>
            <a:off x="3950208" y="2286000"/>
            <a:ext cx="603504" cy="262890"/>
          </a:xfrm>
          <a:prstGeom prst="line">
            <a:avLst/>
          </a:prstGeom>
          <a:noFill/>
          <a:ln w="9525">
            <a:solidFill>
              <a:srgbClr val="CBD5E1"/>
            </a:solidFill>
            <a:prstDash val="solid"/>
          </a:ln>
        </p:spPr>
      </p:sp>
      <p:sp>
        <p:nvSpPr>
          <p:cNvPr id="36" name="connection"/>
          <p:cNvSpPr/>
          <p:nvPr/>
        </p:nvSpPr>
        <p:spPr>
          <a:xfrm>
            <a:off x="3950208" y="2286000"/>
            <a:ext cx="603504" cy="788670"/>
          </a:xfrm>
          <a:prstGeom prst="line">
            <a:avLst/>
          </a:prstGeom>
          <a:noFill/>
          <a:ln w="9525">
            <a:solidFill>
              <a:srgbClr val="CBD5E1"/>
            </a:solidFill>
            <a:prstDash val="solid"/>
          </a:ln>
        </p:spPr>
      </p:sp>
      <p:sp>
        <p:nvSpPr>
          <p:cNvPr id="37" name="connection"/>
          <p:cNvSpPr/>
          <p:nvPr/>
        </p:nvSpPr>
        <p:spPr>
          <a:xfrm flipV="1">
            <a:off x="3950208" y="1497330"/>
            <a:ext cx="603504" cy="1209294"/>
          </a:xfrm>
          <a:prstGeom prst="line">
            <a:avLst/>
          </a:prstGeom>
          <a:noFill/>
          <a:ln w="9525">
            <a:solidFill>
              <a:srgbClr val="CBD5E1"/>
            </a:solidFill>
            <a:prstDash val="solid"/>
          </a:ln>
        </p:spPr>
      </p:sp>
      <p:sp>
        <p:nvSpPr>
          <p:cNvPr id="38" name="connection"/>
          <p:cNvSpPr/>
          <p:nvPr/>
        </p:nvSpPr>
        <p:spPr>
          <a:xfrm flipV="1">
            <a:off x="3950208" y="2023110"/>
            <a:ext cx="603504" cy="683514"/>
          </a:xfrm>
          <a:prstGeom prst="line">
            <a:avLst/>
          </a:prstGeom>
          <a:noFill/>
          <a:ln w="9525">
            <a:solidFill>
              <a:srgbClr val="CBD5E1"/>
            </a:solidFill>
            <a:prstDash val="solid"/>
          </a:ln>
        </p:spPr>
      </p:sp>
      <p:sp>
        <p:nvSpPr>
          <p:cNvPr id="39" name="connection"/>
          <p:cNvSpPr/>
          <p:nvPr/>
        </p:nvSpPr>
        <p:spPr>
          <a:xfrm flipV="1">
            <a:off x="3950208" y="2548890"/>
            <a:ext cx="603504" cy="157734"/>
          </a:xfrm>
          <a:prstGeom prst="line">
            <a:avLst/>
          </a:prstGeom>
          <a:noFill/>
          <a:ln w="9525">
            <a:solidFill>
              <a:srgbClr val="CBD5E1"/>
            </a:solidFill>
            <a:prstDash val="solid"/>
          </a:ln>
        </p:spPr>
      </p:sp>
      <p:sp>
        <p:nvSpPr>
          <p:cNvPr id="40" name="connection"/>
          <p:cNvSpPr/>
          <p:nvPr/>
        </p:nvSpPr>
        <p:spPr>
          <a:xfrm>
            <a:off x="3950208" y="2706624"/>
            <a:ext cx="603504" cy="368046"/>
          </a:xfrm>
          <a:prstGeom prst="line">
            <a:avLst/>
          </a:prstGeom>
          <a:noFill/>
          <a:ln w="9525">
            <a:solidFill>
              <a:srgbClr val="CBD5E1"/>
            </a:solidFill>
            <a:prstDash val="solid"/>
          </a:ln>
        </p:spPr>
      </p:sp>
      <p:sp>
        <p:nvSpPr>
          <p:cNvPr id="41" name="connection"/>
          <p:cNvSpPr/>
          <p:nvPr/>
        </p:nvSpPr>
        <p:spPr>
          <a:xfrm flipV="1">
            <a:off x="3950208" y="1497330"/>
            <a:ext cx="603504" cy="1629918"/>
          </a:xfrm>
          <a:prstGeom prst="line">
            <a:avLst/>
          </a:prstGeom>
          <a:noFill/>
          <a:ln w="9525">
            <a:solidFill>
              <a:srgbClr val="CBD5E1"/>
            </a:solidFill>
            <a:prstDash val="solid"/>
          </a:ln>
        </p:spPr>
      </p:sp>
      <p:sp>
        <p:nvSpPr>
          <p:cNvPr id="42" name="connection"/>
          <p:cNvSpPr/>
          <p:nvPr/>
        </p:nvSpPr>
        <p:spPr>
          <a:xfrm flipV="1">
            <a:off x="3950208" y="2023110"/>
            <a:ext cx="603504" cy="1104138"/>
          </a:xfrm>
          <a:prstGeom prst="line">
            <a:avLst/>
          </a:prstGeom>
          <a:noFill/>
          <a:ln w="9525">
            <a:solidFill>
              <a:srgbClr val="CBD5E1"/>
            </a:solidFill>
            <a:prstDash val="solid"/>
          </a:ln>
        </p:spPr>
      </p:sp>
      <p:sp>
        <p:nvSpPr>
          <p:cNvPr id="43" name="connection"/>
          <p:cNvSpPr/>
          <p:nvPr/>
        </p:nvSpPr>
        <p:spPr>
          <a:xfrm flipV="1">
            <a:off x="3950208" y="2548890"/>
            <a:ext cx="603504" cy="578358"/>
          </a:xfrm>
          <a:prstGeom prst="line">
            <a:avLst/>
          </a:prstGeom>
          <a:noFill/>
          <a:ln w="9525">
            <a:solidFill>
              <a:srgbClr val="CBD5E1"/>
            </a:solidFill>
            <a:prstDash val="solid"/>
          </a:ln>
        </p:spPr>
      </p:sp>
      <p:sp>
        <p:nvSpPr>
          <p:cNvPr id="44" name="connection"/>
          <p:cNvSpPr/>
          <p:nvPr/>
        </p:nvSpPr>
        <p:spPr>
          <a:xfrm flipV="1">
            <a:off x="3950208" y="3074670"/>
            <a:ext cx="603504" cy="52578"/>
          </a:xfrm>
          <a:prstGeom prst="line">
            <a:avLst/>
          </a:prstGeom>
          <a:noFill/>
          <a:ln w="9525">
            <a:solidFill>
              <a:srgbClr val="CBD5E1"/>
            </a:solidFill>
            <a:prstDash val="solid"/>
          </a:ln>
        </p:spPr>
      </p:sp>
      <p:sp>
        <p:nvSpPr>
          <p:cNvPr id="45" name="connection"/>
          <p:cNvSpPr/>
          <p:nvPr/>
        </p:nvSpPr>
        <p:spPr>
          <a:xfrm>
            <a:off x="4773168" y="1497330"/>
            <a:ext cx="603504" cy="262890"/>
          </a:xfrm>
          <a:prstGeom prst="line">
            <a:avLst/>
          </a:prstGeom>
          <a:noFill/>
          <a:ln w="9525">
            <a:solidFill>
              <a:srgbClr val="CBD5E1"/>
            </a:solidFill>
            <a:prstDash val="solid"/>
          </a:ln>
        </p:spPr>
      </p:sp>
      <p:sp>
        <p:nvSpPr>
          <p:cNvPr id="46" name="connection"/>
          <p:cNvSpPr/>
          <p:nvPr/>
        </p:nvSpPr>
        <p:spPr>
          <a:xfrm>
            <a:off x="4773168" y="1497330"/>
            <a:ext cx="603504" cy="1314450"/>
          </a:xfrm>
          <a:prstGeom prst="line">
            <a:avLst/>
          </a:prstGeom>
          <a:noFill/>
          <a:ln w="9525">
            <a:solidFill>
              <a:srgbClr val="CBD5E1"/>
            </a:solidFill>
            <a:prstDash val="solid"/>
          </a:ln>
        </p:spPr>
      </p:sp>
      <p:sp>
        <p:nvSpPr>
          <p:cNvPr id="47" name="connection"/>
          <p:cNvSpPr/>
          <p:nvPr/>
        </p:nvSpPr>
        <p:spPr>
          <a:xfrm flipV="1">
            <a:off x="4773168" y="1760220"/>
            <a:ext cx="603504" cy="262890"/>
          </a:xfrm>
          <a:prstGeom prst="line">
            <a:avLst/>
          </a:prstGeom>
          <a:noFill/>
          <a:ln w="9525">
            <a:solidFill>
              <a:srgbClr val="CBD5E1"/>
            </a:solidFill>
            <a:prstDash val="solid"/>
          </a:ln>
        </p:spPr>
      </p:sp>
      <p:sp>
        <p:nvSpPr>
          <p:cNvPr id="48" name="connection"/>
          <p:cNvSpPr/>
          <p:nvPr/>
        </p:nvSpPr>
        <p:spPr>
          <a:xfrm>
            <a:off x="4773168" y="2023110"/>
            <a:ext cx="603504" cy="788670"/>
          </a:xfrm>
          <a:prstGeom prst="line">
            <a:avLst/>
          </a:prstGeom>
          <a:noFill/>
          <a:ln w="9525">
            <a:solidFill>
              <a:srgbClr val="CBD5E1"/>
            </a:solidFill>
            <a:prstDash val="solid"/>
          </a:ln>
        </p:spPr>
      </p:sp>
      <p:sp>
        <p:nvSpPr>
          <p:cNvPr id="49" name="connection"/>
          <p:cNvSpPr/>
          <p:nvPr/>
        </p:nvSpPr>
        <p:spPr>
          <a:xfrm flipV="1">
            <a:off x="4773168" y="1760220"/>
            <a:ext cx="603504" cy="788670"/>
          </a:xfrm>
          <a:prstGeom prst="line">
            <a:avLst/>
          </a:prstGeom>
          <a:noFill/>
          <a:ln w="9525">
            <a:solidFill>
              <a:srgbClr val="CBD5E1"/>
            </a:solidFill>
            <a:prstDash val="solid"/>
          </a:ln>
        </p:spPr>
      </p:sp>
      <p:sp>
        <p:nvSpPr>
          <p:cNvPr id="50" name="connection"/>
          <p:cNvSpPr/>
          <p:nvPr/>
        </p:nvSpPr>
        <p:spPr>
          <a:xfrm>
            <a:off x="4773168" y="2548890"/>
            <a:ext cx="603504" cy="262890"/>
          </a:xfrm>
          <a:prstGeom prst="line">
            <a:avLst/>
          </a:prstGeom>
          <a:noFill/>
          <a:ln w="9525">
            <a:solidFill>
              <a:srgbClr val="CBD5E1"/>
            </a:solidFill>
            <a:prstDash val="solid"/>
          </a:ln>
        </p:spPr>
      </p:sp>
      <p:sp>
        <p:nvSpPr>
          <p:cNvPr id="51" name="connection"/>
          <p:cNvSpPr/>
          <p:nvPr/>
        </p:nvSpPr>
        <p:spPr>
          <a:xfrm flipV="1">
            <a:off x="4773168" y="1760220"/>
            <a:ext cx="603504" cy="1314450"/>
          </a:xfrm>
          <a:prstGeom prst="line">
            <a:avLst/>
          </a:prstGeom>
          <a:noFill/>
          <a:ln w="9525">
            <a:solidFill>
              <a:srgbClr val="CBD5E1"/>
            </a:solidFill>
            <a:prstDash val="solid"/>
          </a:ln>
        </p:spPr>
      </p:sp>
      <p:sp>
        <p:nvSpPr>
          <p:cNvPr id="52" name="connection"/>
          <p:cNvSpPr/>
          <p:nvPr/>
        </p:nvSpPr>
        <p:spPr>
          <a:xfrm flipV="1">
            <a:off x="4773168" y="2811780"/>
            <a:ext cx="603504" cy="262890"/>
          </a:xfrm>
          <a:prstGeom prst="line">
            <a:avLst/>
          </a:prstGeom>
          <a:noFill/>
          <a:ln w="9525">
            <a:solidFill>
              <a:srgbClr val="CBD5E1"/>
            </a:solidFill>
            <a:prstDash val="solid"/>
          </a:ln>
        </p:spPr>
      </p:sp>
      <p:sp>
        <p:nvSpPr>
          <p:cNvPr id="53" name="neuron"/>
          <p:cNvSpPr/>
          <p:nvPr/>
        </p:nvSpPr>
        <p:spPr>
          <a:xfrm>
            <a:off x="2907792" y="1387602"/>
            <a:ext cx="219456" cy="219456"/>
          </a:xfrm>
          <a:prstGeom prst="ellipse">
            <a:avLst/>
          </a:prstGeom>
          <a:solidFill>
            <a:srgbClr val="06B6D4"/>
          </a:solidFill>
          <a:ln w="12700">
            <a:solidFill>
              <a:srgbClr val="FFFFFF"/>
            </a:solidFill>
            <a:prstDash val="solid"/>
          </a:ln>
        </p:spPr>
      </p:sp>
      <p:sp>
        <p:nvSpPr>
          <p:cNvPr id="54" name="neuron"/>
          <p:cNvSpPr/>
          <p:nvPr/>
        </p:nvSpPr>
        <p:spPr>
          <a:xfrm>
            <a:off x="2907792" y="1913382"/>
            <a:ext cx="219456" cy="219456"/>
          </a:xfrm>
          <a:prstGeom prst="ellipse">
            <a:avLst/>
          </a:prstGeom>
          <a:solidFill>
            <a:srgbClr val="06B6D4"/>
          </a:solidFill>
          <a:ln w="12700">
            <a:solidFill>
              <a:srgbClr val="FFFFFF"/>
            </a:solidFill>
            <a:prstDash val="solid"/>
          </a:ln>
        </p:spPr>
      </p:sp>
      <p:sp>
        <p:nvSpPr>
          <p:cNvPr id="55" name="neuron"/>
          <p:cNvSpPr/>
          <p:nvPr/>
        </p:nvSpPr>
        <p:spPr>
          <a:xfrm>
            <a:off x="2907792" y="2439162"/>
            <a:ext cx="219456" cy="219456"/>
          </a:xfrm>
          <a:prstGeom prst="ellipse">
            <a:avLst/>
          </a:prstGeom>
          <a:solidFill>
            <a:srgbClr val="06B6D4"/>
          </a:solidFill>
          <a:ln w="12700">
            <a:solidFill>
              <a:srgbClr val="FFFFFF"/>
            </a:solidFill>
            <a:prstDash val="solid"/>
          </a:ln>
        </p:spPr>
      </p:sp>
      <p:sp>
        <p:nvSpPr>
          <p:cNvPr id="56" name="neuron"/>
          <p:cNvSpPr/>
          <p:nvPr/>
        </p:nvSpPr>
        <p:spPr>
          <a:xfrm>
            <a:off x="2907792" y="2964942"/>
            <a:ext cx="219456" cy="219456"/>
          </a:xfrm>
          <a:prstGeom prst="ellipse">
            <a:avLst/>
          </a:prstGeom>
          <a:solidFill>
            <a:srgbClr val="06B6D4"/>
          </a:solidFill>
          <a:ln w="12700">
            <a:solidFill>
              <a:srgbClr val="FFFFFF"/>
            </a:solidFill>
            <a:prstDash val="solid"/>
          </a:ln>
        </p:spPr>
      </p:sp>
      <p:sp>
        <p:nvSpPr>
          <p:cNvPr id="57" name="neuron"/>
          <p:cNvSpPr/>
          <p:nvPr/>
        </p:nvSpPr>
        <p:spPr>
          <a:xfrm>
            <a:off x="3730752" y="1335024"/>
            <a:ext cx="219456" cy="219456"/>
          </a:xfrm>
          <a:prstGeom prst="ellipse">
            <a:avLst/>
          </a:prstGeom>
          <a:solidFill>
            <a:srgbClr val="8B5CF6"/>
          </a:solidFill>
          <a:ln w="12700">
            <a:solidFill>
              <a:srgbClr val="FFFFFF"/>
            </a:solidFill>
            <a:prstDash val="solid"/>
          </a:ln>
        </p:spPr>
      </p:sp>
      <p:sp>
        <p:nvSpPr>
          <p:cNvPr id="58" name="neuron"/>
          <p:cNvSpPr/>
          <p:nvPr/>
        </p:nvSpPr>
        <p:spPr>
          <a:xfrm>
            <a:off x="3730752" y="1755648"/>
            <a:ext cx="219456" cy="219456"/>
          </a:xfrm>
          <a:prstGeom prst="ellipse">
            <a:avLst/>
          </a:prstGeom>
          <a:solidFill>
            <a:srgbClr val="8B5CF6"/>
          </a:solidFill>
          <a:ln w="12700">
            <a:solidFill>
              <a:srgbClr val="FFFFFF"/>
            </a:solidFill>
            <a:prstDash val="solid"/>
          </a:ln>
        </p:spPr>
      </p:sp>
      <p:sp>
        <p:nvSpPr>
          <p:cNvPr id="59" name="neuron"/>
          <p:cNvSpPr/>
          <p:nvPr/>
        </p:nvSpPr>
        <p:spPr>
          <a:xfrm>
            <a:off x="3730752" y="2176272"/>
            <a:ext cx="219456" cy="219456"/>
          </a:xfrm>
          <a:prstGeom prst="ellipse">
            <a:avLst/>
          </a:prstGeom>
          <a:solidFill>
            <a:srgbClr val="8B5CF6"/>
          </a:solidFill>
          <a:ln w="12700">
            <a:solidFill>
              <a:srgbClr val="FFFFFF"/>
            </a:solidFill>
            <a:prstDash val="solid"/>
          </a:ln>
        </p:spPr>
      </p:sp>
      <p:sp>
        <p:nvSpPr>
          <p:cNvPr id="60" name="neuron"/>
          <p:cNvSpPr/>
          <p:nvPr/>
        </p:nvSpPr>
        <p:spPr>
          <a:xfrm>
            <a:off x="3730752" y="2596896"/>
            <a:ext cx="219456" cy="219456"/>
          </a:xfrm>
          <a:prstGeom prst="ellipse">
            <a:avLst/>
          </a:prstGeom>
          <a:solidFill>
            <a:srgbClr val="8B5CF6"/>
          </a:solidFill>
          <a:ln w="12700">
            <a:solidFill>
              <a:srgbClr val="FFFFFF"/>
            </a:solidFill>
            <a:prstDash val="solid"/>
          </a:ln>
        </p:spPr>
      </p:sp>
      <p:sp>
        <p:nvSpPr>
          <p:cNvPr id="61" name="neuron"/>
          <p:cNvSpPr/>
          <p:nvPr/>
        </p:nvSpPr>
        <p:spPr>
          <a:xfrm>
            <a:off x="3730752" y="3017520"/>
            <a:ext cx="219456" cy="219456"/>
          </a:xfrm>
          <a:prstGeom prst="ellipse">
            <a:avLst/>
          </a:prstGeom>
          <a:solidFill>
            <a:srgbClr val="8B5CF6"/>
          </a:solidFill>
          <a:ln w="12700">
            <a:solidFill>
              <a:srgbClr val="FFFFFF"/>
            </a:solidFill>
            <a:prstDash val="solid"/>
          </a:ln>
        </p:spPr>
      </p:sp>
      <p:sp>
        <p:nvSpPr>
          <p:cNvPr id="62" name="neuron"/>
          <p:cNvSpPr/>
          <p:nvPr/>
        </p:nvSpPr>
        <p:spPr>
          <a:xfrm>
            <a:off x="4553712" y="1387602"/>
            <a:ext cx="219456" cy="219456"/>
          </a:xfrm>
          <a:prstGeom prst="ellipse">
            <a:avLst/>
          </a:prstGeom>
          <a:solidFill>
            <a:srgbClr val="8B5CF6"/>
          </a:solidFill>
          <a:ln w="12700">
            <a:solidFill>
              <a:srgbClr val="FFFFFF"/>
            </a:solidFill>
            <a:prstDash val="solid"/>
          </a:ln>
        </p:spPr>
      </p:sp>
      <p:sp>
        <p:nvSpPr>
          <p:cNvPr id="63" name="neuron"/>
          <p:cNvSpPr/>
          <p:nvPr/>
        </p:nvSpPr>
        <p:spPr>
          <a:xfrm>
            <a:off x="4553712" y="1913382"/>
            <a:ext cx="219456" cy="219456"/>
          </a:xfrm>
          <a:prstGeom prst="ellipse">
            <a:avLst/>
          </a:prstGeom>
          <a:solidFill>
            <a:srgbClr val="8B5CF6"/>
          </a:solidFill>
          <a:ln w="12700">
            <a:solidFill>
              <a:srgbClr val="FFFFFF"/>
            </a:solidFill>
            <a:prstDash val="solid"/>
          </a:ln>
        </p:spPr>
      </p:sp>
      <p:sp>
        <p:nvSpPr>
          <p:cNvPr id="64" name="neuron"/>
          <p:cNvSpPr/>
          <p:nvPr/>
        </p:nvSpPr>
        <p:spPr>
          <a:xfrm>
            <a:off x="4553712" y="2439162"/>
            <a:ext cx="219456" cy="219456"/>
          </a:xfrm>
          <a:prstGeom prst="ellipse">
            <a:avLst/>
          </a:prstGeom>
          <a:solidFill>
            <a:srgbClr val="8B5CF6"/>
          </a:solidFill>
          <a:ln w="12700">
            <a:solidFill>
              <a:srgbClr val="FFFFFF"/>
            </a:solidFill>
            <a:prstDash val="solid"/>
          </a:ln>
        </p:spPr>
      </p:sp>
      <p:sp>
        <p:nvSpPr>
          <p:cNvPr id="65" name="neuron"/>
          <p:cNvSpPr/>
          <p:nvPr/>
        </p:nvSpPr>
        <p:spPr>
          <a:xfrm>
            <a:off x="4553712" y="2964942"/>
            <a:ext cx="219456" cy="219456"/>
          </a:xfrm>
          <a:prstGeom prst="ellipse">
            <a:avLst/>
          </a:prstGeom>
          <a:solidFill>
            <a:srgbClr val="8B5CF6"/>
          </a:solidFill>
          <a:ln w="12700">
            <a:solidFill>
              <a:srgbClr val="FFFFFF"/>
            </a:solidFill>
            <a:prstDash val="solid"/>
          </a:ln>
        </p:spPr>
      </p:sp>
      <p:sp>
        <p:nvSpPr>
          <p:cNvPr id="66" name="neuron"/>
          <p:cNvSpPr/>
          <p:nvPr/>
        </p:nvSpPr>
        <p:spPr>
          <a:xfrm>
            <a:off x="5376672" y="1650492"/>
            <a:ext cx="219456" cy="219456"/>
          </a:xfrm>
          <a:prstGeom prst="ellipse">
            <a:avLst/>
          </a:prstGeom>
          <a:solidFill>
            <a:srgbClr val="10B981"/>
          </a:solidFill>
          <a:ln w="12700">
            <a:solidFill>
              <a:srgbClr val="FFFFFF"/>
            </a:solidFill>
            <a:prstDash val="solid"/>
          </a:ln>
        </p:spPr>
      </p:sp>
      <p:sp>
        <p:nvSpPr>
          <p:cNvPr id="67" name="neuron"/>
          <p:cNvSpPr/>
          <p:nvPr/>
        </p:nvSpPr>
        <p:spPr>
          <a:xfrm>
            <a:off x="5376672" y="2702052"/>
            <a:ext cx="219456" cy="219456"/>
          </a:xfrm>
          <a:prstGeom prst="ellipse">
            <a:avLst/>
          </a:prstGeom>
          <a:solidFill>
            <a:srgbClr val="10B981"/>
          </a:solidFill>
          <a:ln w="12700">
            <a:solidFill>
              <a:srgbClr val="FFFFFF"/>
            </a:solidFill>
            <a:prstDash val="solid"/>
          </a:ln>
        </p:spPr>
      </p:sp>
      <p:sp>
        <p:nvSpPr>
          <p:cNvPr id="68" name="Text 66"/>
          <p:cNvSpPr txBox="1"/>
          <p:nvPr/>
        </p:nvSpPr>
        <p:spPr>
          <a:xfrm>
            <a:off x="2743200" y="3429000"/>
            <a:ext cx="3017520" cy="274320"/>
          </a:xfrm>
          <a:prstGeom prst="rect">
            <a:avLst/>
          </a:prstGeom>
          <a:noFill/>
          <a:ln/>
        </p:spPr>
        <p:txBody>
          <a:bodyPr wrap="square" lIns="0" tIns="0" rIns="0" bIns="0" rtlCol="0" anchor="t"/>
          <a:lstStyle/>
          <a:p>
            <a:pPr algn="ctr" indent="0" marL="0">
              <a:buNone/>
            </a:pPr>
            <a:r>
              <a:rPr lang="en-US" sz="1200" dirty="0">
                <a:solidFill>
                  <a:schemeClr val="tx2"/>
                </a:solidFill>
              </a:rPr>
              <a:t>6 → 24 → 16 → 2 neurons</a:t>
            </a:r>
            <a:endParaRPr lang="en-US" sz="1200" dirty="0"/>
          </a:p>
        </p:txBody>
      </p:sp>
      <p:sp>
        <p:nvSpPr>
          <p:cNvPr id="69" name="Text 67"/>
          <p:cNvSpPr txBox="1"/>
          <p:nvPr/>
        </p:nvSpPr>
        <p:spPr>
          <a:xfrm>
            <a:off x="6035040" y="1097280"/>
            <a:ext cx="2651760" cy="320040"/>
          </a:xfrm>
          <a:prstGeom prst="rect">
            <a:avLst/>
          </a:prstGeom>
          <a:noFill/>
          <a:ln/>
        </p:spPr>
        <p:txBody>
          <a:bodyPr wrap="square" lIns="0" tIns="0" rIns="0" bIns="0" rtlCol="0" anchor="t"/>
          <a:lstStyle/>
          <a:p>
            <a:pPr indent="0" marL="0">
              <a:buNone/>
            </a:pPr>
            <a:r>
              <a:rPr lang="en-US" sz="1500" b="1" dirty="0">
                <a:solidFill>
                  <a:srgbClr val="10B981"/>
                </a:solidFill>
              </a:rPr>
              <a:t>Outputs (predicted)</a:t>
            </a:r>
            <a:endParaRPr lang="en-US" sz="1500" dirty="0"/>
          </a:p>
        </p:txBody>
      </p:sp>
      <p:sp>
        <p:nvSpPr>
          <p:cNvPr id="70" name="Text 68"/>
          <p:cNvSpPr txBox="1"/>
          <p:nvPr/>
        </p:nvSpPr>
        <p:spPr>
          <a:xfrm>
            <a:off x="6035040" y="1481328"/>
            <a:ext cx="2651760" cy="7315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Offload time (ms)</a:t>
            </a:r>
            <a:endParaRPr lang="en-US" sz="1400" dirty="0"/>
          </a:p>
          <a:p>
            <a:pPr marL="342900" indent="-342900">
              <a:spcAft>
                <a:spcPts val="400"/>
              </a:spcAft>
              <a:buSzPct val="100000"/>
              <a:buChar char="•"/>
            </a:pPr>
            <a:r>
              <a:rPr lang="en-US" sz="1400" dirty="0">
                <a:solidFill>
                  <a:schemeClr val="tx1"/>
                </a:solidFill>
              </a:rPr>
              <a:t>Offload energy (mJ)</a:t>
            </a:r>
            <a:endParaRPr lang="en-US" sz="1400" dirty="0"/>
          </a:p>
        </p:txBody>
      </p:sp>
      <p:sp>
        <p:nvSpPr>
          <p:cNvPr id="71" name="R² accuracy"/>
          <p:cNvSpPr/>
          <p:nvPr/>
        </p:nvSpPr>
        <p:spPr>
          <a:xfrm>
            <a:off x="457200" y="3794760"/>
            <a:ext cx="260604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2" name="Text 70"/>
          <p:cNvSpPr txBox="1"/>
          <p:nvPr/>
        </p:nvSpPr>
        <p:spPr>
          <a:xfrm>
            <a:off x="640080" y="3840480"/>
            <a:ext cx="1188720" cy="731520"/>
          </a:xfrm>
          <a:prstGeom prst="rect">
            <a:avLst/>
          </a:prstGeom>
          <a:noFill/>
          <a:ln/>
        </p:spPr>
        <p:txBody>
          <a:bodyPr wrap="square" lIns="0" tIns="0" rIns="0" bIns="0" rtlCol="0" anchor="ctr"/>
          <a:lstStyle/>
          <a:p>
            <a:pPr indent="0" marL="0">
              <a:buNone/>
            </a:pPr>
            <a:r>
              <a:rPr lang="en-US" sz="2800" b="1" dirty="0">
                <a:solidFill>
                  <a:srgbClr val="10B981"/>
                </a:solidFill>
              </a:rPr>
              <a:t>0.99</a:t>
            </a:r>
            <a:endParaRPr lang="en-US" sz="2800" dirty="0"/>
          </a:p>
        </p:txBody>
      </p:sp>
      <p:sp>
        <p:nvSpPr>
          <p:cNvPr id="73" name="Text 71"/>
          <p:cNvSpPr txBox="1"/>
          <p:nvPr/>
        </p:nvSpPr>
        <p:spPr>
          <a:xfrm>
            <a:off x="1828800" y="3840480"/>
            <a:ext cx="1143000" cy="731520"/>
          </a:xfrm>
          <a:prstGeom prst="rect">
            <a:avLst/>
          </a:prstGeom>
          <a:noFill/>
          <a:ln/>
        </p:spPr>
        <p:txBody>
          <a:bodyPr wrap="square" lIns="0" tIns="0" rIns="0" bIns="0" rtlCol="0" anchor="ctr"/>
          <a:lstStyle/>
          <a:p>
            <a:pPr indent="0" marL="0">
              <a:buNone/>
            </a:pPr>
            <a:r>
              <a:rPr lang="en-US" sz="1300" dirty="0">
                <a:solidFill>
                  <a:schemeClr val="tx2"/>
                </a:solidFill>
              </a:rPr>
              <a:t>R² accuracy</a:t>
            </a:r>
            <a:endParaRPr lang="en-US" sz="1300" dirty="0"/>
          </a:p>
        </p:txBody>
      </p:sp>
      <p:sp>
        <p:nvSpPr>
          <p:cNvPr id="74" name="typical error"/>
          <p:cNvSpPr/>
          <p:nvPr/>
        </p:nvSpPr>
        <p:spPr>
          <a:xfrm>
            <a:off x="3246120" y="3794760"/>
            <a:ext cx="260604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5" name="Text 73"/>
          <p:cNvSpPr txBox="1"/>
          <p:nvPr/>
        </p:nvSpPr>
        <p:spPr>
          <a:xfrm>
            <a:off x="3429000" y="3840480"/>
            <a:ext cx="1188720" cy="731520"/>
          </a:xfrm>
          <a:prstGeom prst="rect">
            <a:avLst/>
          </a:prstGeom>
          <a:noFill/>
          <a:ln/>
        </p:spPr>
        <p:txBody>
          <a:bodyPr wrap="square" lIns="0" tIns="0" rIns="0" bIns="0" rtlCol="0" anchor="ctr"/>
          <a:lstStyle/>
          <a:p>
            <a:pPr indent="0" marL="0">
              <a:buNone/>
            </a:pPr>
            <a:r>
              <a:rPr lang="en-US" sz="2800" b="1" dirty="0">
                <a:solidFill>
                  <a:srgbClr val="06B6D4"/>
                </a:solidFill>
              </a:rPr>
              <a:t>~5 %</a:t>
            </a:r>
            <a:endParaRPr lang="en-US" sz="2800" dirty="0"/>
          </a:p>
        </p:txBody>
      </p:sp>
      <p:sp>
        <p:nvSpPr>
          <p:cNvPr id="76" name="Text 74"/>
          <p:cNvSpPr txBox="1"/>
          <p:nvPr/>
        </p:nvSpPr>
        <p:spPr>
          <a:xfrm>
            <a:off x="4617720" y="3840480"/>
            <a:ext cx="1143000" cy="731520"/>
          </a:xfrm>
          <a:prstGeom prst="rect">
            <a:avLst/>
          </a:prstGeom>
          <a:noFill/>
          <a:ln/>
        </p:spPr>
        <p:txBody>
          <a:bodyPr wrap="square" lIns="0" tIns="0" rIns="0" bIns="0" rtlCol="0" anchor="ctr"/>
          <a:lstStyle/>
          <a:p>
            <a:pPr indent="0" marL="0">
              <a:buNone/>
            </a:pPr>
            <a:r>
              <a:rPr lang="en-US" sz="1300" dirty="0">
                <a:solidFill>
                  <a:schemeClr val="tx2"/>
                </a:solidFill>
              </a:rPr>
              <a:t>typical error</a:t>
            </a:r>
            <a:endParaRPr lang="en-US" sz="1300" dirty="0"/>
          </a:p>
        </p:txBody>
      </p:sp>
      <p:sp>
        <p:nvSpPr>
          <p:cNvPr id="77" name="training minutes"/>
          <p:cNvSpPr/>
          <p:nvPr/>
        </p:nvSpPr>
        <p:spPr>
          <a:xfrm>
            <a:off x="6035040" y="3794760"/>
            <a:ext cx="2606040" cy="822960"/>
          </a:xfrm>
          <a:prstGeom prst="roundRect">
            <a:avLst>
              <a:gd name="adj" fmla="val 1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8" name="Text 76"/>
          <p:cNvSpPr txBox="1"/>
          <p:nvPr/>
        </p:nvSpPr>
        <p:spPr>
          <a:xfrm>
            <a:off x="6217920" y="3840480"/>
            <a:ext cx="1188720" cy="731520"/>
          </a:xfrm>
          <a:prstGeom prst="rect">
            <a:avLst/>
          </a:prstGeom>
          <a:noFill/>
          <a:ln/>
        </p:spPr>
        <p:txBody>
          <a:bodyPr wrap="square" lIns="0" tIns="0" rIns="0" bIns="0" rtlCol="0" anchor="ctr"/>
          <a:lstStyle/>
          <a:p>
            <a:pPr indent="0" marL="0">
              <a:buNone/>
            </a:pPr>
            <a:r>
              <a:rPr lang="en-US" sz="2800" b="1" dirty="0">
                <a:solidFill>
                  <a:srgbClr val="F59E0B"/>
                </a:solidFill>
              </a:rPr>
              <a:t>8,064</a:t>
            </a:r>
            <a:endParaRPr lang="en-US" sz="2800" dirty="0"/>
          </a:p>
        </p:txBody>
      </p:sp>
      <p:sp>
        <p:nvSpPr>
          <p:cNvPr id="79" name="Text 77"/>
          <p:cNvSpPr txBox="1"/>
          <p:nvPr/>
        </p:nvSpPr>
        <p:spPr>
          <a:xfrm>
            <a:off x="7406640" y="3840480"/>
            <a:ext cx="1143000" cy="731520"/>
          </a:xfrm>
          <a:prstGeom prst="rect">
            <a:avLst/>
          </a:prstGeom>
          <a:noFill/>
          <a:ln/>
        </p:spPr>
        <p:txBody>
          <a:bodyPr wrap="square" lIns="0" tIns="0" rIns="0" bIns="0" rtlCol="0" anchor="ctr"/>
          <a:lstStyle/>
          <a:p>
            <a:pPr indent="0" marL="0">
              <a:buNone/>
            </a:pPr>
            <a:r>
              <a:rPr lang="en-US" sz="1300" dirty="0">
                <a:solidFill>
                  <a:schemeClr val="tx2"/>
                </a:solidFill>
              </a:rPr>
              <a:t>training minutes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ANFIS: learned fuzzy rules decide</a:t>
            </a:r>
            <a:endParaRPr lang="en-US" sz="3000" dirty="0"/>
          </a:p>
        </p:txBody>
      </p:sp>
      <p:sp>
        <p:nvSpPr>
          <p:cNvPr id="3" name="ANN predicts circle"/>
          <p:cNvSpPr/>
          <p:nvPr/>
        </p:nvSpPr>
        <p:spPr>
          <a:xfrm>
            <a:off x="457200" y="1097280"/>
            <a:ext cx="548640" cy="548640"/>
          </a:xfrm>
          <a:prstGeom prst="ellipse">
            <a:avLst/>
          </a:prstGeom>
          <a:solidFill>
            <a:srgbClr val="06B6D4"/>
          </a:solidFill>
          <a:ln w="12700">
            <a:solidFill>
              <a:srgbClr val="06B6D4"/>
            </a:solidFill>
            <a:prstDash val="solid"/>
          </a:ln>
        </p:spPr>
      </p:sp>
      <p:pic>
        <p:nvPicPr>
          <p:cNvPr id="4" name="ANN predicts" descr="preencoded.png">    </p:cNvPr>
          <p:cNvPicPr>
            <a:picLocks noChangeAspect="1"/>
          </p:cNvPicPr>
          <p:nvPr/>
        </p:nvPicPr>
        <p:blipFill>
          <a:blip r:embed="rId1"/>
          <a:stretch>
            <a:fillRect/>
          </a:stretch>
        </p:blipFill>
        <p:spPr>
          <a:xfrm>
            <a:off x="588874" y="1228954"/>
            <a:ext cx="285293" cy="285293"/>
          </a:xfrm>
          <a:prstGeom prst="rect">
            <a:avLst/>
          </a:prstGeom>
        </p:spPr>
      </p:pic>
      <p:sp>
        <p:nvSpPr>
          <p:cNvPr id="5" name="Text 2"/>
          <p:cNvSpPr txBox="1"/>
          <p:nvPr/>
        </p:nvSpPr>
        <p:spPr>
          <a:xfrm>
            <a:off x="1097280" y="1097280"/>
            <a:ext cx="1325880" cy="274320"/>
          </a:xfrm>
          <a:prstGeom prst="rect">
            <a:avLst/>
          </a:prstGeom>
          <a:noFill/>
          <a:ln/>
        </p:spPr>
        <p:txBody>
          <a:bodyPr wrap="square" lIns="0" tIns="0" rIns="0" bIns="0" rtlCol="0" anchor="t"/>
          <a:lstStyle/>
          <a:p>
            <a:pPr indent="0" marL="0">
              <a:buNone/>
            </a:pPr>
            <a:r>
              <a:rPr lang="en-US" sz="1400" b="1" dirty="0">
                <a:solidFill>
                  <a:schemeClr val="tx1"/>
                </a:solidFill>
              </a:rPr>
              <a:t>ANN predicts</a:t>
            </a:r>
            <a:endParaRPr lang="en-US" sz="1400" dirty="0"/>
          </a:p>
        </p:txBody>
      </p:sp>
      <p:sp>
        <p:nvSpPr>
          <p:cNvPr id="6" name="Text 3"/>
          <p:cNvSpPr txBox="1"/>
          <p:nvPr/>
        </p:nvSpPr>
        <p:spPr>
          <a:xfrm>
            <a:off x="1097280" y="1371600"/>
            <a:ext cx="1325880" cy="502920"/>
          </a:xfrm>
          <a:prstGeom prst="rect">
            <a:avLst/>
          </a:prstGeom>
          <a:noFill/>
          <a:ln/>
        </p:spPr>
        <p:txBody>
          <a:bodyPr wrap="square" lIns="0" tIns="0" rIns="0" bIns="0" rtlCol="0" anchor="t"/>
          <a:lstStyle/>
          <a:p>
            <a:pPr indent="0" marL="0">
              <a:buNone/>
            </a:pPr>
            <a:r>
              <a:rPr lang="en-US" sz="1100" dirty="0">
                <a:solidFill>
                  <a:schemeClr val="tx2"/>
                </a:solidFill>
              </a:rPr>
              <a:t>offload time + energy</a:t>
            </a:r>
            <a:endParaRPr lang="en-US" sz="1100" dirty="0"/>
          </a:p>
        </p:txBody>
      </p:sp>
      <p:sp>
        <p:nvSpPr>
          <p:cNvPr id="7" name="Fuzzify 4 inputs circle"/>
          <p:cNvSpPr/>
          <p:nvPr/>
        </p:nvSpPr>
        <p:spPr>
          <a:xfrm>
            <a:off x="2560320" y="1097280"/>
            <a:ext cx="548640" cy="548640"/>
          </a:xfrm>
          <a:prstGeom prst="ellipse">
            <a:avLst/>
          </a:prstGeom>
          <a:solidFill>
            <a:srgbClr val="8B5CF6"/>
          </a:solidFill>
          <a:ln w="12700">
            <a:solidFill>
              <a:srgbClr val="8B5CF6"/>
            </a:solidFill>
            <a:prstDash val="solid"/>
          </a:ln>
        </p:spPr>
      </p:sp>
      <p:pic>
        <p:nvPicPr>
          <p:cNvPr id="8" name="Fuzzify 4 inputs" descr="preencoded.png">    </p:cNvPr>
          <p:cNvPicPr>
            <a:picLocks noChangeAspect="1"/>
          </p:cNvPicPr>
          <p:nvPr/>
        </p:nvPicPr>
        <p:blipFill>
          <a:blip r:embed="rId2"/>
          <a:stretch>
            <a:fillRect/>
          </a:stretch>
        </p:blipFill>
        <p:spPr>
          <a:xfrm>
            <a:off x="2691994" y="1228954"/>
            <a:ext cx="285293" cy="285293"/>
          </a:xfrm>
          <a:prstGeom prst="rect">
            <a:avLst/>
          </a:prstGeom>
        </p:spPr>
      </p:pic>
      <p:sp>
        <p:nvSpPr>
          <p:cNvPr id="9" name="Text 5"/>
          <p:cNvSpPr txBox="1"/>
          <p:nvPr/>
        </p:nvSpPr>
        <p:spPr>
          <a:xfrm>
            <a:off x="3200400" y="1097280"/>
            <a:ext cx="1325880" cy="274320"/>
          </a:xfrm>
          <a:prstGeom prst="rect">
            <a:avLst/>
          </a:prstGeom>
          <a:noFill/>
          <a:ln/>
        </p:spPr>
        <p:txBody>
          <a:bodyPr wrap="square" lIns="0" tIns="0" rIns="0" bIns="0" rtlCol="0" anchor="t"/>
          <a:lstStyle/>
          <a:p>
            <a:pPr indent="0" marL="0">
              <a:buNone/>
            </a:pPr>
            <a:r>
              <a:rPr lang="en-US" sz="1400" b="1" dirty="0">
                <a:solidFill>
                  <a:schemeClr val="tx1"/>
                </a:solidFill>
              </a:rPr>
              <a:t>Fuzzify 4 inputs</a:t>
            </a:r>
            <a:endParaRPr lang="en-US" sz="1400" dirty="0"/>
          </a:p>
        </p:txBody>
      </p:sp>
      <p:sp>
        <p:nvSpPr>
          <p:cNvPr id="10" name="Text 6"/>
          <p:cNvSpPr txBox="1"/>
          <p:nvPr/>
        </p:nvSpPr>
        <p:spPr>
          <a:xfrm>
            <a:off x="3200400" y="1371600"/>
            <a:ext cx="1325880" cy="502920"/>
          </a:xfrm>
          <a:prstGeom prst="rect">
            <a:avLst/>
          </a:prstGeom>
          <a:noFill/>
          <a:ln/>
        </p:spPr>
        <p:txBody>
          <a:bodyPr wrap="square" lIns="0" tIns="0" rIns="0" bIns="0" rtlCol="0" anchor="t"/>
          <a:lstStyle/>
          <a:p>
            <a:pPr indent="0" marL="0">
              <a:buNone/>
            </a:pPr>
            <a:r>
              <a:rPr lang="en-US" sz="1100" dirty="0">
                <a:solidFill>
                  <a:schemeClr val="tx2"/>
                </a:solidFill>
              </a:rPr>
              <a:t>SOC · energy ratio · time gain · server</a:t>
            </a:r>
            <a:endParaRPr lang="en-US" sz="1100" dirty="0"/>
          </a:p>
        </p:txBody>
      </p:sp>
      <p:sp>
        <p:nvSpPr>
          <p:cNvPr id="11" name="36 learned rules circle"/>
          <p:cNvSpPr/>
          <p:nvPr/>
        </p:nvSpPr>
        <p:spPr>
          <a:xfrm>
            <a:off x="4663440" y="1097280"/>
            <a:ext cx="548640" cy="548640"/>
          </a:xfrm>
          <a:prstGeom prst="ellipse">
            <a:avLst/>
          </a:prstGeom>
          <a:solidFill>
            <a:srgbClr val="10B981"/>
          </a:solidFill>
          <a:ln w="12700">
            <a:solidFill>
              <a:srgbClr val="10B981"/>
            </a:solidFill>
            <a:prstDash val="solid"/>
          </a:ln>
        </p:spPr>
      </p:sp>
      <p:pic>
        <p:nvPicPr>
          <p:cNvPr id="12" name="36 learned rules" descr="preencoded.png">    </p:cNvPr>
          <p:cNvPicPr>
            <a:picLocks noChangeAspect="1"/>
          </p:cNvPicPr>
          <p:nvPr/>
        </p:nvPicPr>
        <p:blipFill>
          <a:blip r:embed="rId3"/>
          <a:stretch>
            <a:fillRect/>
          </a:stretch>
        </p:blipFill>
        <p:spPr>
          <a:xfrm>
            <a:off x="4795114" y="1228954"/>
            <a:ext cx="285293" cy="285293"/>
          </a:xfrm>
          <a:prstGeom prst="rect">
            <a:avLst/>
          </a:prstGeom>
        </p:spPr>
      </p:pic>
      <p:sp>
        <p:nvSpPr>
          <p:cNvPr id="13" name="Text 8"/>
          <p:cNvSpPr txBox="1"/>
          <p:nvPr/>
        </p:nvSpPr>
        <p:spPr>
          <a:xfrm>
            <a:off x="5303520" y="1097280"/>
            <a:ext cx="1325880" cy="274320"/>
          </a:xfrm>
          <a:prstGeom prst="rect">
            <a:avLst/>
          </a:prstGeom>
          <a:noFill/>
          <a:ln/>
        </p:spPr>
        <p:txBody>
          <a:bodyPr wrap="square" lIns="0" tIns="0" rIns="0" bIns="0" rtlCol="0" anchor="t"/>
          <a:lstStyle/>
          <a:p>
            <a:pPr indent="0" marL="0">
              <a:buNone/>
            </a:pPr>
            <a:r>
              <a:rPr lang="en-US" sz="1400" b="1" dirty="0">
                <a:solidFill>
                  <a:schemeClr val="tx1"/>
                </a:solidFill>
              </a:rPr>
              <a:t>36 learned rules</a:t>
            </a:r>
            <a:endParaRPr lang="en-US" sz="1400" dirty="0"/>
          </a:p>
        </p:txBody>
      </p:sp>
      <p:sp>
        <p:nvSpPr>
          <p:cNvPr id="14" name="Text 9"/>
          <p:cNvSpPr txBox="1"/>
          <p:nvPr/>
        </p:nvSpPr>
        <p:spPr>
          <a:xfrm>
            <a:off x="5303520" y="1371600"/>
            <a:ext cx="1325880" cy="502920"/>
          </a:xfrm>
          <a:prstGeom prst="rect">
            <a:avLst/>
          </a:prstGeom>
          <a:noFill/>
          <a:ln/>
        </p:spPr>
        <p:txBody>
          <a:bodyPr wrap="square" lIns="0" tIns="0" rIns="0" bIns="0" rtlCol="0" anchor="t"/>
          <a:lstStyle/>
          <a:p>
            <a:pPr indent="0" marL="0">
              <a:buNone/>
            </a:pPr>
            <a:r>
              <a:rPr lang="en-US" sz="1100" dirty="0">
                <a:solidFill>
                  <a:schemeClr val="tx2"/>
                </a:solidFill>
              </a:rPr>
              <a:t>score from 0 to 1</a:t>
            </a:r>
            <a:endParaRPr lang="en-US" sz="1100" dirty="0"/>
          </a:p>
        </p:txBody>
      </p:sp>
      <p:sp>
        <p:nvSpPr>
          <p:cNvPr id="15" name="Decide circle"/>
          <p:cNvSpPr/>
          <p:nvPr/>
        </p:nvSpPr>
        <p:spPr>
          <a:xfrm>
            <a:off x="6766560" y="1097280"/>
            <a:ext cx="548640" cy="548640"/>
          </a:xfrm>
          <a:prstGeom prst="ellipse">
            <a:avLst/>
          </a:prstGeom>
          <a:solidFill>
            <a:srgbClr val="F59E0B"/>
          </a:solidFill>
          <a:ln w="12700">
            <a:solidFill>
              <a:srgbClr val="F59E0B"/>
            </a:solidFill>
            <a:prstDash val="solid"/>
          </a:ln>
        </p:spPr>
      </p:sp>
      <p:pic>
        <p:nvPicPr>
          <p:cNvPr id="16" name="Decide" descr="preencoded.png">    </p:cNvPr>
          <p:cNvPicPr>
            <a:picLocks noChangeAspect="1"/>
          </p:cNvPicPr>
          <p:nvPr/>
        </p:nvPicPr>
        <p:blipFill>
          <a:blip r:embed="rId4"/>
          <a:stretch>
            <a:fillRect/>
          </a:stretch>
        </p:blipFill>
        <p:spPr>
          <a:xfrm>
            <a:off x="6898234" y="1228954"/>
            <a:ext cx="285293" cy="285293"/>
          </a:xfrm>
          <a:prstGeom prst="rect">
            <a:avLst/>
          </a:prstGeom>
        </p:spPr>
      </p:pic>
      <p:sp>
        <p:nvSpPr>
          <p:cNvPr id="17" name="Text 11"/>
          <p:cNvSpPr txBox="1"/>
          <p:nvPr/>
        </p:nvSpPr>
        <p:spPr>
          <a:xfrm>
            <a:off x="7406640" y="1097280"/>
            <a:ext cx="1325880" cy="274320"/>
          </a:xfrm>
          <a:prstGeom prst="rect">
            <a:avLst/>
          </a:prstGeom>
          <a:noFill/>
          <a:ln/>
        </p:spPr>
        <p:txBody>
          <a:bodyPr wrap="square" lIns="0" tIns="0" rIns="0" bIns="0" rtlCol="0" anchor="t"/>
          <a:lstStyle/>
          <a:p>
            <a:pPr indent="0" marL="0">
              <a:buNone/>
            </a:pPr>
            <a:r>
              <a:rPr lang="en-US" sz="1400" b="1" dirty="0">
                <a:solidFill>
                  <a:schemeClr val="tx1"/>
                </a:solidFill>
              </a:rPr>
              <a:t>Decide</a:t>
            </a:r>
            <a:endParaRPr lang="en-US" sz="1400" dirty="0"/>
          </a:p>
        </p:txBody>
      </p:sp>
      <p:sp>
        <p:nvSpPr>
          <p:cNvPr id="18" name="Text 12"/>
          <p:cNvSpPr txBox="1"/>
          <p:nvPr/>
        </p:nvSpPr>
        <p:spPr>
          <a:xfrm>
            <a:off x="7406640" y="1371600"/>
            <a:ext cx="1325880" cy="502920"/>
          </a:xfrm>
          <a:prstGeom prst="rect">
            <a:avLst/>
          </a:prstGeom>
          <a:noFill/>
          <a:ln/>
        </p:spPr>
        <p:txBody>
          <a:bodyPr wrap="square" lIns="0" tIns="0" rIns="0" bIns="0" rtlCol="0" anchor="t"/>
          <a:lstStyle/>
          <a:p>
            <a:pPr indent="0" marL="0">
              <a:buNone/>
            </a:pPr>
            <a:r>
              <a:rPr lang="en-US" sz="1100" dirty="0">
                <a:solidFill>
                  <a:schemeClr val="tx2"/>
                </a:solidFill>
              </a:rPr>
              <a:t>&gt; 0.5 → OFFLOAD, else LOCAL</a:t>
            </a:r>
            <a:endParaRPr lang="en-US" sz="1100" dirty="0"/>
          </a:p>
        </p:txBody>
      </p:sp>
      <p:sp>
        <p:nvSpPr>
          <p:cNvPr id="19" name="worked example"/>
          <p:cNvSpPr/>
          <p:nvPr/>
        </p:nvSpPr>
        <p:spPr>
          <a:xfrm>
            <a:off x="457200" y="2103120"/>
            <a:ext cx="8229600" cy="2377440"/>
          </a:xfrm>
          <a:prstGeom prst="roundRect">
            <a:avLst>
              <a:gd name="adj" fmla="val 461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Text 14"/>
          <p:cNvSpPr txBox="1"/>
          <p:nvPr/>
        </p:nvSpPr>
        <p:spPr>
          <a:xfrm>
            <a:off x="685800" y="2240280"/>
            <a:ext cx="4572000" cy="320040"/>
          </a:xfrm>
          <a:prstGeom prst="rect">
            <a:avLst/>
          </a:prstGeom>
          <a:noFill/>
          <a:ln/>
        </p:spPr>
        <p:txBody>
          <a:bodyPr wrap="square" lIns="0" tIns="0" rIns="0" bIns="0" rtlCol="0" anchor="t"/>
          <a:lstStyle/>
          <a:p>
            <a:pPr indent="0" marL="0">
              <a:buNone/>
            </a:pPr>
            <a:r>
              <a:rPr lang="en-US" sz="1600" b="1" dirty="0">
                <a:solidFill>
                  <a:srgbClr val="EC4899"/>
                </a:solidFill>
              </a:rPr>
              <a:t>Real example: Day 1, 12:34 pm</a:t>
            </a:r>
            <a:endParaRPr lang="en-US" sz="1600" dirty="0"/>
          </a:p>
        </p:txBody>
      </p:sp>
      <p:sp>
        <p:nvSpPr>
          <p:cNvPr id="21" name="Text 15"/>
          <p:cNvSpPr txBox="1"/>
          <p:nvPr/>
        </p:nvSpPr>
        <p:spPr>
          <a:xfrm>
            <a:off x="685800" y="2651760"/>
            <a:ext cx="47548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FFT task, 105 KB · battery 27.6 % · server 69 % busy</a:t>
            </a:r>
            <a:endParaRPr lang="en-US" sz="1400" dirty="0"/>
          </a:p>
          <a:p>
            <a:pPr marL="342900" indent="-342900">
              <a:spcAft>
                <a:spcPts val="600"/>
              </a:spcAft>
              <a:buSzPct val="100000"/>
              <a:buChar char="•"/>
            </a:pPr>
            <a:r>
              <a:rPr lang="en-US" sz="1400" dirty="0">
                <a:solidFill>
                  <a:schemeClr val="tx1"/>
                </a:solidFill>
              </a:rPr>
              <a:t>ANN: offload ≈ 180 ms, 83.6 mJ (real 179 ms, 81 mJ)</a:t>
            </a:r>
            <a:endParaRPr lang="en-US" sz="1400" dirty="0"/>
          </a:p>
          <a:p>
            <a:pPr marL="342900" indent="-342900">
              <a:spcAft>
                <a:spcPts val="600"/>
              </a:spcAft>
              <a:buSzPct val="100000"/>
              <a:buChar char="•"/>
            </a:pPr>
            <a:r>
              <a:rPr lang="en-US" sz="1400" dirty="0">
                <a:solidFill>
                  <a:schemeClr val="tx1"/>
                </a:solidFill>
              </a:rPr>
              <a:t>Local: 385 ms, 46 mJ, so offload is faster but costs ~1.8× the energy</a:t>
            </a:r>
            <a:endParaRPr lang="en-US" sz="1400" dirty="0"/>
          </a:p>
        </p:txBody>
      </p:sp>
      <p:sp>
        <p:nvSpPr>
          <p:cNvPr id="22" name="fired rule"/>
          <p:cNvSpPr/>
          <p:nvPr/>
        </p:nvSpPr>
        <p:spPr>
          <a:xfrm>
            <a:off x="5623560" y="2331720"/>
            <a:ext cx="2834640" cy="1965960"/>
          </a:xfrm>
          <a:prstGeom prst="roundRect">
            <a:avLst>
              <a:gd name="adj" fmla="val 5581"/>
            </a:avLst>
          </a:prstGeom>
          <a:solidFill>
            <a:srgbClr val="0F172A"/>
          </a:solidFill>
          <a:ln w="12700">
            <a:solidFill>
              <a:srgbClr val="0F172A"/>
            </a:solidFill>
            <a:prstDash val="solid"/>
          </a:ln>
          <a:effectLst>
            <a:outerShdw sx="100000" sy="100000" kx="0" ky="0" algn="bl" rotWithShape="0" blurRad="76200" dist="25400" dir="5400000">
              <a:srgbClr val="000000">
                <a:alpha val="12000"/>
              </a:srgbClr>
            </a:outerShdw>
          </a:effectLst>
        </p:spPr>
      </p:sp>
      <p:sp>
        <p:nvSpPr>
          <p:cNvPr id="23" name="Text 17"/>
          <p:cNvSpPr txBox="1"/>
          <p:nvPr/>
        </p:nvSpPr>
        <p:spPr>
          <a:xfrm>
            <a:off x="5806440" y="2468880"/>
            <a:ext cx="2468880" cy="274320"/>
          </a:xfrm>
          <a:prstGeom prst="rect">
            <a:avLst/>
          </a:prstGeom>
          <a:noFill/>
          <a:ln/>
        </p:spPr>
        <p:txBody>
          <a:bodyPr wrap="square" lIns="0" tIns="0" rIns="0" bIns="0" rtlCol="0" anchor="t"/>
          <a:lstStyle/>
          <a:p>
            <a:pPr indent="0" marL="0">
              <a:buNone/>
            </a:pPr>
            <a:r>
              <a:rPr lang="en-US" sz="1200" dirty="0">
                <a:solidFill>
                  <a:srgbClr val="94A3B8"/>
                </a:solidFill>
              </a:rPr>
              <a:t>Strongest rule (50 %)</a:t>
            </a:r>
            <a:endParaRPr lang="en-US" sz="1200" dirty="0"/>
          </a:p>
        </p:txBody>
      </p:sp>
      <p:sp>
        <p:nvSpPr>
          <p:cNvPr id="24" name="Text 18"/>
          <p:cNvSpPr txBox="1"/>
          <p:nvPr/>
        </p:nvSpPr>
        <p:spPr>
          <a:xfrm>
            <a:off x="5806440" y="2743200"/>
            <a:ext cx="2468880" cy="822960"/>
          </a:xfrm>
          <a:prstGeom prst="rect">
            <a:avLst/>
          </a:prstGeom>
          <a:noFill/>
          <a:ln/>
        </p:spPr>
        <p:txBody>
          <a:bodyPr wrap="square" lIns="0" tIns="0" rIns="0" bIns="0" rtlCol="0" anchor="t"/>
          <a:lstStyle/>
          <a:p>
            <a:pPr indent="0" marL="0">
              <a:buNone/>
            </a:pPr>
            <a:r>
              <a:rPr lang="en-US" sz="1300" dirty="0">
                <a:solidFill>
                  <a:schemeClr val="bg1"/>
                </a:solidFill>
              </a:rPr>
              <a:t>SOC Medium · Energy Similar · Time gain Small · Server Busy</a:t>
            </a:r>
            <a:endParaRPr lang="en-US" sz="1300" dirty="0"/>
          </a:p>
        </p:txBody>
      </p:sp>
      <p:sp>
        <p:nvSpPr>
          <p:cNvPr id="25" name="Text 19"/>
          <p:cNvSpPr txBox="1"/>
          <p:nvPr/>
        </p:nvSpPr>
        <p:spPr>
          <a:xfrm>
            <a:off x="5806440" y="3657600"/>
            <a:ext cx="2468880" cy="365760"/>
          </a:xfrm>
          <a:prstGeom prst="rect">
            <a:avLst/>
          </a:prstGeom>
          <a:noFill/>
          <a:ln/>
        </p:spPr>
        <p:txBody>
          <a:bodyPr wrap="square" lIns="0" tIns="0" rIns="0" bIns="0" rtlCol="0" anchor="t"/>
          <a:lstStyle/>
          <a:p>
            <a:pPr indent="0" marL="0">
              <a:buNone/>
            </a:pPr>
            <a:r>
              <a:rPr lang="en-US" sz="1600" b="1" dirty="0">
                <a:solidFill>
                  <a:srgbClr val="10B981"/>
                </a:solidFill>
              </a:rPr>
              <a:t>→ LOCAL (score 0.16) ✓</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Results on an unseen week</a:t>
            </a:r>
            <a:endParaRPr lang="en-US" sz="3000" dirty="0"/>
          </a:p>
        </p:txBody>
      </p:sp>
      <p:graphicFrame>
        <p:nvGraphicFramePr>
          <p:cNvPr id="3" name="agreement chart" descr=""/>
          <p:cNvGraphicFramePr/>
          <p:nvPr/>
        </p:nvGraphicFramePr>
        <p:xfrm>
          <a:off x="457200" y="1097280"/>
          <a:ext cx="4480560" cy="3383280"/>
        </p:xfrm>
        <a:graphic xmlns:a="http://schemas.openxmlformats.org/drawingml/2006/main">
          <a:graphicData uri="http://schemas.openxmlformats.org/drawingml/2006/chart">
            <c:chart xmlns:c="http://schemas.openxmlformats.org/drawingml/2006/chart" r:id="rId1"/>
          </a:graphicData>
        </a:graphic>
      </p:graphicFrame>
      <p:sp>
        <p:nvSpPr>
          <p:cNvPr id="4" name="least task energy"/>
          <p:cNvSpPr/>
          <p:nvPr/>
        </p:nvSpPr>
        <p:spPr>
          <a:xfrm>
            <a:off x="5257800" y="1143000"/>
            <a:ext cx="3429000" cy="960120"/>
          </a:xfrm>
          <a:prstGeom prst="roundRect">
            <a:avLst>
              <a:gd name="adj" fmla="val 11429"/>
            </a:avLst>
          </a:prstGeom>
          <a:solidFill>
            <a:srgbClr val="1E293B"/>
          </a:solidFill>
          <a:ln w="12700">
            <a:solidFill>
              <a:srgbClr val="1E293B"/>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5440680" y="1234440"/>
            <a:ext cx="1325880" cy="777240"/>
          </a:xfrm>
          <a:prstGeom prst="rect">
            <a:avLst/>
          </a:prstGeom>
          <a:noFill/>
          <a:ln/>
        </p:spPr>
        <p:txBody>
          <a:bodyPr wrap="square" lIns="0" tIns="0" rIns="0" bIns="0" rtlCol="0" anchor="ctr"/>
          <a:lstStyle/>
          <a:p>
            <a:pPr indent="0" marL="0">
              <a:buNone/>
            </a:pPr>
            <a:r>
              <a:rPr lang="en-US" sz="3000" b="1" dirty="0">
                <a:solidFill>
                  <a:srgbClr val="10B981"/>
                </a:solidFill>
              </a:rPr>
              <a:t>932 J</a:t>
            </a:r>
            <a:endParaRPr lang="en-US" sz="3000" dirty="0"/>
          </a:p>
        </p:txBody>
      </p:sp>
      <p:sp>
        <p:nvSpPr>
          <p:cNvPr id="6" name="Text 3"/>
          <p:cNvSpPr txBox="1"/>
          <p:nvPr/>
        </p:nvSpPr>
        <p:spPr>
          <a:xfrm>
            <a:off x="6812280" y="1298448"/>
            <a:ext cx="1783080" cy="320040"/>
          </a:xfrm>
          <a:prstGeom prst="rect">
            <a:avLst/>
          </a:prstGeom>
          <a:noFill/>
          <a:ln/>
        </p:spPr>
        <p:txBody>
          <a:bodyPr wrap="square" lIns="0" tIns="0" rIns="0" bIns="0" rtlCol="0" anchor="t"/>
          <a:lstStyle/>
          <a:p>
            <a:pPr indent="0" marL="0">
              <a:buNone/>
            </a:pPr>
            <a:r>
              <a:rPr lang="en-US" sz="1400" b="1" dirty="0">
                <a:solidFill>
                  <a:schemeClr val="bg1"/>
                </a:solidFill>
              </a:rPr>
              <a:t>least task energy</a:t>
            </a:r>
            <a:endParaRPr lang="en-US" sz="1400" dirty="0"/>
          </a:p>
        </p:txBody>
      </p:sp>
      <p:sp>
        <p:nvSpPr>
          <p:cNvPr id="7" name="Text 4"/>
          <p:cNvSpPr txBox="1"/>
          <p:nvPr/>
        </p:nvSpPr>
        <p:spPr>
          <a:xfrm>
            <a:off x="6812280" y="1618488"/>
            <a:ext cx="1783080" cy="365760"/>
          </a:xfrm>
          <a:prstGeom prst="rect">
            <a:avLst/>
          </a:prstGeom>
          <a:noFill/>
          <a:ln/>
        </p:spPr>
        <p:txBody>
          <a:bodyPr wrap="square" lIns="0" tIns="0" rIns="0" bIns="0" rtlCol="0" anchor="t"/>
          <a:lstStyle/>
          <a:p>
            <a:pPr indent="0" marL="0">
              <a:buNone/>
            </a:pPr>
            <a:r>
              <a:rPr lang="en-US" sz="1100" dirty="0">
                <a:solidFill>
                  <a:srgbClr val="94A3B8"/>
                </a:solidFill>
              </a:rPr>
              <a:t>−4.7 % vs fuzzy</a:t>
            </a:r>
            <a:endParaRPr lang="en-US" sz="1100" dirty="0"/>
          </a:p>
        </p:txBody>
      </p:sp>
      <p:sp>
        <p:nvSpPr>
          <p:cNvPr id="8" name="deadline misses"/>
          <p:cNvSpPr/>
          <p:nvPr/>
        </p:nvSpPr>
        <p:spPr>
          <a:xfrm>
            <a:off x="5257800" y="2240280"/>
            <a:ext cx="3429000" cy="960120"/>
          </a:xfrm>
          <a:prstGeom prst="roundRect">
            <a:avLst>
              <a:gd name="adj" fmla="val 11429"/>
            </a:avLst>
          </a:prstGeom>
          <a:solidFill>
            <a:srgbClr val="1E293B"/>
          </a:solidFill>
          <a:ln w="12700">
            <a:solidFill>
              <a:srgbClr val="1E293B"/>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5440680" y="2331720"/>
            <a:ext cx="1325880" cy="777240"/>
          </a:xfrm>
          <a:prstGeom prst="rect">
            <a:avLst/>
          </a:prstGeom>
          <a:noFill/>
          <a:ln/>
        </p:spPr>
        <p:txBody>
          <a:bodyPr wrap="square" lIns="0" tIns="0" rIns="0" bIns="0" rtlCol="0" anchor="ctr"/>
          <a:lstStyle/>
          <a:p>
            <a:pPr indent="0" marL="0">
              <a:buNone/>
            </a:pPr>
            <a:r>
              <a:rPr lang="en-US" sz="3000" b="1" dirty="0">
                <a:solidFill>
                  <a:srgbClr val="F59E0B"/>
                </a:solidFill>
              </a:rPr>
              <a:t>9</a:t>
            </a:r>
            <a:endParaRPr lang="en-US" sz="3000" dirty="0"/>
          </a:p>
        </p:txBody>
      </p:sp>
      <p:sp>
        <p:nvSpPr>
          <p:cNvPr id="10" name="Text 7"/>
          <p:cNvSpPr txBox="1"/>
          <p:nvPr/>
        </p:nvSpPr>
        <p:spPr>
          <a:xfrm>
            <a:off x="6812280" y="2395728"/>
            <a:ext cx="1783080" cy="320040"/>
          </a:xfrm>
          <a:prstGeom prst="rect">
            <a:avLst/>
          </a:prstGeom>
          <a:noFill/>
          <a:ln/>
        </p:spPr>
        <p:txBody>
          <a:bodyPr wrap="square" lIns="0" tIns="0" rIns="0" bIns="0" rtlCol="0" anchor="t"/>
          <a:lstStyle/>
          <a:p>
            <a:pPr indent="0" marL="0">
              <a:buNone/>
            </a:pPr>
            <a:r>
              <a:rPr lang="en-US" sz="1400" b="1" dirty="0">
                <a:solidFill>
                  <a:schemeClr val="bg1"/>
                </a:solidFill>
              </a:rPr>
              <a:t>deadline misses</a:t>
            </a:r>
            <a:endParaRPr lang="en-US" sz="1400" dirty="0"/>
          </a:p>
        </p:txBody>
      </p:sp>
      <p:sp>
        <p:nvSpPr>
          <p:cNvPr id="11" name="Text 8"/>
          <p:cNvSpPr txBox="1"/>
          <p:nvPr/>
        </p:nvSpPr>
        <p:spPr>
          <a:xfrm>
            <a:off x="6812280" y="2715768"/>
            <a:ext cx="1783080" cy="365760"/>
          </a:xfrm>
          <a:prstGeom prst="rect">
            <a:avLst/>
          </a:prstGeom>
          <a:noFill/>
          <a:ln/>
        </p:spPr>
        <p:txBody>
          <a:bodyPr wrap="square" lIns="0" tIns="0" rIns="0" bIns="0" rtlCol="0" anchor="t"/>
          <a:lstStyle/>
          <a:p>
            <a:pPr indent="0" marL="0">
              <a:buNone/>
            </a:pPr>
            <a:r>
              <a:rPr lang="en-US" sz="1100" dirty="0">
                <a:solidFill>
                  <a:srgbClr val="94A3B8"/>
                </a:solidFill>
              </a:rPr>
              <a:t>vs 11 (ANN) and 16 (fuzzy)</a:t>
            </a:r>
            <a:endParaRPr lang="en-US" sz="1100" dirty="0"/>
          </a:p>
        </p:txBody>
      </p:sp>
      <p:sp>
        <p:nvSpPr>
          <p:cNvPr id="12" name="explains every decision"/>
          <p:cNvSpPr/>
          <p:nvPr/>
        </p:nvSpPr>
        <p:spPr>
          <a:xfrm>
            <a:off x="5257800" y="3337560"/>
            <a:ext cx="3429000" cy="960120"/>
          </a:xfrm>
          <a:prstGeom prst="roundRect">
            <a:avLst>
              <a:gd name="adj" fmla="val 11429"/>
            </a:avLst>
          </a:prstGeom>
          <a:solidFill>
            <a:srgbClr val="1E293B"/>
          </a:solidFill>
          <a:ln w="12700">
            <a:solidFill>
              <a:srgbClr val="1E293B"/>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5440680" y="3429000"/>
            <a:ext cx="1325880" cy="777240"/>
          </a:xfrm>
          <a:prstGeom prst="rect">
            <a:avLst/>
          </a:prstGeom>
          <a:noFill/>
          <a:ln/>
        </p:spPr>
        <p:txBody>
          <a:bodyPr wrap="square" lIns="0" tIns="0" rIns="0" bIns="0" rtlCol="0" anchor="ctr"/>
          <a:lstStyle/>
          <a:p>
            <a:pPr indent="0" marL="0">
              <a:buNone/>
            </a:pPr>
            <a:r>
              <a:rPr lang="en-US" sz="3000" b="1" dirty="0">
                <a:solidFill>
                  <a:srgbClr val="06B6D4"/>
                </a:solidFill>
              </a:rPr>
              <a:t>Yes</a:t>
            </a:r>
            <a:endParaRPr lang="en-US" sz="3000" dirty="0"/>
          </a:p>
        </p:txBody>
      </p:sp>
      <p:sp>
        <p:nvSpPr>
          <p:cNvPr id="14" name="Text 11"/>
          <p:cNvSpPr txBox="1"/>
          <p:nvPr/>
        </p:nvSpPr>
        <p:spPr>
          <a:xfrm>
            <a:off x="6812280" y="3493008"/>
            <a:ext cx="1783080" cy="320040"/>
          </a:xfrm>
          <a:prstGeom prst="rect">
            <a:avLst/>
          </a:prstGeom>
          <a:noFill/>
          <a:ln/>
        </p:spPr>
        <p:txBody>
          <a:bodyPr wrap="square" lIns="0" tIns="0" rIns="0" bIns="0" rtlCol="0" anchor="t"/>
          <a:lstStyle/>
          <a:p>
            <a:pPr indent="0" marL="0">
              <a:buNone/>
            </a:pPr>
            <a:r>
              <a:rPr lang="en-US" sz="1400" b="1" dirty="0">
                <a:solidFill>
                  <a:schemeClr val="bg1"/>
                </a:solidFill>
              </a:rPr>
              <a:t>explains every decision</a:t>
            </a:r>
            <a:endParaRPr lang="en-US" sz="1400" dirty="0"/>
          </a:p>
        </p:txBody>
      </p:sp>
      <p:sp>
        <p:nvSpPr>
          <p:cNvPr id="15" name="Text 12"/>
          <p:cNvSpPr txBox="1"/>
          <p:nvPr/>
        </p:nvSpPr>
        <p:spPr>
          <a:xfrm>
            <a:off x="6812280" y="3813048"/>
            <a:ext cx="1783080" cy="365760"/>
          </a:xfrm>
          <a:prstGeom prst="rect">
            <a:avLst/>
          </a:prstGeom>
          <a:noFill/>
          <a:ln/>
        </p:spPr>
        <p:txBody>
          <a:bodyPr wrap="square" lIns="0" tIns="0" rIns="0" bIns="0" rtlCol="0" anchor="t"/>
          <a:lstStyle/>
          <a:p>
            <a:pPr indent="0" marL="0">
              <a:buNone/>
            </a:pPr>
            <a:r>
              <a:rPr lang="en-US" sz="1100" dirty="0">
                <a:solidFill>
                  <a:srgbClr val="94A3B8"/>
                </a:solidFill>
              </a:rPr>
              <a:t>the ANN alone cannot</a:t>
            </a:r>
            <a:endParaRPr lang="en-US" sz="1100" dirty="0"/>
          </a:p>
        </p:txBody>
      </p:sp>
      <p:sp>
        <p:nvSpPr>
          <p:cNvPr id="16" name="Text 13"/>
          <p:cNvSpPr txBox="1"/>
          <p:nvPr/>
        </p:nvSpPr>
        <p:spPr>
          <a:xfrm>
            <a:off x="457200" y="4572000"/>
            <a:ext cx="7589520" cy="320040"/>
          </a:xfrm>
          <a:prstGeom prst="rect">
            <a:avLst/>
          </a:prstGeom>
          <a:noFill/>
          <a:ln/>
        </p:spPr>
        <p:txBody>
          <a:bodyPr wrap="square" lIns="0" tIns="0" rIns="0" bIns="0" rtlCol="0" anchor="t"/>
          <a:lstStyle/>
          <a:p>
            <a:pPr indent="0" marL="0">
              <a:buNone/>
            </a:pPr>
            <a:r>
              <a:rPr lang="en-US" sz="1200" i="1" dirty="0">
                <a:solidFill>
                  <a:srgbClr val="CBD5E1"/>
                </a:solidFill>
              </a:rPr>
              <a:t>Twin = world, teacher and exam · ANN = predicts the unknown · ANFIS = explainable decision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Solar Twin">
  <a:themeElements>
    <a:clrScheme name="Solar Twin">
      <a:dk1>
        <a:srgbClr val="0F172A"/>
      </a:dk1>
      <a:lt1>
        <a:srgbClr val="FFFFFF"/>
      </a:lt1>
      <a:dk2>
        <a:srgbClr val="334155"/>
      </a:dk2>
      <a:lt2>
        <a:srgbClr val="F1F5F9"/>
      </a:lt2>
      <a:accent1>
        <a:srgbClr val="F59E0B"/>
      </a:accent1>
      <a:accent2>
        <a:srgbClr val="10B981"/>
      </a:accent2>
      <a:accent3>
        <a:srgbClr val="06B6D4"/>
      </a:accent3>
      <a:accent4>
        <a:srgbClr val="8B5CF6"/>
      </a:accent4>
      <a:accent5>
        <a:srgbClr val="6366F1"/>
      </a:accent5>
      <a:accent6>
        <a:srgbClr val="EC4899"/>
      </a:accent6>
      <a:hlink>
        <a:srgbClr val="06B6D4"/>
      </a:hlink>
      <a:folHlink>
        <a:srgbClr val="8B5CF6"/>
      </a:folHlink>
    </a:clrScheme>
    <a:fontScheme name="Solar Twi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IoT Digital Twin with ANN + ANFIS</dc:title>
  <dc:subject>PptxGenJS Presentation</dc:subject>
  <dc:creator>Rohith Sivakumar</dc:creator>
  <cp:lastModifiedBy>Rohith Sivakumar</cp:lastModifiedBy>
  <cp:revision>1</cp:revision>
  <dcterms:created xsi:type="dcterms:W3CDTF">2026-10-15T03:49:13Z</dcterms:created>
  <dcterms:modified xsi:type="dcterms:W3CDTF">2026-10-15T03:49:13Z</dcterms:modified>
</cp:coreProperties>
</file>