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ohith - Opening" id="{5d327698-f793-bcec-ac6d-e0401b0df087}">
          <p14:sldIdLst>
            <p14:sldId id="256"/>
            <p14:sldId id="257"/>
          </p14:sldIdLst>
        </p14:section>
        <p14:section name="Sanjith - Digital twin and dataset" id="{2d9ed48b-a044-8498-d2c9-0522f85d17c1}">
          <p14:sldIdLst>
            <p14:sldId id="258"/>
            <p14:sldId id="259"/>
          </p14:sldIdLst>
        </p14:section>
        <p14:section name="Darshan - Network and baselines" id="{8ae4e0b8-ac19-e250-b324-7ebfbebb79fb}">
          <p14:sldIdLst>
            <p14:sldId id="260"/>
            <p14:sldId id="261"/>
          </p14:sldIdLst>
        </p14:section>
        <p14:section name="Rohith - ANN predictor" id="{993f2eaa-5a7f-25da-cdcb-8ef79f12d5e7}">
          <p14:sldIdLst>
            <p14:sldId id="262"/>
            <p14:sldId id="263"/>
          </p14:sldIdLst>
        </p14:section>
        <p14:section name="Vishaanth - ANFIS and hybrid" id="{c48a10e4-37c6-4f4e-85a5-4ea1ebfd6c62}">
          <p14:sldIdLst>
            <p14:sldId id="264"/>
            <p14:sldId id="265"/>
            <p14:sldId id="266"/>
          </p14:sldIdLst>
        </p14:section>
        <p14:section name="Darshan - Results" id="{be1cb5c5-35f2-c860-2e0e-2e87f3cdd967}">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How much slower the edge gets as it fills up</a:t>
            </a:r>
          </a:p>
        </c:rich>
      </c:tx>
      <c:layout/>
      <c:overlay val="0"/>
    </c:title>
    <c:autoTitleDeleted val="0"/>
    <c:plotArea>
      <c:layout/>
      <c:lineChart>
        <c:varyColors val="0"/>
        <c:ser>
          <c:idx val="0"/>
          <c:order val="0"/>
          <c:tx>
            <c:strRef>
              <c:f>Sheet1!$B$1</c:f>
              <c:strCache>
                <c:ptCount val="1"/>
                <c:pt idx="0">
                  <c:v>Slow-down</c:v>
                </c:pt>
              </c:strCache>
            </c:strRef>
          </c:tx>
          <c:spPr>
            <a:solidFill>
              <a:srgbClr val="2F6F73"/>
            </a:solidFill>
            <a:ln w="31750" cap="flat">
              <a:solidFill>
                <a:srgbClr val="2F6F73"/>
              </a:solidFill>
              <a:prstDash val="solid"/>
              <a:round/>
            </a:ln>
            <a:effectLst/>
          </c:spPr>
          <c:invertIfNegative val="0"/>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c:symbol val="circle"/>
            <c:size val="6"/>
            <c:spPr>
              <a:solidFill>
                <a:srgbClr val="2F6F73"/>
              </a:solidFill>
              <a:ln w="9525" cap="flat">
                <a:solidFill>
                  <a:srgbClr val="2F6F73"/>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95</c:v>
                  </c:pt>
                </c:lvl>
              </c:multiLvlStrCache>
            </c:multiLvlStrRef>
          </c:cat>
          <c:val>
            <c:numRef>
              <c:f>Sheet1!$B$2:$B$12</c:f>
              <c:numCache>
                <c:formatCode>General</c:formatCode>
                <c:ptCount val="11"/>
                <c:pt idx="0">
                  <c:v>1</c:v>
                </c:pt>
                <c:pt idx="1">
                  <c:v>1.11</c:v>
                </c:pt>
                <c:pt idx="2">
                  <c:v>1.25</c:v>
                </c:pt>
                <c:pt idx="3">
                  <c:v>1.43</c:v>
                </c:pt>
                <c:pt idx="4">
                  <c:v>1.67</c:v>
                </c:pt>
                <c:pt idx="5">
                  <c:v>2</c:v>
                </c:pt>
                <c:pt idx="6">
                  <c:v>2.5</c:v>
                </c:pt>
                <c:pt idx="7">
                  <c:v>3.33</c:v>
                </c:pt>
                <c:pt idx="8">
                  <c:v>5</c:v>
                </c:pt>
                <c:pt idx="9">
                  <c:v>10</c:v>
                </c:pt>
                <c:pt idx="10">
                  <c:v>20</c:v>
                </c:pt>
              </c:numCache>
            </c:numRef>
          </c:val>
          <c:smooth val="0"/>
        </c:ser>
        <c:dLbls>
          <c:numFmt formatCode="#,##0" sourceLinked="0"/>
          <c:txPr>
            <a:bodyPr/>
            <a:lstStyle/>
            <a:p>
              <a:pPr>
                <a:defRPr b="0" i="0" strike="noStrike" sz="12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2606D"/>
                    </a:solidFill>
                    <a:latin typeface="+mn-lt"/>
                  </a:defRPr>
                </a:pPr>
                <a:r>
                  <a:rPr sz="1100" b="0" i="0" u="none" strike="noStrike">
                    <a:solidFill>
                      <a:srgbClr val="52606D"/>
                    </a:solidFill>
                    <a:latin typeface="+mn-lt"/>
                  </a:rPr>
                  <a:t>Server load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7EB"/>
              </a:solidFill>
              <a:prstDash val="solid"/>
              <a:round/>
            </a:ln>
          </c:spPr>
        </c:majorGridlines>
        <c:title>
          <c:tx>
            <c:rich>
              <a:bodyPr/>
              <a:lstStyle/>
              <a:p>
                <a:pPr>
                  <a:defRPr sz="1100" b="0" i="0" u="none" strike="noStrike">
                    <a:solidFill>
                      <a:srgbClr val="52606D"/>
                    </a:solidFill>
                    <a:latin typeface="+mn-lt"/>
                  </a:defRPr>
                </a:pPr>
                <a:r>
                  <a:rPr sz="1100" b="0" i="0" u="none" strike="noStrike">
                    <a:solidFill>
                      <a:srgbClr val="52606D"/>
                    </a:solidFill>
                    <a:latin typeface="+mn-lt"/>
                  </a:rPr>
                  <a:t>Times slower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Remove one input and retrain: time accuracy (R²)</a:t>
            </a:r>
          </a:p>
        </c:rich>
      </c:tx>
      <c:layout/>
      <c:overlay val="0"/>
    </c:title>
    <c:autoTitleDeleted val="0"/>
    <c:plotArea>
      <c:layout/>
      <c:barChart>
        <c:barDir val="bar"/>
        <c:grouping val="clustered"/>
        <c:varyColors val="0"/>
        <c:ser>
          <c:idx val="0"/>
          <c:order val="0"/>
          <c:tx>
            <c:strRef>
              <c:f>Sheet1!$B$1</c:f>
              <c:strCache>
                <c:ptCount val="1"/>
                <c:pt idx="0">
                  <c:v>Time accuracy (R²)</c:v>
                </c:pt>
              </c:strCache>
            </c:strRef>
          </c:tx>
          <c:spPr>
            <a:solidFill>
              <a:srgbClr val="2F6F73"/>
            </a:solidFill>
            <a:effectLst/>
          </c:spPr>
          <c:invertIfNegative val="0"/>
          <c:dLbls>
            <c:numFmt formatCode="0.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Sheet1!$A$2:$A$7</c:f>
              <c:multiLvlStrCache>
                <c:ptCount val="6"/>
                <c:lvl>
                  <c:pt idx="0">
                    <c:v>All inputs</c:v>
                  </c:pt>
                  <c:pt idx="1">
                    <c:v>No task size</c:v>
                  </c:pt>
                  <c:pt idx="2">
                    <c:v>No work per byte</c:v>
                  </c:pt>
                  <c:pt idx="3">
                    <c:v>No last signal</c:v>
                  </c:pt>
                  <c:pt idx="4">
                    <c:v>No server load</c:v>
                  </c:pt>
                  <c:pt idx="5">
                    <c:v>No hour</c:v>
                  </c:pt>
                </c:lvl>
              </c:multiLvlStrCache>
            </c:multiLvlStrRef>
          </c:cat>
          <c:val>
            <c:numRef>
              <c:f>Sheet1!$B$2:$B$7</c:f>
              <c:numCache>
                <c:formatCode>General</c:formatCode>
                <c:ptCount val="6"/>
                <c:pt idx="0">
                  <c:v>0.989</c:v>
                </c:pt>
                <c:pt idx="1">
                  <c:v>0.924</c:v>
                </c:pt>
                <c:pt idx="2">
                  <c:v>0.949</c:v>
                </c:pt>
                <c:pt idx="3">
                  <c:v>0.968</c:v>
                </c:pt>
                <c:pt idx="4">
                  <c:v>0.978</c:v>
                </c:pt>
                <c:pt idx="5">
                  <c:v>0.988</c:v>
                </c:pt>
              </c:numCache>
            </c:numRef>
          </c:val>
        </c:ser>
        <c:dLbls>
          <c:numFmt formatCode="0.0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1"/>
          <c:min val="0.9"/>
        </c:scaling>
        <c:delete val="0"/>
        <c:axPos val="b"/>
        <c:majorGridlines>
          <c:spPr>
            <a:ln w="6350" cap="flat">
              <a:solidFill>
                <a:srgbClr val="E4E7EB"/>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Agreement with the oracle (%, higher is better)</a:t>
            </a:r>
          </a:p>
        </c:rich>
      </c:tx>
      <c:layout/>
      <c:overlay val="0"/>
    </c:title>
    <c:autoTitleDeleted val="0"/>
    <c:plotArea>
      <c:layout/>
      <c:barChart>
        <c:barDir val="col"/>
        <c:grouping val="clustered"/>
        <c:varyColors val="0"/>
        <c:ser>
          <c:idx val="0"/>
          <c:order val="0"/>
          <c:tx>
            <c:strRef>
              <c:f>Sheet1!$B$1</c:f>
              <c:strCache>
                <c:ptCount val="1"/>
                <c:pt idx="0">
                  <c:v>Agreement</c:v>
                </c:pt>
              </c:strCache>
            </c:strRef>
          </c:tx>
          <c:spPr>
            <a:solidFill>
              <a:srgbClr val="2F6F73"/>
            </a:solidFill>
            <a:effectLst/>
          </c:spPr>
          <c:invertIfNegative val="0"/>
          <c:dLbls>
            <c:numFmt formatCode="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Oracle</c:v>
                  </c:pt>
                  <c:pt idx="1">
                    <c:v>Fuzzy only</c:v>
                  </c:pt>
                  <c:pt idx="2">
                    <c:v>ANN only</c:v>
                  </c:pt>
                  <c:pt idx="3">
                    <c:v>ANN + ANFIS</c:v>
                  </c:pt>
                </c:lvl>
              </c:multiLvlStrCache>
            </c:multiLvlStrRef>
          </c:cat>
          <c:val>
            <c:numRef>
              <c:f>Sheet1!$B$2:$B$5</c:f>
              <c:numCache>
                <c:formatCode>General</c:formatCode>
                <c:ptCount val="4"/>
                <c:pt idx="0">
                  <c:v>100</c:v>
                </c:pt>
                <c:pt idx="1">
                  <c:v>92.5</c:v>
                </c:pt>
                <c:pt idx="2">
                  <c:v>96.7</c:v>
                </c:pt>
                <c:pt idx="3">
                  <c:v>96.8</c:v>
                </c:pt>
              </c:numCache>
            </c:numRef>
          </c:val>
        </c:ser>
        <c:dLbls>
          <c:numFmt formatCode="0.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100"/>
          <c:min val="9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Task energy per week (J, lower is better)</a:t>
            </a:r>
          </a:p>
        </c:rich>
      </c:tx>
      <c:layout/>
      <c:overlay val="0"/>
    </c:title>
    <c:autoTitleDeleted val="0"/>
    <c:plotArea>
      <c:layout/>
      <c:barChart>
        <c:barDir val="col"/>
        <c:grouping val="clustered"/>
        <c:varyColors val="0"/>
        <c:ser>
          <c:idx val="0"/>
          <c:order val="0"/>
          <c:tx>
            <c:strRef>
              <c:f>Sheet1!$B$1</c:f>
              <c:strCache>
                <c:ptCount val="1"/>
                <c:pt idx="0">
                  <c:v>Task energy</c:v>
                </c:pt>
              </c:strCache>
            </c:strRef>
          </c:tx>
          <c:spPr>
            <a:solidFill>
              <a:srgbClr val="2F6F73"/>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Oracle</c:v>
                  </c:pt>
                  <c:pt idx="1">
                    <c:v>Fuzzy only</c:v>
                  </c:pt>
                  <c:pt idx="2">
                    <c:v>ANN only</c:v>
                  </c:pt>
                  <c:pt idx="3">
                    <c:v>ANN + ANFIS</c:v>
                  </c:pt>
                </c:lvl>
              </c:multiLvlStrCache>
            </c:multiLvlStrRef>
          </c:cat>
          <c:val>
            <c:numRef>
              <c:f>Sheet1!$B$2:$B$5</c:f>
              <c:numCache>
                <c:formatCode>General</c:formatCode>
                <c:ptCount val="4"/>
                <c:pt idx="0">
                  <c:v>991</c:v>
                </c:pt>
                <c:pt idx="1">
                  <c:v>1049</c:v>
                </c:pt>
                <c:pt idx="2">
                  <c:v>1024</c:v>
                </c:pt>
                <c:pt idx="3">
                  <c:v>1007</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1060"/>
          <c:min val="950"/>
        </c:scaling>
        <c:delete val="0"/>
        <c:axPos val="l"/>
        <c:majorGridlines>
          <c:spPr>
            <a:ln w="6350" cap="flat">
              <a:solidFill>
                <a:srgbClr val="E4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Good morning, respected faculty. Our project is an explainable ANN–ANFIS hybrid for renewable-aware task offloading in solar-powered IoT nodes, using a digital twin. I am Rohith, and with me are Sanjith, Darshan and Vishaanth.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Picture a solar-powered ESP32 sensor node. Every minute a monitoring task arrives. It can run the task locally, spending CPU time and battery, or offload it over WiFi to an edge server, spending radio energy and waiting for the network and the server. The right choice keeps changing with the sun, the battery, the signal and the server load. Our goal is to choose well using only what the node knows, and to explain why.
Handover: Sanjith built a digital twin to study this at scale. Over to Sanjith.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Thank you, Rohith. Hardware tests at this scale are impractical, so I built a physics-based digital twin that advances one minute per step. For solar, irradiance follows a half-sine from 6 am to 6 pm, times a smoothly drifting cloud factor, with Markov-chain weather. The battery is a 12 watt-hour lithium-ion pack with 95 % efficiency and a CC/CV taper above 90 %. There are five task types, from sensor aggregation at 60 cycles per byte up to image preprocessing at 3000, and task sizes follow a smooth AR(1) process that grows during working hours. On the ESP32, a task needs C equals D times c CPU cycles, that is, data size times cycles per byte. At 240 megahertz that gives the local time, and the local energy is idle power plus alpha times CPU load, multiplied by that time. Most importantly, the energy of whichever option is chosen is drawn from the battery, so every decision affects the next one. It is a closed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The twin computes the true cost of both options. J equals a battery price lambda times energy, plus time over the 5-second deadline, plus a deadline penalty, and for offloading, link and server risk terms. Lambda equals 1 plus 4 times (1 minus SOC) to the power 1.5, so the same joule costs up to five times more on an empty battery. The cheaper option is the oracle decision. Running seven days gives our dataset: 10,080 tasks with 38 features in six groups: time and weather, solar and battery, task and ESP32, network, edge server, and cost and decision. Every row stores both options in full, which is exactly what supervised learning needs. About 54 % run locally and 46 % are offloaded, a split that emerges from the physics. Take task T09206, a 214-kilobyte anomaly-detection task: locally it would take 1.8 seconds and 287 millijoules, offloaded 361 milliseconds and 151 millijoules, so the oracle offloads it. We will follow this task through the whole talk.
[3:10] To trust the twin, validate_twin.py runs 20 engineering checks. For example, distance up means RSSI down, server load up means edge time up, the decision always equals the minimum cost, and the battery energy balance closes to within 10⁻⁵ %. All 20 pass.
Handover: The offload side of the twin, the WiFi link and the edge server, was modelled by Darshan, who will explain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 Thank you, Sanjith. I modelled the offload path. The node moves, so its distance to the access point wanders between 3 and 40 metres. RSSI follows log-distance path loss, minus 40 minus 26 log d, plus correlated shadowing. From the RSSI, 802.11n rate adaptation picks a speed from 65 down to 6.5 megabits per second. The packet error rate is 10 % at the sensitivity limit and falls with margin, which gives retransmissions. Transmission time is the bytes, with MQTT and TCP/IP headers, over the effective rate; radio energy is 0.6 watts times that time. At the edge, time equals cycles over 3 gigahertz times one minus the load, so it explodes as the server saturates.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Here is the key problem. The oracle needs the current signal and server load. A real ESP32 knows only the last measured RSSI and the last reported load. So I built two baselines that decide under this uncertainty. The first is a Mamdani fuzzy controller with four linguistic inputs: battery, task load, WiFi link and server load. It uses trapezoid and triangle membership functions and 12 expert rules, like 'IF the task is heavy AND the link is good, THEN offload', with min for AND, max aggregation and centroid defuzzification. The second is an ANN classifier: 9 inputs, two hidden layers, and a sigmoid output trained on the oracle labels.
[5:25] Every controller is tested in a closed loop, driving the battery through weeks it has never seen.
Handover: To decide well, the node must first know what offloading will cost. Rohith is back to show how we predict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 Thank you, Darshan. My part is the ANN predictor, the predict step. It estimates, before sending, the offload time and energy. The inputs are six things the node knows: the log of task size, the log of complexity, the last RSSI, the last server load, and the hour encoded as sine and cosine. The outputs are the log of offload time and the log of offload energy. We use logs because these values span 10 milliseconds to 4 seconds, so the network learns relative error.
[6:15] The architecture is 6–24–16–2, with tanh hidden layers and linear outputs: 602 parameters, written from scratch in NumPy with back-propagation and the Adam optimiser, learning rate 0.01, batch 128, 60 epochs. The split is chronological: the first 5.6 days train, and the last 1.4 days are validation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 The results: R² of 0.989 for time and 0.987 for energy, with a median error of about 5 %. Take Sanjith's task T09206, an anomaly-detection task of 214 kilobytes. The last RSSI was −68.8 while the actual signal was −62. Even so, the ANN predicts 353 milliseconds and 149 millijoules, against a truth of 361 and 151. That is within 2 %.
[7:05] I ran an ablation study, removing one input at a time and retraining. Removing task size hurts most: time R² falls to 0.924. Complexity, last RSSI and server load follow, while the hour barely matters, at 0.988. Then at system level: if ANFIS is given the raw RSSI instead of my ANN's predicted cost, agreement with the oracle on an unseen week drops from 96.6 to 93.6 %, and deadline misses rise from 9 to 14. The ANN is what turns uncertain network conditions into usable numbers.
Handover: But an ANN alone is a black box: it cannot tell us why. Vishaanth will show how ANFIS makes the decision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 Thank you, Rohith. My part is the reason step: ANFIS, the Adaptive Neuro-Fuzzy Inference System. ANFIS is a fuzzy rule base built as a five-layer network, so it can be trained. It has four inputs, and two of them come from Rohith's ANN. They are battery SOC, with the words Low, Medium and High; the energy ratio, the log of predicted offload energy over local energy, with Offload cheaper, Similar and Local cheaper; the time gain, Small or Large; and server load, Light or Busy. Three times three times two times two gives 36 rules, one for every combination.
[8:30] Layer one uses Gaussian membership functions. Layer two multiplies them to get each rule's strength. Layer three normalises. In layer four each rule outputs a linear function, p·x plus q. That makes it first-order Takagi–Sugeno. Layer five takes the weighted sum, which is the offload score; above 0.5 means offload. In total there are 200 trainable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[8:55] Training uses Jang's hybrid learning. Each epoch, least squares solves the 180 rule-output parameters exactly, then gradient descent tunes the membership centres and widths, for 30 epochs. The target is a soft oracle preference, a tanh of the cost difference, so ANFIS learns how strongly one option is better. And because it is trained on the ANN's predictions, it learns to live with the ANN's errors. For task T09206, the energy ratio says offloading needs about half the energy. Its memberships are SOC Medium 0.73, Offload cheaper 0.51, Small gain 0.61 and Busy server 0.70; multiplied together, that rule's strength is 0.16. The strongest rule, SOC Medium AND Offload cheaper AND Small gain AND Busy server, carries 19 % of the weight, and the final score is 0.9965, so offload. The teacher's value was 0.9945.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[9:55] We also checked my design choices. Training on hard 0-or-1 labels instead of the soft target drops agreement on an unseen week from 96.6 to 92.5 %. Tuning the membership functions changes little: it is slightly better on validation and slightly worse on this test week. The least-squares rule outputs do most of the work, and we report that honestly.
[10:20] Finally, I built the Streamlit dashboard. It shows live cards for all four controllers, the ANN's prediction against reality, the ANFIS rules that fired with their weights, the learned membership functions, and the comparison charts. Every decision is explained.
Handover: Darshan will now present how all the controllers performed.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 To evaluate fairly, every controller runs in a closed loop on 11 unseen weeks, each with a new random seed, and we compare the paired results with the Wilcoxon signed-rank test. Mean agreement with the oracle is 92.5 % for fuzzy, 96.7 for the ANN alone and 96.8 for our hybrid. Against fuzzy, the hybrid is better in all 11 weeks on agreement, energy and regret, with p about 0.001. Against the ANN alone, the accuracy difference is not significant. But the hybrid used less task energy in all 11 weeks, about 17 joules per week, and had lower regret, again with p about 0.001.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 So our hybrid is as accurate as the best black box, makes cheaper mistakes, and explains every decision. The limitations: the twin is simulated, not yet calibrated on real hardware, and there is no cloud tier. Next we plan hardware calibration, a cloud tier, and running ANFIS on the ESP32 itself.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B8794"/>
                </a:solidFill>
              </a:rPr>
              <a:t>Explainable ANN-ANFIS Hybrid for Renewable-Aware Task Offloading · 19CSE362</a:t>
            </a:r>
            <a:endParaRPr lang="en-US" sz="1000" dirty="0"/>
          </a:p>
        </p:txBody>
      </p:sp>
      <p:sp>
        <p:nvSpPr>
          <p:cNvPr id="3" name="Text 1"/>
          <p:cNvSpPr/>
          <p:nvPr>
            <p:ph idx="101" type="title" hasCustomPrompt="1"/>
          </p:nvPr>
        </p:nvSpPr>
        <p:spPr>
          <a:xfrm>
            <a:off x="548640" y="320040"/>
            <a:ext cx="9052560" cy="731520"/>
          </a:xfrm>
          <a:prstGeom prst="rect">
            <a:avLst/>
          </a:prstGeom>
          <a:noFill/>
          <a:ln/>
        </p:spPr>
        <p:txBody>
          <a:bodyPr wrap="square" rtlCol="0"/>
          <a:lstStyle>
            <a:lvl1pPr algn="l" indent="0" marL="0">
              <a:buNone/>
              <a:defRPr lang="en-US" sz="3000" b="1" dirty="0">
                <a:solidFill>
                  <a:srgbClr val="1F2933"/>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1"/>
          <p:cNvSpPr/>
          <p:nvPr>
            <p:ph idx="102" type="body" hasCustomPrompt="1"/>
          </p:nvPr>
        </p:nvSpPr>
        <p:spPr>
          <a:xfrm>
            <a:off x="9692640" y="457200"/>
            <a:ext cx="1965960" cy="457200"/>
          </a:xfrm>
          <a:prstGeom prst="rect">
            <a:avLst/>
          </a:prstGeom>
          <a:noFill/>
          <a:ln/>
        </p:spPr>
        <p:txBody>
          <a:bodyPr wrap="square" rtlCol="0"/>
          <a:lstStyle>
            <a:lvl1pPr algn="r" indent="0" marL="0">
              <a:buNone/>
              <a:defRPr lang="en-US" sz="1200" dirty="0">
                <a:solidFill>
                  <a:srgbClr val="52606D"/>
                </a:solidFill>
              </a:defRPr>
            </a:lvl1pPr>
          </a:lstStyle>
          <a:p>
            <a:pPr algn="r" indent="0" marL="0">
              <a:buNone/>
            </a:pP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9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5852160" cy="21945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5852160" cy="365760"/>
          </a:xfrm>
          <a:prstGeom prst="rect">
            <a:avLst/>
          </a:prstGeom>
          <a:noFill/>
          <a:ln/>
        </p:spPr>
        <p:txBody>
          <a:bodyPr wrap="square" lIns="0" tIns="0" rIns="0" bIns="0" rtlCol="0" anchor="t"/>
          <a:lstStyle/>
          <a:p>
            <a:pPr algn="l" indent="0" marL="0">
              <a:buNone/>
            </a:pPr>
            <a:r>
              <a:rPr lang="en-US" sz="1400" dirty="0">
                <a:solidFill>
                  <a:srgbClr val="CBD2D9"/>
                </a:solidFill>
              </a:rPr>
              <a:t>19CSE362 · Fundamentals of Soft Computing</a:t>
            </a:r>
            <a:endParaRPr lang="en-US" sz="1400" dirty="0"/>
          </a:p>
        </p:txBody>
      </p:sp>
      <p:sp>
        <p:nvSpPr>
          <p:cNvPr id="3" name="Text 0"/>
          <p:cNvSpPr/>
          <p:nvPr>
            <p:ph idx="100" type="title" hasCustomPrompt="1"/>
          </p:nvPr>
        </p:nvSpPr>
        <p:spPr>
          <a:xfrm>
            <a:off x="640080" y="1097280"/>
            <a:ext cx="5852160" cy="21945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Explainable ANN-ANFIS Hybrid for Renewable-Aware Task Offloading</a:t>
            </a:r>
            <a:endParaRPr lang="en-US" sz="3600" dirty="0"/>
          </a:p>
        </p:txBody>
      </p:sp>
      <p:sp>
        <p:nvSpPr>
          <p:cNvPr id="4" name="Text 2"/>
          <p:cNvSpPr txBox="1"/>
          <p:nvPr/>
        </p:nvSpPr>
        <p:spPr>
          <a:xfrm>
            <a:off x="640080" y="3429000"/>
            <a:ext cx="5852160" cy="457200"/>
          </a:xfrm>
          <a:prstGeom prst="rect">
            <a:avLst/>
          </a:prstGeom>
          <a:noFill/>
          <a:ln/>
        </p:spPr>
        <p:txBody>
          <a:bodyPr wrap="square" lIns="0" tIns="0" rIns="0" bIns="0" rtlCol="0" anchor="t"/>
          <a:lstStyle/>
          <a:p>
            <a:pPr algn="l" indent="0" marL="0">
              <a:buNone/>
            </a:pPr>
            <a:r>
              <a:rPr lang="en-US" sz="1800" i="1" dirty="0">
                <a:solidFill>
                  <a:srgbClr val="CBD2D9"/>
                </a:solidFill>
              </a:rPr>
              <a:t>in solar-powered IoT nodes, studied with a digital twin</a:t>
            </a:r>
            <a:endParaRPr lang="en-US" sz="1800" dirty="0"/>
          </a:p>
        </p:txBody>
      </p:sp>
      <p:sp>
        <p:nvSpPr>
          <p:cNvPr id="5" name="Text 3"/>
          <p:cNvSpPr txBox="1"/>
          <p:nvPr/>
        </p:nvSpPr>
        <p:spPr>
          <a:xfrm>
            <a:off x="640080" y="4343400"/>
            <a:ext cx="5486400" cy="1371600"/>
          </a:xfrm>
          <a:prstGeom prst="rect">
            <a:avLst/>
          </a:prstGeom>
          <a:noFill/>
          <a:ln/>
        </p:spPr>
        <p:txBody>
          <a:bodyPr wrap="square" lIns="0" tIns="0" rIns="0" bIns="0" rtlCol="0" anchor="t"/>
          <a:lstStyle/>
          <a:p>
            <a:pPr algn="l" indent="0" marL="0">
              <a:buNone/>
            </a:pPr>
            <a:r>
              <a:rPr lang="en-US" sz="1500" dirty="0">
                <a:solidFill>
                  <a:srgbClr val="FFFFFF"/>
                </a:solidFill>
              </a:rPr>
              <a:t>Sanjith M P · CB.EN.U4ELC24035</a:t>
            </a:r>
            <a:endParaRPr lang="en-US" sz="1500" dirty="0"/>
          </a:p>
          <a:p>
            <a:pPr algn="l" indent="0" marL="0">
              <a:buNone/>
            </a:pPr>
            <a:r>
              <a:rPr lang="en-US" sz="1500" dirty="0">
                <a:solidFill>
                  <a:srgbClr val="FFFFFF"/>
                </a:solidFill>
              </a:rPr>
              <a:t>Rohith S · CB.EN.U4CCE24042</a:t>
            </a:r>
            <a:endParaRPr lang="en-US" sz="1500" dirty="0"/>
          </a:p>
          <a:p>
            <a:pPr algn="l" indent="0" marL="0">
              <a:buNone/>
            </a:pPr>
            <a:r>
              <a:rPr lang="en-US" sz="1500" dirty="0">
                <a:solidFill>
                  <a:srgbClr val="FFFFFF"/>
                </a:solidFill>
              </a:rPr>
              <a:t>Darshan R · CB.EN.U4CCE24144</a:t>
            </a:r>
            <a:endParaRPr lang="en-US" sz="1500" dirty="0"/>
          </a:p>
          <a:p>
            <a:pPr algn="l" indent="0" marL="0">
              <a:buNone/>
            </a:pPr>
            <a:r>
              <a:rPr lang="en-US" sz="1500" dirty="0">
                <a:solidFill>
                  <a:srgbClr val="FFFFFF"/>
                </a:solidFill>
              </a:rPr>
              <a:t>Vishaanth R · CB.EN.U4ELC24163</a:t>
            </a:r>
            <a:endParaRPr lang="en-US" sz="1500" dirty="0"/>
          </a:p>
        </p:txBody>
      </p:sp>
      <p:pic>
        <p:nvPicPr>
          <p:cNvPr id="6" name="Digital twin" descr="The project's 3D digital twin: solar panels, battery cabinet, ESP32, WiFi gateway and edge server shelter">    </p:cNvPr>
          <p:cNvPicPr>
            <a:picLocks noChangeAspect="1"/>
          </p:cNvPicPr>
          <p:nvPr/>
        </p:nvPicPr>
        <p:blipFill>
          <a:blip r:embed="rId1"/>
          <a:stretch>
            <a:fillRect/>
          </a:stretch>
        </p:blipFill>
        <p:spPr>
          <a:xfrm>
            <a:off x="6766560" y="1417320"/>
            <a:ext cx="4937760" cy="2852928"/>
          </a:xfrm>
          <a:prstGeom prst="rect">
            <a:avLst/>
          </a:prstGeom>
        </p:spPr>
      </p:pic>
      <p:sp>
        <p:nvSpPr>
          <p:cNvPr id="7" name="Text 4"/>
          <p:cNvSpPr txBox="1"/>
          <p:nvPr/>
        </p:nvSpPr>
        <p:spPr>
          <a:xfrm>
            <a:off x="6766560" y="4389120"/>
            <a:ext cx="4937760" cy="320040"/>
          </a:xfrm>
          <a:prstGeom prst="rect">
            <a:avLst/>
          </a:prstGeom>
          <a:noFill/>
          <a:ln/>
        </p:spPr>
        <p:txBody>
          <a:bodyPr wrap="square" lIns="0" tIns="0" rIns="0" bIns="0" rtlCol="0" anchor="t"/>
          <a:lstStyle/>
          <a:p>
            <a:pPr algn="l" indent="0" marL="0">
              <a:buNone/>
            </a:pPr>
            <a:r>
              <a:rPr lang="en-US" sz="1200" dirty="0">
                <a:solidFill>
                  <a:srgbClr val="CBD2D9"/>
                </a:solidFill>
              </a:rPr>
              <a:t>The project's own 3D digital twin (twin3d/scene.js)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Where should each IoT task run?</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Rohith S</a:t>
            </a:r>
            <a:endParaRPr lang="en-US" sz="1200" dirty="0"/>
          </a:p>
        </p:txBody>
      </p:sp>
      <p:sp>
        <p:nvSpPr>
          <p:cNvPr id="4" name="Text 2"/>
          <p:cNvSpPr/>
          <p:nvPr/>
        </p:nvSpPr>
        <p:spPr>
          <a:xfrm>
            <a:off x="548640" y="1600200"/>
            <a:ext cx="2468880" cy="1371600"/>
          </a:xfrm>
          <a:prstGeom prst="roundRect">
            <a:avLst>
              <a:gd name="adj" fmla="val 4000"/>
            </a:avLst>
          </a:prstGeom>
          <a:solidFill>
            <a:schemeClr val="bg2"/>
          </a:solidFill>
          <a:ln w="9525">
            <a:solidFill>
              <a:srgbClr val="CBD2D9"/>
            </a:solidFill>
          </a:ln>
        </p:spPr>
        <p:txBody>
          <a:bodyPr wrap="square" lIns="114300" tIns="114300" rIns="114300" bIns="114300" rtlCol="0" anchor="ctr"/>
          <a:lstStyle/>
          <a:p>
            <a:pPr algn="l" indent="0" marL="0">
              <a:buNone/>
            </a:pPr>
            <a:r>
              <a:rPr lang="en-US" sz="1500" b="1" dirty="0">
                <a:solidFill>
                  <a:schemeClr val="accent1"/>
                </a:solidFill>
              </a:rPr>
              <a:t>Every minute</a:t>
            </a:r>
            <a:endParaRPr lang="en-US" sz="1500" dirty="0"/>
          </a:p>
          <a:p>
            <a:pPr algn="l" indent="0" marL="0">
              <a:spcBef>
                <a:spcPts val="400"/>
              </a:spcBef>
              <a:buNone/>
            </a:pPr>
            <a:r>
              <a:rPr lang="en-US" sz="1400" dirty="0">
                <a:solidFill>
                  <a:schemeClr val="tx1"/>
                </a:solidFill>
              </a:rPr>
              <a:t>an IoT monitoring task arrives at the solar-powered ESP32</a:t>
            </a:r>
            <a:endParaRPr lang="en-US" sz="1500" dirty="0"/>
          </a:p>
        </p:txBody>
      </p:sp>
      <p:sp>
        <p:nvSpPr>
          <p:cNvPr id="5" name="Shape 3"/>
          <p:cNvSpPr/>
          <p:nvPr/>
        </p:nvSpPr>
        <p:spPr>
          <a:xfrm>
            <a:off x="3017520" y="2286000"/>
            <a:ext cx="457200" cy="0"/>
          </a:xfrm>
          <a:prstGeom prst="line">
            <a:avLst/>
          </a:prstGeom>
          <a:noFill/>
          <a:ln w="19050">
            <a:solidFill>
              <a:srgbClr val="7B8794"/>
            </a:solidFill>
            <a:prstDash val="solid"/>
            <a:tailEnd type="triangle"/>
          </a:ln>
        </p:spPr>
      </p:sp>
      <p:sp>
        <p:nvSpPr>
          <p:cNvPr id="6" name="Text 4"/>
          <p:cNvSpPr/>
          <p:nvPr/>
        </p:nvSpPr>
        <p:spPr>
          <a:xfrm>
            <a:off x="3474720" y="1874520"/>
            <a:ext cx="1920240" cy="822960"/>
          </a:xfrm>
          <a:prstGeom prst="roundRect">
            <a:avLst>
              <a:gd name="adj" fmla="val 6667"/>
            </a:avLst>
          </a:prstGeom>
          <a:solidFill>
            <a:schemeClr val="accent1"/>
          </a:solidFill>
          <a:ln w="9525">
            <a:solidFill>
              <a:srgbClr val="2F6F73"/>
            </a:solidFill>
          </a:ln>
        </p:spPr>
        <p:txBody>
          <a:bodyPr wrap="square" lIns="114300" tIns="114300" rIns="114300" bIns="114300" rtlCol="0" anchor="ctr"/>
          <a:lstStyle/>
          <a:p>
            <a:pPr algn="ctr" indent="0" marL="0">
              <a:spcBef>
                <a:spcPts val="400"/>
              </a:spcBef>
              <a:buNone/>
            </a:pPr>
            <a:r>
              <a:rPr lang="en-US" sz="1600" dirty="0">
                <a:solidFill>
                  <a:schemeClr val="bg1"/>
                </a:solidFill>
              </a:rPr>
              <a:t>Run it where?</a:t>
            </a:r>
            <a:endParaRPr lang="en-US" sz="1600" dirty="0"/>
          </a:p>
        </p:txBody>
      </p:sp>
      <p:sp>
        <p:nvSpPr>
          <p:cNvPr id="7" name="Shape 5"/>
          <p:cNvSpPr/>
          <p:nvPr/>
        </p:nvSpPr>
        <p:spPr>
          <a:xfrm>
            <a:off x="5394960" y="2286000"/>
            <a:ext cx="320040" cy="0"/>
          </a:xfrm>
          <a:prstGeom prst="line">
            <a:avLst/>
          </a:prstGeom>
          <a:noFill/>
          <a:ln w="19050">
            <a:solidFill>
              <a:srgbClr val="7B8794"/>
            </a:solidFill>
            <a:prstDash val="solid"/>
          </a:ln>
        </p:spPr>
      </p:sp>
      <p:sp>
        <p:nvSpPr>
          <p:cNvPr id="8" name="Shape 6"/>
          <p:cNvSpPr/>
          <p:nvPr/>
        </p:nvSpPr>
        <p:spPr>
          <a:xfrm>
            <a:off x="5715000" y="1554480"/>
            <a:ext cx="0" cy="1874520"/>
          </a:xfrm>
          <a:prstGeom prst="line">
            <a:avLst/>
          </a:prstGeom>
          <a:noFill/>
          <a:ln w="19050">
            <a:solidFill>
              <a:srgbClr val="7B8794"/>
            </a:solidFill>
            <a:prstDash val="solid"/>
          </a:ln>
        </p:spPr>
      </p:sp>
      <p:sp>
        <p:nvSpPr>
          <p:cNvPr id="9" name="Shape 7"/>
          <p:cNvSpPr/>
          <p:nvPr/>
        </p:nvSpPr>
        <p:spPr>
          <a:xfrm>
            <a:off x="5715000" y="1554480"/>
            <a:ext cx="320040" cy="0"/>
          </a:xfrm>
          <a:prstGeom prst="line">
            <a:avLst/>
          </a:prstGeom>
          <a:noFill/>
          <a:ln w="19050">
            <a:solidFill>
              <a:srgbClr val="7B8794"/>
            </a:solidFill>
            <a:prstDash val="solid"/>
            <a:tailEnd type="triangle"/>
          </a:ln>
        </p:spPr>
      </p:sp>
      <p:sp>
        <p:nvSpPr>
          <p:cNvPr id="10" name="Shape 8"/>
          <p:cNvSpPr/>
          <p:nvPr/>
        </p:nvSpPr>
        <p:spPr>
          <a:xfrm>
            <a:off x="5715000" y="3429000"/>
            <a:ext cx="320040" cy="0"/>
          </a:xfrm>
          <a:prstGeom prst="line">
            <a:avLst/>
          </a:prstGeom>
          <a:noFill/>
          <a:ln w="19050">
            <a:solidFill>
              <a:srgbClr val="7B8794"/>
            </a:solidFill>
            <a:prstDash val="solid"/>
            <a:tailEnd type="triangle"/>
          </a:ln>
        </p:spPr>
      </p:sp>
      <p:sp>
        <p:nvSpPr>
          <p:cNvPr id="11" name="Text 9"/>
          <p:cNvSpPr/>
          <p:nvPr/>
        </p:nvSpPr>
        <p:spPr>
          <a:xfrm>
            <a:off x="6035040" y="1005840"/>
            <a:ext cx="5623560" cy="1097280"/>
          </a:xfrm>
          <a:prstGeom prst="roundRect">
            <a:avLst>
              <a:gd name="adj" fmla="val 5000"/>
            </a:avLst>
          </a:prstGeom>
          <a:solidFill>
            <a:schemeClr val="bg2"/>
          </a:solidFill>
          <a:ln w="9525">
            <a:solidFill>
              <a:srgbClr val="CBD2D9"/>
            </a:solidFill>
          </a:ln>
        </p:spPr>
        <p:txBody>
          <a:bodyPr wrap="square" lIns="114300" tIns="114300" rIns="114300" bIns="114300" rtlCol="0" anchor="ctr"/>
          <a:lstStyle/>
          <a:p>
            <a:pPr algn="l" indent="0" marL="0">
              <a:buNone/>
            </a:pPr>
            <a:r>
              <a:rPr lang="en-US" sz="1500" b="1" dirty="0">
                <a:solidFill>
                  <a:schemeClr val="accent1"/>
                </a:solidFill>
              </a:rPr>
              <a:t>Run locally on the ESP32</a:t>
            </a:r>
            <a:endParaRPr lang="en-US" sz="1500" dirty="0"/>
          </a:p>
          <a:p>
            <a:pPr algn="l" indent="0" marL="0">
              <a:spcBef>
                <a:spcPts val="400"/>
              </a:spcBef>
              <a:buNone/>
            </a:pPr>
            <a:r>
              <a:rPr lang="en-US" sz="1400" dirty="0">
                <a:solidFill>
                  <a:schemeClr val="tx1"/>
                </a:solidFill>
              </a:rPr>
              <a:t>Costs CPU time and battery energy. No network needed.</a:t>
            </a:r>
            <a:endParaRPr lang="en-US" sz="1500" dirty="0"/>
          </a:p>
        </p:txBody>
      </p:sp>
      <p:sp>
        <p:nvSpPr>
          <p:cNvPr id="12" name="Text 10"/>
          <p:cNvSpPr/>
          <p:nvPr/>
        </p:nvSpPr>
        <p:spPr>
          <a:xfrm>
            <a:off x="6035040" y="2880360"/>
            <a:ext cx="5623560" cy="1097280"/>
          </a:xfrm>
          <a:prstGeom prst="roundRect">
            <a:avLst>
              <a:gd name="adj" fmla="val 5000"/>
            </a:avLst>
          </a:prstGeom>
          <a:solidFill>
            <a:schemeClr val="bg2"/>
          </a:solidFill>
          <a:ln w="9525">
            <a:solidFill>
              <a:srgbClr val="CBD2D9"/>
            </a:solidFill>
          </a:ln>
        </p:spPr>
        <p:txBody>
          <a:bodyPr wrap="square" lIns="114300" tIns="114300" rIns="114300" bIns="114300" rtlCol="0" anchor="ctr"/>
          <a:lstStyle/>
          <a:p>
            <a:pPr algn="l" indent="0" marL="0">
              <a:buNone/>
            </a:pPr>
            <a:r>
              <a:rPr lang="en-US" sz="1500" b="1" dirty="0">
                <a:solidFill>
                  <a:schemeClr val="accent1"/>
                </a:solidFill>
              </a:rPr>
              <a:t>Offload to the edge server over WiFi</a:t>
            </a:r>
            <a:endParaRPr lang="en-US" sz="1500" dirty="0"/>
          </a:p>
          <a:p>
            <a:pPr algn="l" indent="0" marL="0">
              <a:spcBef>
                <a:spcPts val="400"/>
              </a:spcBef>
              <a:buNone/>
            </a:pPr>
            <a:r>
              <a:rPr lang="en-US" sz="1400" dirty="0">
                <a:solidFill>
                  <a:schemeClr val="tx1"/>
                </a:solidFill>
              </a:rPr>
              <a:t>Costs radio energy, network delay and server delay, but the server is far faster.</a:t>
            </a:r>
            <a:endParaRPr lang="en-US" sz="1500" dirty="0"/>
          </a:p>
        </p:txBody>
      </p:sp>
      <p:sp>
        <p:nvSpPr>
          <p:cNvPr id="13" name="Text 11"/>
          <p:cNvSpPr txBox="1"/>
          <p:nvPr/>
        </p:nvSpPr>
        <p:spPr>
          <a:xfrm>
            <a:off x="548640" y="4343400"/>
            <a:ext cx="5486400" cy="365760"/>
          </a:xfrm>
          <a:prstGeom prst="rect">
            <a:avLst/>
          </a:prstGeom>
          <a:noFill/>
          <a:ln/>
        </p:spPr>
        <p:txBody>
          <a:bodyPr wrap="square" lIns="0" tIns="0" rIns="0" bIns="0" rtlCol="0" anchor="t"/>
          <a:lstStyle/>
          <a:p>
            <a:pPr algn="l" indent="0" marL="0">
              <a:buNone/>
            </a:pPr>
            <a:r>
              <a:rPr lang="en-US" sz="1500" b="1" dirty="0">
                <a:solidFill>
                  <a:schemeClr val="tx1"/>
                </a:solidFill>
              </a:rPr>
              <a:t>The best choice keeps changing with</a:t>
            </a:r>
            <a:endParaRPr lang="en-US" sz="1500" dirty="0"/>
          </a:p>
        </p:txBody>
      </p:sp>
      <p:sp>
        <p:nvSpPr>
          <p:cNvPr id="14" name="Text 12"/>
          <p:cNvSpPr/>
          <p:nvPr/>
        </p:nvSpPr>
        <p:spPr>
          <a:xfrm>
            <a:off x="548640" y="4754880"/>
            <a:ext cx="2606040" cy="594360"/>
          </a:xfrm>
          <a:prstGeom prst="roundRect">
            <a:avLst>
              <a:gd name="adj" fmla="val 923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500" dirty="0">
                <a:solidFill>
                  <a:schemeClr val="tx1"/>
                </a:solidFill>
              </a:rPr>
              <a:t>Sunlight</a:t>
            </a:r>
            <a:endParaRPr lang="en-US" sz="1500" dirty="0"/>
          </a:p>
        </p:txBody>
      </p:sp>
      <p:sp>
        <p:nvSpPr>
          <p:cNvPr id="15" name="Text 13"/>
          <p:cNvSpPr/>
          <p:nvPr/>
        </p:nvSpPr>
        <p:spPr>
          <a:xfrm>
            <a:off x="3360420" y="4754880"/>
            <a:ext cx="2606040" cy="594360"/>
          </a:xfrm>
          <a:prstGeom prst="roundRect">
            <a:avLst>
              <a:gd name="adj" fmla="val 923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500" dirty="0">
                <a:solidFill>
                  <a:schemeClr val="tx1"/>
                </a:solidFill>
              </a:rPr>
              <a:t>Battery level</a:t>
            </a:r>
            <a:endParaRPr lang="en-US" sz="1500" dirty="0"/>
          </a:p>
        </p:txBody>
      </p:sp>
      <p:sp>
        <p:nvSpPr>
          <p:cNvPr id="16" name="Text 14"/>
          <p:cNvSpPr/>
          <p:nvPr/>
        </p:nvSpPr>
        <p:spPr>
          <a:xfrm>
            <a:off x="6172200" y="4754880"/>
            <a:ext cx="2606040" cy="594360"/>
          </a:xfrm>
          <a:prstGeom prst="roundRect">
            <a:avLst>
              <a:gd name="adj" fmla="val 923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500" dirty="0">
                <a:solidFill>
                  <a:schemeClr val="tx1"/>
                </a:solidFill>
              </a:rPr>
              <a:t>WiFi signal</a:t>
            </a:r>
            <a:endParaRPr lang="en-US" sz="1500" dirty="0"/>
          </a:p>
        </p:txBody>
      </p:sp>
      <p:sp>
        <p:nvSpPr>
          <p:cNvPr id="17" name="Text 15"/>
          <p:cNvSpPr/>
          <p:nvPr/>
        </p:nvSpPr>
        <p:spPr>
          <a:xfrm>
            <a:off x="8983980" y="4754880"/>
            <a:ext cx="2606040" cy="594360"/>
          </a:xfrm>
          <a:prstGeom prst="roundRect">
            <a:avLst>
              <a:gd name="adj" fmla="val 923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500" dirty="0">
                <a:solidFill>
                  <a:schemeClr val="tx1"/>
                </a:solidFill>
              </a:rPr>
              <a:t>Server load</a:t>
            </a:r>
            <a:endParaRPr lang="en-US" sz="1500" dirty="0"/>
          </a:p>
        </p:txBody>
      </p:sp>
      <p:sp>
        <p:nvSpPr>
          <p:cNvPr id="18" name="Text 16"/>
          <p:cNvSpPr txBox="1"/>
          <p:nvPr/>
        </p:nvSpPr>
        <p:spPr>
          <a:xfrm>
            <a:off x="548640" y="5623560"/>
            <a:ext cx="11109960" cy="411480"/>
          </a:xfrm>
          <a:prstGeom prst="rect">
            <a:avLst/>
          </a:prstGeom>
          <a:noFill/>
          <a:ln/>
        </p:spPr>
        <p:txBody>
          <a:bodyPr wrap="square" lIns="0" tIns="0" rIns="0" bIns="0" rtlCol="0" anchor="t"/>
          <a:lstStyle/>
          <a:p>
            <a:pPr algn="l" indent="0" marL="0">
              <a:buNone/>
            </a:pPr>
            <a:r>
              <a:rPr lang="en-US" sz="1700" i="1" dirty="0">
                <a:solidFill>
                  <a:schemeClr val="accent1"/>
                </a:solidFill>
              </a:rPr>
              <a:t>Goal: choose well using only what the node knows, and explain why.</a:t>
            </a:r>
            <a:endParaRPr lang="en-US" sz="17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A physics-based digital twin of the node</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Sanjith M P</a:t>
            </a:r>
            <a:endParaRPr lang="en-US" sz="1200" dirty="0"/>
          </a:p>
        </p:txBody>
      </p:sp>
      <p:pic>
        <p:nvPicPr>
          <p:cNvPr id="4" name="3D twin screenshot" descr="3D digital twin replaying task T09206: solar panels at 0.53 W, battery 33.6 %, ESP32 CPU 47 %, WiFi -62 dBm, edge server 49 %, decision OFFLOAD">    </p:cNvPr>
          <p:cNvPicPr>
            <a:picLocks noChangeAspect="1"/>
          </p:cNvPicPr>
          <p:nvPr/>
        </p:nvPicPr>
        <p:blipFill>
          <a:blip r:embed="rId1"/>
          <a:stretch>
            <a:fillRect/>
          </a:stretch>
        </p:blipFill>
        <p:spPr>
          <a:xfrm>
            <a:off x="548640" y="1234440"/>
            <a:ext cx="6766560" cy="3291840"/>
          </a:xfrm>
          <a:prstGeom prst="rect">
            <a:avLst/>
          </a:prstGeom>
        </p:spPr>
      </p:pic>
      <p:sp>
        <p:nvSpPr>
          <p:cNvPr id="5" name="Text 2"/>
          <p:cNvSpPr txBox="1"/>
          <p:nvPr/>
        </p:nvSpPr>
        <p:spPr>
          <a:xfrm>
            <a:off x="548640" y="4590288"/>
            <a:ext cx="6766560" cy="274320"/>
          </a:xfrm>
          <a:prstGeom prst="rect">
            <a:avLst/>
          </a:prstGeom>
          <a:noFill/>
          <a:ln/>
        </p:spPr>
        <p:txBody>
          <a:bodyPr wrap="square" lIns="0" tIns="0" rIns="0" bIns="0" rtlCol="0" anchor="t"/>
          <a:lstStyle/>
          <a:p>
            <a:pPr algn="l" indent="0" marL="0">
              <a:buNone/>
            </a:pPr>
            <a:r>
              <a:rPr lang="en-US" sz="1100" dirty="0">
                <a:solidFill>
                  <a:schemeClr val="tx2"/>
                </a:solidFill>
              </a:rPr>
              <a:t>The project's 3D twin replaying task T09206 (day 7, 09:26, sunny), which is offloaded</a:t>
            </a:r>
            <a:endParaRPr lang="en-US" sz="1100" dirty="0"/>
          </a:p>
        </p:txBody>
      </p:sp>
      <p:sp>
        <p:nvSpPr>
          <p:cNvPr id="6" name="Text 3"/>
          <p:cNvSpPr/>
          <p:nvPr/>
        </p:nvSpPr>
        <p:spPr>
          <a:xfrm>
            <a:off x="548640" y="5074920"/>
            <a:ext cx="6766560" cy="914400"/>
          </a:xfrm>
          <a:prstGeom prst="roundRect">
            <a:avLst>
              <a:gd name="adj" fmla="val 6000"/>
            </a:avLst>
          </a:prstGeom>
          <a:solidFill>
            <a:schemeClr val="bg2"/>
          </a:solidFill>
          <a:ln w="9525">
            <a:solidFill>
              <a:srgbClr val="CBD2D9"/>
            </a:solidFill>
          </a:ln>
        </p:spPr>
        <p:txBody>
          <a:bodyPr wrap="square" lIns="114300" tIns="114300" rIns="114300" bIns="114300" rtlCol="0" anchor="ctr"/>
          <a:lstStyle/>
          <a:p>
            <a:pPr algn="l" indent="0" marL="0">
              <a:buNone/>
            </a:pPr>
            <a:r>
              <a:rPr lang="en-US" sz="1500" b="1" dirty="0">
                <a:solidFill>
                  <a:schemeClr val="accent1"/>
                </a:solidFill>
              </a:rPr>
              <a:t>Closed loop</a:t>
            </a:r>
            <a:endParaRPr lang="en-US" sz="1500" dirty="0"/>
          </a:p>
          <a:p>
            <a:pPr algn="l" indent="0" marL="0">
              <a:spcBef>
                <a:spcPts val="400"/>
              </a:spcBef>
              <a:buNone/>
            </a:pPr>
            <a:r>
              <a:rPr lang="en-US" sz="1400" dirty="0">
                <a:solidFill>
                  <a:schemeClr val="tx1"/>
                </a:solidFill>
              </a:rPr>
              <a:t>The energy of the chosen option is taken from the battery, so every decision changes the next one.</a:t>
            </a:r>
            <a:endParaRPr lang="en-US" sz="1500" dirty="0"/>
          </a:p>
        </p:txBody>
      </p:sp>
      <p:sp>
        <p:nvSpPr>
          <p:cNvPr id="7" name="Text 4"/>
          <p:cNvSpPr/>
          <p:nvPr/>
        </p:nvSpPr>
        <p:spPr>
          <a:xfrm>
            <a:off x="7635240" y="1234440"/>
            <a:ext cx="4023360" cy="960120"/>
          </a:xfrm>
          <a:prstGeom prst="roundRect">
            <a:avLst>
              <a:gd name="adj" fmla="val 5714"/>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Solar panel (1 W)</a:t>
            </a:r>
            <a:endParaRPr lang="en-US" sz="1400" dirty="0"/>
          </a:p>
          <a:p>
            <a:pPr algn="l" indent="0" marL="0">
              <a:spcBef>
                <a:spcPts val="400"/>
              </a:spcBef>
              <a:buNone/>
            </a:pPr>
            <a:r>
              <a:rPr lang="en-US" sz="1300" dirty="0">
                <a:solidFill>
                  <a:schemeClr val="tx1"/>
                </a:solidFill>
              </a:rPr>
              <a:t>Power = 1 W × sunlight ÷ 1000 × 0.85; clouds drift with the day's weather</a:t>
            </a:r>
            <a:endParaRPr lang="en-US" sz="1400" dirty="0"/>
          </a:p>
        </p:txBody>
      </p:sp>
      <p:sp>
        <p:nvSpPr>
          <p:cNvPr id="8" name="Shape 5"/>
          <p:cNvSpPr/>
          <p:nvPr/>
        </p:nvSpPr>
        <p:spPr>
          <a:xfrm>
            <a:off x="9646920" y="2194560"/>
            <a:ext cx="0" cy="246888"/>
          </a:xfrm>
          <a:prstGeom prst="line">
            <a:avLst/>
          </a:prstGeom>
          <a:noFill/>
          <a:ln w="19050">
            <a:solidFill>
              <a:srgbClr val="7B8794"/>
            </a:solidFill>
            <a:prstDash val="solid"/>
            <a:tailEnd type="triangle"/>
          </a:ln>
        </p:spPr>
      </p:sp>
      <p:sp>
        <p:nvSpPr>
          <p:cNvPr id="9" name="Text 6"/>
          <p:cNvSpPr/>
          <p:nvPr/>
        </p:nvSpPr>
        <p:spPr>
          <a:xfrm>
            <a:off x="7635240" y="2441448"/>
            <a:ext cx="4023360" cy="960120"/>
          </a:xfrm>
          <a:prstGeom prst="roundRect">
            <a:avLst>
              <a:gd name="adj" fmla="val 5714"/>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Battery (12 Wh)</a:t>
            </a:r>
            <a:endParaRPr lang="en-US" sz="1400" dirty="0"/>
          </a:p>
          <a:p>
            <a:pPr algn="l" indent="0" marL="0">
              <a:spcBef>
                <a:spcPts val="400"/>
              </a:spcBef>
              <a:buNone/>
            </a:pPr>
            <a:r>
              <a:rPr lang="en-US" sz="1300" dirty="0">
                <a:solidFill>
                  <a:schemeClr val="tx1"/>
                </a:solidFill>
              </a:rPr>
              <a:t>Charge goes up with solar power and down with power used, at 95 % efficiency</a:t>
            </a:r>
            <a:endParaRPr lang="en-US" sz="1400" dirty="0"/>
          </a:p>
        </p:txBody>
      </p:sp>
      <p:sp>
        <p:nvSpPr>
          <p:cNvPr id="10" name="Shape 7"/>
          <p:cNvSpPr/>
          <p:nvPr/>
        </p:nvSpPr>
        <p:spPr>
          <a:xfrm>
            <a:off x="9646920" y="3401568"/>
            <a:ext cx="0" cy="246888"/>
          </a:xfrm>
          <a:prstGeom prst="line">
            <a:avLst/>
          </a:prstGeom>
          <a:noFill/>
          <a:ln w="19050">
            <a:solidFill>
              <a:srgbClr val="7B8794"/>
            </a:solidFill>
            <a:prstDash val="solid"/>
            <a:tailEnd type="triangle"/>
          </a:ln>
        </p:spPr>
      </p:sp>
      <p:sp>
        <p:nvSpPr>
          <p:cNvPr id="11" name="Text 8"/>
          <p:cNvSpPr/>
          <p:nvPr/>
        </p:nvSpPr>
        <p:spPr>
          <a:xfrm>
            <a:off x="7635240" y="3648456"/>
            <a:ext cx="4023360" cy="960120"/>
          </a:xfrm>
          <a:prstGeom prst="roundRect">
            <a:avLst>
              <a:gd name="adj" fmla="val 5714"/>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Tasks (5 types)</a:t>
            </a:r>
            <a:endParaRPr lang="en-US" sz="1400" dirty="0"/>
          </a:p>
          <a:p>
            <a:pPr algn="l" indent="0" marL="0">
              <a:spcBef>
                <a:spcPts val="400"/>
              </a:spcBef>
              <a:buNone/>
            </a:pPr>
            <a:r>
              <a:rPr lang="en-US" sz="1300" dirty="0">
                <a:solidFill>
                  <a:schemeClr val="tx1"/>
                </a:solidFill>
              </a:rPr>
              <a:t>From sensor aggregation (light) to image preprocessing (heavy), one per minute</a:t>
            </a:r>
            <a:endParaRPr lang="en-US" sz="1400" dirty="0"/>
          </a:p>
        </p:txBody>
      </p:sp>
      <p:sp>
        <p:nvSpPr>
          <p:cNvPr id="12" name="Shape 9"/>
          <p:cNvSpPr/>
          <p:nvPr/>
        </p:nvSpPr>
        <p:spPr>
          <a:xfrm>
            <a:off x="9646920" y="4608576"/>
            <a:ext cx="0" cy="246888"/>
          </a:xfrm>
          <a:prstGeom prst="line">
            <a:avLst/>
          </a:prstGeom>
          <a:noFill/>
          <a:ln w="19050">
            <a:solidFill>
              <a:srgbClr val="7B8794"/>
            </a:solidFill>
            <a:prstDash val="solid"/>
            <a:tailEnd type="triangle"/>
          </a:ln>
        </p:spPr>
      </p:sp>
      <p:sp>
        <p:nvSpPr>
          <p:cNvPr id="13" name="Text 10"/>
          <p:cNvSpPr/>
          <p:nvPr/>
        </p:nvSpPr>
        <p:spPr>
          <a:xfrm>
            <a:off x="7635240" y="4855464"/>
            <a:ext cx="4023360" cy="960120"/>
          </a:xfrm>
          <a:prstGeom prst="roundRect">
            <a:avLst>
              <a:gd name="adj" fmla="val 5714"/>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ESP32 (240 MHz)</a:t>
            </a:r>
            <a:endParaRPr lang="en-US" sz="1400" dirty="0"/>
          </a:p>
          <a:p>
            <a:pPr algn="l" indent="0" marL="0">
              <a:spcBef>
                <a:spcPts val="400"/>
              </a:spcBef>
              <a:buNone/>
            </a:pPr>
            <a:r>
              <a:rPr lang="en-US" sz="1300" dirty="0">
                <a:solidFill>
                  <a:schemeClr val="tx1"/>
                </a:solidFill>
              </a:rPr>
              <a:t>Work = data size × work per byte; time = work ÷ free CPU speed; energy = power × time</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From the twin to a labelled dataset</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Sanjith M P</a:t>
            </a:r>
            <a:endParaRPr lang="en-US" sz="1200" dirty="0"/>
          </a:p>
        </p:txBody>
      </p:sp>
      <p:sp>
        <p:nvSpPr>
          <p:cNvPr id="4" name="Text 2"/>
          <p:cNvSpPr/>
          <p:nvPr/>
        </p:nvSpPr>
        <p:spPr>
          <a:xfrm>
            <a:off x="548640" y="1234440"/>
            <a:ext cx="2514600" cy="914400"/>
          </a:xfrm>
          <a:prstGeom prst="roundRect">
            <a:avLst>
              <a:gd name="adj" fmla="val 6000"/>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400" dirty="0">
                <a:solidFill>
                  <a:schemeClr val="tx1"/>
                </a:solidFill>
              </a:rPr>
              <a:t>Run the twin for 7 days, one task per minute</a:t>
            </a:r>
            <a:endParaRPr lang="en-US" sz="1400" dirty="0"/>
          </a:p>
        </p:txBody>
      </p:sp>
      <p:sp>
        <p:nvSpPr>
          <p:cNvPr id="5" name="Shape 3"/>
          <p:cNvSpPr/>
          <p:nvPr/>
        </p:nvSpPr>
        <p:spPr>
          <a:xfrm>
            <a:off x="3063240" y="1691640"/>
            <a:ext cx="320040" cy="0"/>
          </a:xfrm>
          <a:prstGeom prst="line">
            <a:avLst/>
          </a:prstGeom>
          <a:noFill/>
          <a:ln w="19050">
            <a:solidFill>
              <a:srgbClr val="7B8794"/>
            </a:solidFill>
            <a:prstDash val="solid"/>
            <a:tailEnd type="triangle"/>
          </a:ln>
        </p:spPr>
      </p:sp>
      <p:sp>
        <p:nvSpPr>
          <p:cNvPr id="6" name="Text 4"/>
          <p:cNvSpPr/>
          <p:nvPr/>
        </p:nvSpPr>
        <p:spPr>
          <a:xfrm>
            <a:off x="3383280" y="1234440"/>
            <a:ext cx="2514600" cy="914400"/>
          </a:xfrm>
          <a:prstGeom prst="roundRect">
            <a:avLst>
              <a:gd name="adj" fmla="val 6000"/>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400" dirty="0">
                <a:solidFill>
                  <a:schemeClr val="tx1"/>
                </a:solidFill>
              </a:rPr>
              <a:t>Work out both options for every task</a:t>
            </a:r>
            <a:endParaRPr lang="en-US" sz="1400" dirty="0"/>
          </a:p>
        </p:txBody>
      </p:sp>
      <p:sp>
        <p:nvSpPr>
          <p:cNvPr id="7" name="Shape 5"/>
          <p:cNvSpPr/>
          <p:nvPr/>
        </p:nvSpPr>
        <p:spPr>
          <a:xfrm>
            <a:off x="5897880" y="1691640"/>
            <a:ext cx="320040" cy="0"/>
          </a:xfrm>
          <a:prstGeom prst="line">
            <a:avLst/>
          </a:prstGeom>
          <a:noFill/>
          <a:ln w="19050">
            <a:solidFill>
              <a:srgbClr val="7B8794"/>
            </a:solidFill>
            <a:prstDash val="solid"/>
            <a:tailEnd type="triangle"/>
          </a:ln>
        </p:spPr>
      </p:sp>
      <p:sp>
        <p:nvSpPr>
          <p:cNvPr id="8" name="Text 6"/>
          <p:cNvSpPr/>
          <p:nvPr/>
        </p:nvSpPr>
        <p:spPr>
          <a:xfrm>
            <a:off x="6217920" y="1234440"/>
            <a:ext cx="2514600" cy="914400"/>
          </a:xfrm>
          <a:prstGeom prst="roundRect">
            <a:avLst>
              <a:gd name="adj" fmla="val 6000"/>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400" dirty="0">
                <a:solidFill>
                  <a:schemeClr val="tx1"/>
                </a:solidFill>
              </a:rPr>
              <a:t>Give each option a cost</a:t>
            </a:r>
            <a:endParaRPr lang="en-US" sz="1400" dirty="0"/>
          </a:p>
        </p:txBody>
      </p:sp>
      <p:sp>
        <p:nvSpPr>
          <p:cNvPr id="9" name="Shape 7"/>
          <p:cNvSpPr/>
          <p:nvPr/>
        </p:nvSpPr>
        <p:spPr>
          <a:xfrm>
            <a:off x="8732520" y="1691640"/>
            <a:ext cx="320040" cy="0"/>
          </a:xfrm>
          <a:prstGeom prst="line">
            <a:avLst/>
          </a:prstGeom>
          <a:noFill/>
          <a:ln w="19050">
            <a:solidFill>
              <a:srgbClr val="7B8794"/>
            </a:solidFill>
            <a:prstDash val="solid"/>
            <a:tailEnd type="triangle"/>
          </a:ln>
        </p:spPr>
      </p:sp>
      <p:sp>
        <p:nvSpPr>
          <p:cNvPr id="10" name="Text 8"/>
          <p:cNvSpPr/>
          <p:nvPr/>
        </p:nvSpPr>
        <p:spPr>
          <a:xfrm>
            <a:off x="9052560" y="1234440"/>
            <a:ext cx="2514600" cy="914400"/>
          </a:xfrm>
          <a:prstGeom prst="roundRect">
            <a:avLst>
              <a:gd name="adj" fmla="val 6000"/>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400" dirty="0">
                <a:solidFill>
                  <a:schemeClr val="tx1"/>
                </a:solidFill>
              </a:rPr>
              <a:t>The cheaper option is the correct label (the oracle)</a:t>
            </a:r>
            <a:endParaRPr lang="en-US" sz="1400" dirty="0"/>
          </a:p>
        </p:txBody>
      </p:sp>
      <p:sp>
        <p:nvSpPr>
          <p:cNvPr id="11" name="Text 9"/>
          <p:cNvSpPr/>
          <p:nvPr/>
        </p:nvSpPr>
        <p:spPr>
          <a:xfrm>
            <a:off x="548640" y="2514600"/>
            <a:ext cx="6309360" cy="2240280"/>
          </a:xfrm>
          <a:prstGeom prst="roundRect">
            <a:avLst>
              <a:gd name="adj" fmla="val 2449"/>
            </a:avLst>
          </a:prstGeom>
          <a:solidFill>
            <a:schemeClr val="bg2"/>
          </a:solidFill>
          <a:ln w="9525">
            <a:solidFill>
              <a:srgbClr val="CBD2D9"/>
            </a:solidFill>
          </a:ln>
        </p:spPr>
        <p:txBody>
          <a:bodyPr wrap="square" lIns="165100" tIns="165100" rIns="165100" bIns="165100" rtlCol="0" anchor="ctr"/>
          <a:lstStyle/>
          <a:p>
            <a:pPr algn="l" indent="0" marL="0">
              <a:buNone/>
            </a:pPr>
            <a:r>
              <a:rPr lang="en-US" sz="1500" b="1" dirty="0">
                <a:solidFill>
                  <a:schemeClr val="accent1"/>
                </a:solidFill>
              </a:rPr>
              <a:t>How the cost is worked out</a:t>
            </a:r>
            <a:endParaRPr lang="en-US" sz="1500" dirty="0"/>
          </a:p>
          <a:p>
            <a:pPr algn="l" indent="0" marL="0">
              <a:spcBef>
                <a:spcPts val="400"/>
              </a:spcBef>
              <a:buNone/>
            </a:pPr>
            <a:r>
              <a:rPr lang="en-US" sz="1500" dirty="0">
                <a:solidFill>
                  <a:schemeClr val="tx1"/>
                </a:solidFill>
              </a:rPr>
              <a:t>Cost = energy × battery price + time as a share of the 5-second deadline + a penalty if it would be late.</a:t>
            </a:r>
            <a:endParaRPr lang="en-US" sz="1500" dirty="0"/>
          </a:p>
          <a:p>
            <a:pPr algn="l" indent="0" marL="0">
              <a:spcBef>
                <a:spcPts val="1000"/>
              </a:spcBef>
              <a:buNone/>
            </a:pPr>
            <a:r>
              <a:rPr lang="en-US" sz="1500" dirty="0">
                <a:solidFill>
                  <a:schemeClr val="tx1"/>
                </a:solidFill>
              </a:rPr>
              <a:t>Offloading also adds small risk terms for a weak WiFi link and a busy server.</a:t>
            </a:r>
            <a:endParaRPr lang="en-US" sz="1500" dirty="0"/>
          </a:p>
          <a:p>
            <a:pPr algn="l" indent="0" marL="0">
              <a:spcBef>
                <a:spcPts val="1000"/>
              </a:spcBef>
              <a:buNone/>
            </a:pPr>
            <a:r>
              <a:rPr lang="en-US" sz="1500" dirty="0">
                <a:solidFill>
                  <a:schemeClr val="tx1"/>
                </a:solidFill>
              </a:rPr>
              <a:t>Battery price is 1 when the battery is full and rises steeply to 5 when it is empty.</a:t>
            </a:r>
            <a:endParaRPr lang="en-US" sz="1500" dirty="0"/>
          </a:p>
        </p:txBody>
      </p:sp>
      <p:sp>
        <p:nvSpPr>
          <p:cNvPr id="12" name="Text 10"/>
          <p:cNvSpPr/>
          <p:nvPr/>
        </p:nvSpPr>
        <p:spPr>
          <a:xfrm>
            <a:off x="7132320" y="2514600"/>
            <a:ext cx="2148840" cy="1005840"/>
          </a:xfrm>
          <a:prstGeom prst="roundRect">
            <a:avLst>
              <a:gd name="adj" fmla="val 5455"/>
            </a:avLst>
          </a:prstGeom>
          <a:solidFill>
            <a:schemeClr val="bg2"/>
          </a:solidFill>
          <a:ln w="9525">
            <a:solidFill>
              <a:srgbClr val="CBD2D9"/>
            </a:solidFill>
          </a:ln>
        </p:spPr>
        <p:txBody>
          <a:bodyPr wrap="square" lIns="76200" tIns="76200" rIns="76200" bIns="7620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10,080</a:t>
            </a:r>
            <a:endParaRPr lang="en-US" sz="3000" dirty="0"/>
          </a:p>
          <a:p>
            <a:pPr algn="ctr" indent="0" marL="0">
              <a:buNone/>
            </a:pPr>
            <a:r>
              <a:rPr lang="en-US" sz="1300" dirty="0">
                <a:solidFill>
                  <a:schemeClr val="tx2"/>
                </a:solidFill>
              </a:rPr>
              <a:t>tasks (7 days)</a:t>
            </a:r>
            <a:endParaRPr lang="en-US" sz="3000" dirty="0"/>
          </a:p>
        </p:txBody>
      </p:sp>
      <p:sp>
        <p:nvSpPr>
          <p:cNvPr id="13" name="Text 11"/>
          <p:cNvSpPr/>
          <p:nvPr/>
        </p:nvSpPr>
        <p:spPr>
          <a:xfrm>
            <a:off x="9509760" y="2514600"/>
            <a:ext cx="2148840" cy="1005840"/>
          </a:xfrm>
          <a:prstGeom prst="roundRect">
            <a:avLst>
              <a:gd name="adj" fmla="val 5455"/>
            </a:avLst>
          </a:prstGeom>
          <a:solidFill>
            <a:schemeClr val="bg2"/>
          </a:solidFill>
          <a:ln w="9525">
            <a:solidFill>
              <a:srgbClr val="CBD2D9"/>
            </a:solidFill>
          </a:ln>
        </p:spPr>
        <p:txBody>
          <a:bodyPr wrap="square" lIns="76200" tIns="76200" rIns="76200" bIns="7620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38</a:t>
            </a:r>
            <a:endParaRPr lang="en-US" sz="3000" dirty="0"/>
          </a:p>
          <a:p>
            <a:pPr algn="ctr" indent="0" marL="0">
              <a:buNone/>
            </a:pPr>
            <a:r>
              <a:rPr lang="en-US" sz="1300" dirty="0">
                <a:solidFill>
                  <a:schemeClr val="tx2"/>
                </a:solidFill>
              </a:rPr>
              <a:t>features per task</a:t>
            </a:r>
            <a:endParaRPr lang="en-US" sz="3000" dirty="0"/>
          </a:p>
        </p:txBody>
      </p:sp>
      <p:sp>
        <p:nvSpPr>
          <p:cNvPr id="14" name="Text 12"/>
          <p:cNvSpPr/>
          <p:nvPr/>
        </p:nvSpPr>
        <p:spPr>
          <a:xfrm>
            <a:off x="7132320" y="3749040"/>
            <a:ext cx="2148840" cy="1005840"/>
          </a:xfrm>
          <a:prstGeom prst="roundRect">
            <a:avLst>
              <a:gd name="adj" fmla="val 5455"/>
            </a:avLst>
          </a:prstGeom>
          <a:solidFill>
            <a:schemeClr val="bg2"/>
          </a:solidFill>
          <a:ln w="9525">
            <a:solidFill>
              <a:srgbClr val="CBD2D9"/>
            </a:solidFill>
          </a:ln>
        </p:spPr>
        <p:txBody>
          <a:bodyPr wrap="square" lIns="76200" tIns="76200" rIns="76200" bIns="7620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54 / 46 %</a:t>
            </a:r>
            <a:endParaRPr lang="en-US" sz="3000" dirty="0"/>
          </a:p>
          <a:p>
            <a:pPr algn="ctr" indent="0" marL="0">
              <a:buNone/>
            </a:pPr>
            <a:r>
              <a:rPr lang="en-US" sz="1300" dirty="0">
                <a:solidFill>
                  <a:schemeClr val="tx2"/>
                </a:solidFill>
              </a:rPr>
              <a:t>local / offload</a:t>
            </a:r>
            <a:endParaRPr lang="en-US" sz="3000" dirty="0"/>
          </a:p>
        </p:txBody>
      </p:sp>
      <p:sp>
        <p:nvSpPr>
          <p:cNvPr id="15" name="Text 13"/>
          <p:cNvSpPr/>
          <p:nvPr/>
        </p:nvSpPr>
        <p:spPr>
          <a:xfrm>
            <a:off x="9509760" y="3749040"/>
            <a:ext cx="2148840" cy="1005840"/>
          </a:xfrm>
          <a:prstGeom prst="roundRect">
            <a:avLst>
              <a:gd name="adj" fmla="val 5455"/>
            </a:avLst>
          </a:prstGeom>
          <a:solidFill>
            <a:schemeClr val="bg2"/>
          </a:solidFill>
          <a:ln w="9525">
            <a:solidFill>
              <a:srgbClr val="CBD2D9"/>
            </a:solidFill>
          </a:ln>
        </p:spPr>
        <p:txBody>
          <a:bodyPr wrap="square" lIns="76200" tIns="76200" rIns="76200" bIns="7620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20 / 20</a:t>
            </a:r>
            <a:endParaRPr lang="en-US" sz="3000" dirty="0"/>
          </a:p>
          <a:p>
            <a:pPr algn="ctr" indent="0" marL="0">
              <a:buNone/>
            </a:pPr>
            <a:r>
              <a:rPr lang="en-US" sz="1300" dirty="0">
                <a:solidFill>
                  <a:schemeClr val="tx2"/>
                </a:solidFill>
              </a:rPr>
              <a:t>engineering checks pass</a:t>
            </a:r>
            <a:endParaRPr lang="en-US" sz="3000" dirty="0"/>
          </a:p>
        </p:txBody>
      </p:sp>
      <p:sp>
        <p:nvSpPr>
          <p:cNvPr id="16" name="Text 14"/>
          <p:cNvSpPr/>
          <p:nvPr/>
        </p:nvSpPr>
        <p:spPr>
          <a:xfrm>
            <a:off x="548640" y="5029200"/>
            <a:ext cx="1783080" cy="594360"/>
          </a:xfrm>
          <a:prstGeom prst="roundRect">
            <a:avLst>
              <a:gd name="adj" fmla="val 923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300" dirty="0">
                <a:solidFill>
                  <a:schemeClr val="tx1"/>
                </a:solidFill>
              </a:rPr>
              <a:t>Time &amp; weather · 4</a:t>
            </a:r>
            <a:endParaRPr lang="en-US" sz="1300" dirty="0"/>
          </a:p>
        </p:txBody>
      </p:sp>
      <p:sp>
        <p:nvSpPr>
          <p:cNvPr id="17" name="Text 15"/>
          <p:cNvSpPr/>
          <p:nvPr/>
        </p:nvSpPr>
        <p:spPr>
          <a:xfrm>
            <a:off x="2423160" y="5029200"/>
            <a:ext cx="1783080" cy="594360"/>
          </a:xfrm>
          <a:prstGeom prst="roundRect">
            <a:avLst>
              <a:gd name="adj" fmla="val 923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300" dirty="0">
                <a:solidFill>
                  <a:schemeClr val="tx1"/>
                </a:solidFill>
              </a:rPr>
              <a:t>Solar &amp; battery · 8</a:t>
            </a:r>
            <a:endParaRPr lang="en-US" sz="1300" dirty="0"/>
          </a:p>
        </p:txBody>
      </p:sp>
      <p:sp>
        <p:nvSpPr>
          <p:cNvPr id="18" name="Text 16"/>
          <p:cNvSpPr/>
          <p:nvPr/>
        </p:nvSpPr>
        <p:spPr>
          <a:xfrm>
            <a:off x="4297680" y="5029200"/>
            <a:ext cx="1783080" cy="594360"/>
          </a:xfrm>
          <a:prstGeom prst="roundRect">
            <a:avLst>
              <a:gd name="adj" fmla="val 923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300" dirty="0">
                <a:solidFill>
                  <a:schemeClr val="tx1"/>
                </a:solidFill>
              </a:rPr>
              <a:t>Task &amp; ESP32 · 9</a:t>
            </a:r>
            <a:endParaRPr lang="en-US" sz="1300" dirty="0"/>
          </a:p>
        </p:txBody>
      </p:sp>
      <p:sp>
        <p:nvSpPr>
          <p:cNvPr id="19" name="Text 17"/>
          <p:cNvSpPr/>
          <p:nvPr/>
        </p:nvSpPr>
        <p:spPr>
          <a:xfrm>
            <a:off x="6172200" y="5029200"/>
            <a:ext cx="1783080" cy="594360"/>
          </a:xfrm>
          <a:prstGeom prst="roundRect">
            <a:avLst>
              <a:gd name="adj" fmla="val 923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300" dirty="0">
                <a:solidFill>
                  <a:schemeClr val="tx1"/>
                </a:solidFill>
              </a:rPr>
              <a:t>Network · 10</a:t>
            </a:r>
            <a:endParaRPr lang="en-US" sz="1300" dirty="0"/>
          </a:p>
        </p:txBody>
      </p:sp>
      <p:sp>
        <p:nvSpPr>
          <p:cNvPr id="20" name="Text 18"/>
          <p:cNvSpPr/>
          <p:nvPr/>
        </p:nvSpPr>
        <p:spPr>
          <a:xfrm>
            <a:off x="8046720" y="5029200"/>
            <a:ext cx="1783080" cy="594360"/>
          </a:xfrm>
          <a:prstGeom prst="roundRect">
            <a:avLst>
              <a:gd name="adj" fmla="val 923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300" dirty="0">
                <a:solidFill>
                  <a:schemeClr val="tx1"/>
                </a:solidFill>
              </a:rPr>
              <a:t>Edge server · 3</a:t>
            </a:r>
            <a:endParaRPr lang="en-US" sz="1300" dirty="0"/>
          </a:p>
        </p:txBody>
      </p:sp>
      <p:sp>
        <p:nvSpPr>
          <p:cNvPr id="21" name="Text 19"/>
          <p:cNvSpPr/>
          <p:nvPr/>
        </p:nvSpPr>
        <p:spPr>
          <a:xfrm>
            <a:off x="9921240" y="5029200"/>
            <a:ext cx="1783080" cy="594360"/>
          </a:xfrm>
          <a:prstGeom prst="roundRect">
            <a:avLst>
              <a:gd name="adj" fmla="val 923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300" dirty="0">
                <a:solidFill>
                  <a:schemeClr val="tx1"/>
                </a:solidFill>
              </a:rPr>
              <a:t>Cost &amp; decision · 4</a:t>
            </a:r>
            <a:endParaRPr lang="en-US" sz="1300" dirty="0"/>
          </a:p>
        </p:txBody>
      </p:sp>
      <p:sp>
        <p:nvSpPr>
          <p:cNvPr id="22" name="Text 20"/>
          <p:cNvSpPr txBox="1"/>
          <p:nvPr/>
        </p:nvSpPr>
        <p:spPr>
          <a:xfrm>
            <a:off x="548640" y="5833872"/>
            <a:ext cx="11109960" cy="365760"/>
          </a:xfrm>
          <a:prstGeom prst="rect">
            <a:avLst/>
          </a:prstGeom>
          <a:noFill/>
          <a:ln/>
        </p:spPr>
        <p:txBody>
          <a:bodyPr wrap="square" lIns="0" tIns="0" rIns="0" bIns="0" rtlCol="0" anchor="t"/>
          <a:lstStyle/>
          <a:p>
            <a:pPr algn="l" indent="0" marL="0">
              <a:buNone/>
            </a:pPr>
            <a:r>
              <a:rPr lang="en-US" sz="1300" dirty="0">
                <a:solidFill>
                  <a:schemeClr val="tx2"/>
                </a:solidFill>
              </a:rPr>
              <a:t>Example T09206 (214 KB anomaly detection): local 1.8 s and 287 mJ, offload 0.36 s and 151 mJ, so the oracle offloads it</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Modelling the offload path</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Darshan R</a:t>
            </a:r>
            <a:endParaRPr lang="en-US" sz="1200" dirty="0"/>
          </a:p>
        </p:txBody>
      </p:sp>
      <p:sp>
        <p:nvSpPr>
          <p:cNvPr id="4" name="Text 2"/>
          <p:cNvSpPr txBox="1"/>
          <p:nvPr/>
        </p:nvSpPr>
        <p:spPr>
          <a:xfrm>
            <a:off x="548640" y="1188720"/>
            <a:ext cx="8229600" cy="365760"/>
          </a:xfrm>
          <a:prstGeom prst="rect">
            <a:avLst/>
          </a:prstGeom>
          <a:noFill/>
          <a:ln/>
        </p:spPr>
        <p:txBody>
          <a:bodyPr wrap="square" lIns="0" tIns="0" rIns="0" bIns="0" rtlCol="0" anchor="t"/>
          <a:lstStyle/>
          <a:p>
            <a:pPr algn="l" indent="0" marL="0">
              <a:buNone/>
            </a:pPr>
            <a:r>
              <a:rPr lang="en-US" sz="1500" b="1" dirty="0">
                <a:solidFill>
                  <a:schemeClr val="tx1"/>
                </a:solidFill>
              </a:rPr>
              <a:t>WiFi link (the node sits on moving equipment)</a:t>
            </a:r>
            <a:endParaRPr lang="en-US" sz="1500" dirty="0"/>
          </a:p>
        </p:txBody>
      </p:sp>
      <p:sp>
        <p:nvSpPr>
          <p:cNvPr id="5" name="Text 3"/>
          <p:cNvSpPr/>
          <p:nvPr/>
        </p:nvSpPr>
        <p:spPr>
          <a:xfrm>
            <a:off x="548640" y="1645920"/>
            <a:ext cx="2011680" cy="1188720"/>
          </a:xfrm>
          <a:prstGeom prst="roundRect">
            <a:avLst>
              <a:gd name="adj" fmla="val 4615"/>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Distance</a:t>
            </a:r>
            <a:endParaRPr lang="en-US" sz="1400" dirty="0"/>
          </a:p>
          <a:p>
            <a:pPr algn="l" indent="0" marL="0">
              <a:spcBef>
                <a:spcPts val="400"/>
              </a:spcBef>
              <a:buNone/>
            </a:pPr>
            <a:r>
              <a:rPr lang="en-US" sz="1300" dirty="0">
                <a:solidFill>
                  <a:schemeClr val="tx1"/>
                </a:solidFill>
              </a:rPr>
              <a:t>3 to 40 m, changes slowly</a:t>
            </a:r>
            <a:endParaRPr lang="en-US" sz="1400" dirty="0"/>
          </a:p>
        </p:txBody>
      </p:sp>
      <p:sp>
        <p:nvSpPr>
          <p:cNvPr id="6" name="Shape 4"/>
          <p:cNvSpPr/>
          <p:nvPr/>
        </p:nvSpPr>
        <p:spPr>
          <a:xfrm>
            <a:off x="2560320" y="2240280"/>
            <a:ext cx="274320" cy="0"/>
          </a:xfrm>
          <a:prstGeom prst="line">
            <a:avLst/>
          </a:prstGeom>
          <a:noFill/>
          <a:ln w="19050">
            <a:solidFill>
              <a:srgbClr val="7B8794"/>
            </a:solidFill>
            <a:prstDash val="solid"/>
            <a:tailEnd type="triangle"/>
          </a:ln>
        </p:spPr>
      </p:sp>
      <p:sp>
        <p:nvSpPr>
          <p:cNvPr id="7" name="Text 5"/>
          <p:cNvSpPr/>
          <p:nvPr/>
        </p:nvSpPr>
        <p:spPr>
          <a:xfrm>
            <a:off x="2834640" y="1645920"/>
            <a:ext cx="2011680" cy="1188720"/>
          </a:xfrm>
          <a:prstGeom prst="roundRect">
            <a:avLst>
              <a:gd name="adj" fmla="val 4615"/>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Signal strength</a:t>
            </a:r>
            <a:endParaRPr lang="en-US" sz="1400" dirty="0"/>
          </a:p>
          <a:p>
            <a:pPr algn="l" indent="0" marL="0">
              <a:spcBef>
                <a:spcPts val="400"/>
              </a:spcBef>
              <a:buNone/>
            </a:pPr>
            <a:r>
              <a:rPr lang="en-US" sz="1300" dirty="0">
                <a:solidFill>
                  <a:schemeClr val="tx1"/>
                </a:solidFill>
              </a:rPr>
              <a:t>weaker with distance and obstacles</a:t>
            </a:r>
            <a:endParaRPr lang="en-US" sz="1400" dirty="0"/>
          </a:p>
        </p:txBody>
      </p:sp>
      <p:sp>
        <p:nvSpPr>
          <p:cNvPr id="8" name="Shape 6"/>
          <p:cNvSpPr/>
          <p:nvPr/>
        </p:nvSpPr>
        <p:spPr>
          <a:xfrm>
            <a:off x="4846320" y="2240280"/>
            <a:ext cx="274320" cy="0"/>
          </a:xfrm>
          <a:prstGeom prst="line">
            <a:avLst/>
          </a:prstGeom>
          <a:noFill/>
          <a:ln w="19050">
            <a:solidFill>
              <a:srgbClr val="7B8794"/>
            </a:solidFill>
            <a:prstDash val="solid"/>
            <a:tailEnd type="triangle"/>
          </a:ln>
        </p:spPr>
      </p:sp>
      <p:sp>
        <p:nvSpPr>
          <p:cNvPr id="9" name="Text 7"/>
          <p:cNvSpPr/>
          <p:nvPr/>
        </p:nvSpPr>
        <p:spPr>
          <a:xfrm>
            <a:off x="5120640" y="1645920"/>
            <a:ext cx="2011680" cy="1188720"/>
          </a:xfrm>
          <a:prstGeom prst="roundRect">
            <a:avLst>
              <a:gd name="adj" fmla="val 4615"/>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WiFi speed</a:t>
            </a:r>
            <a:endParaRPr lang="en-US" sz="1400" dirty="0"/>
          </a:p>
          <a:p>
            <a:pPr algn="l" indent="0" marL="0">
              <a:spcBef>
                <a:spcPts val="400"/>
              </a:spcBef>
              <a:buNone/>
            </a:pPr>
            <a:r>
              <a:rPr lang="en-US" sz="1300" dirty="0">
                <a:solidFill>
                  <a:schemeClr val="tx1"/>
                </a:solidFill>
              </a:rPr>
              <a:t>65 down to 6.5 Mbit/s</a:t>
            </a:r>
            <a:endParaRPr lang="en-US" sz="1400" dirty="0"/>
          </a:p>
        </p:txBody>
      </p:sp>
      <p:sp>
        <p:nvSpPr>
          <p:cNvPr id="10" name="Shape 8"/>
          <p:cNvSpPr/>
          <p:nvPr/>
        </p:nvSpPr>
        <p:spPr>
          <a:xfrm>
            <a:off x="7132320" y="2240280"/>
            <a:ext cx="274320" cy="0"/>
          </a:xfrm>
          <a:prstGeom prst="line">
            <a:avLst/>
          </a:prstGeom>
          <a:noFill/>
          <a:ln w="19050">
            <a:solidFill>
              <a:srgbClr val="7B8794"/>
            </a:solidFill>
            <a:prstDash val="solid"/>
            <a:tailEnd type="triangle"/>
          </a:ln>
        </p:spPr>
      </p:sp>
      <p:sp>
        <p:nvSpPr>
          <p:cNvPr id="11" name="Text 9"/>
          <p:cNvSpPr/>
          <p:nvPr/>
        </p:nvSpPr>
        <p:spPr>
          <a:xfrm>
            <a:off x="7406640" y="1645920"/>
            <a:ext cx="2011680" cy="1188720"/>
          </a:xfrm>
          <a:prstGeom prst="roundRect">
            <a:avLst>
              <a:gd name="adj" fmla="val 4615"/>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Packet errors</a:t>
            </a:r>
            <a:endParaRPr lang="en-US" sz="1400" dirty="0"/>
          </a:p>
          <a:p>
            <a:pPr algn="l" indent="0" marL="0">
              <a:spcBef>
                <a:spcPts val="400"/>
              </a:spcBef>
              <a:buNone/>
            </a:pPr>
            <a:r>
              <a:rPr lang="en-US" sz="1300" dirty="0">
                <a:solidFill>
                  <a:schemeClr val="tx1"/>
                </a:solidFill>
              </a:rPr>
              <a:t>weak signal means more retries</a:t>
            </a:r>
            <a:endParaRPr lang="en-US" sz="1400" dirty="0"/>
          </a:p>
        </p:txBody>
      </p:sp>
      <p:sp>
        <p:nvSpPr>
          <p:cNvPr id="12" name="Shape 10"/>
          <p:cNvSpPr/>
          <p:nvPr/>
        </p:nvSpPr>
        <p:spPr>
          <a:xfrm>
            <a:off x="9418320" y="2240280"/>
            <a:ext cx="274320" cy="0"/>
          </a:xfrm>
          <a:prstGeom prst="line">
            <a:avLst/>
          </a:prstGeom>
          <a:noFill/>
          <a:ln w="19050">
            <a:solidFill>
              <a:srgbClr val="7B8794"/>
            </a:solidFill>
            <a:prstDash val="solid"/>
            <a:tailEnd type="triangle"/>
          </a:ln>
        </p:spPr>
      </p:sp>
      <p:sp>
        <p:nvSpPr>
          <p:cNvPr id="13" name="Text 11"/>
          <p:cNvSpPr/>
          <p:nvPr/>
        </p:nvSpPr>
        <p:spPr>
          <a:xfrm>
            <a:off x="9692640" y="1645920"/>
            <a:ext cx="2011680" cy="1188720"/>
          </a:xfrm>
          <a:prstGeom prst="roundRect">
            <a:avLst>
              <a:gd name="adj" fmla="val 4615"/>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Send time and energy</a:t>
            </a:r>
            <a:endParaRPr lang="en-US" sz="1400" dirty="0"/>
          </a:p>
          <a:p>
            <a:pPr algn="l" indent="0" marL="0">
              <a:spcBef>
                <a:spcPts val="400"/>
              </a:spcBef>
              <a:buNone/>
            </a:pPr>
            <a:r>
              <a:rPr lang="en-US" sz="1300" dirty="0">
                <a:solidFill>
                  <a:schemeClr val="tx1"/>
                </a:solidFill>
              </a:rPr>
              <a:t>time = data ÷ speed; energy = 0.6 W × time</a:t>
            </a:r>
            <a:endParaRPr lang="en-US" sz="1400" dirty="0"/>
          </a:p>
        </p:txBody>
      </p:sp>
      <p:sp>
        <p:nvSpPr>
          <p:cNvPr id="14" name="Text 12"/>
          <p:cNvSpPr/>
          <p:nvPr/>
        </p:nvSpPr>
        <p:spPr>
          <a:xfrm>
            <a:off x="548640" y="3291840"/>
            <a:ext cx="5120640" cy="2560320"/>
          </a:xfrm>
          <a:prstGeom prst="roundRect">
            <a:avLst>
              <a:gd name="adj" fmla="val 2143"/>
            </a:avLst>
          </a:prstGeom>
          <a:solidFill>
            <a:schemeClr val="bg2"/>
          </a:solidFill>
          <a:ln w="9525">
            <a:solidFill>
              <a:srgbClr val="CBD2D9"/>
            </a:solidFill>
          </a:ln>
        </p:spPr>
        <p:txBody>
          <a:bodyPr wrap="square" lIns="165100" tIns="165100" rIns="165100" bIns="165100" rtlCol="0" anchor="ctr"/>
          <a:lstStyle/>
          <a:p>
            <a:pPr algn="l" indent="0" marL="0">
              <a:buNone/>
            </a:pPr>
            <a:r>
              <a:rPr lang="en-US" sz="1500" b="1" dirty="0">
                <a:solidFill>
                  <a:schemeClr val="accent1"/>
                </a:solidFill>
              </a:rPr>
              <a:t>Edge server (3 GHz)</a:t>
            </a:r>
            <a:endParaRPr lang="en-US" sz="1500" dirty="0"/>
          </a:p>
          <a:p>
            <a:pPr algn="l" indent="0" marL="0">
              <a:spcBef>
                <a:spcPts val="400"/>
              </a:spcBef>
              <a:buNone/>
            </a:pPr>
            <a:r>
              <a:rPr lang="en-US" sz="1500" dirty="0">
                <a:solidFill>
                  <a:schemeClr val="tx1"/>
                </a:solidFill>
              </a:rPr>
              <a:t>Edge time = work ÷ (3 GHz × spare capacity)</a:t>
            </a:r>
            <a:endParaRPr lang="en-US" sz="1500" dirty="0"/>
          </a:p>
          <a:p>
            <a:pPr algn="l" indent="0" marL="0">
              <a:spcBef>
                <a:spcPts val="1000"/>
              </a:spcBef>
              <a:buNone/>
            </a:pPr>
            <a:r>
              <a:rPr lang="en-US" sz="1500" dirty="0">
                <a:solidFill>
                  <a:schemeClr val="tx1"/>
                </a:solidFill>
              </a:rPr>
              <a:t>Offload time = network time + edge time</a:t>
            </a:r>
            <a:endParaRPr lang="en-US" sz="1500" dirty="0"/>
          </a:p>
          <a:p>
            <a:pPr algn="l" indent="0" marL="0">
              <a:spcBef>
                <a:spcPts val="1000"/>
              </a:spcBef>
              <a:buNone/>
            </a:pPr>
            <a:r>
              <a:rPr lang="en-US" sz="1500" dirty="0">
                <a:solidFill>
                  <a:schemeClr val="tx1"/>
                </a:solidFill>
              </a:rPr>
              <a:t>Offload energy = radio sending + listening while it waits</a:t>
            </a:r>
            <a:endParaRPr lang="en-US" sz="1500" dirty="0"/>
          </a:p>
          <a:p>
            <a:pPr algn="l" indent="0" marL="0">
              <a:spcBef>
                <a:spcPts val="1000"/>
              </a:spcBef>
              <a:buNone/>
            </a:pPr>
            <a:r>
              <a:rPr lang="en-US" sz="1500" dirty="0">
                <a:solidFill>
                  <a:schemeClr val="tx1"/>
                </a:solidFill>
              </a:rPr>
              <a:t>A busy server is slow: at 90 % load it is 10 times slower.</a:t>
            </a:r>
            <a:endParaRPr lang="en-US" sz="1500" dirty="0"/>
          </a:p>
        </p:txBody>
      </p:sp>
      <p:graphicFrame>
        <p:nvGraphicFramePr>
          <p:cNvPr id="15" name="Edge slow-down chart" descr=""/>
          <p:cNvGraphicFramePr/>
          <p:nvPr/>
        </p:nvGraphicFramePr>
        <p:xfrm>
          <a:off x="6035040" y="3154680"/>
          <a:ext cx="5623560" cy="28346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What the node knows, and two baselines</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Darshan R</a:t>
            </a:r>
            <a:endParaRPr lang="en-US" sz="1200" dirty="0"/>
          </a:p>
        </p:txBody>
      </p:sp>
      <p:sp>
        <p:nvSpPr>
          <p:cNvPr id="4" name="Text 2"/>
          <p:cNvSpPr/>
          <p:nvPr/>
        </p:nvSpPr>
        <p:spPr>
          <a:xfrm>
            <a:off x="548640" y="1234440"/>
            <a:ext cx="2606040" cy="2377440"/>
          </a:xfrm>
          <a:prstGeom prst="roundRect">
            <a:avLst>
              <a:gd name="adj" fmla="val 2308"/>
            </a:avLst>
          </a:prstGeom>
          <a:solidFill>
            <a:schemeClr val="bg2"/>
          </a:solidFill>
          <a:ln w="9525">
            <a:solidFill>
              <a:srgbClr val="CBD2D9"/>
            </a:solidFill>
          </a:ln>
        </p:spPr>
        <p:txBody>
          <a:bodyPr wrap="square" lIns="152400" tIns="152400" rIns="152400" bIns="152400" rtlCol="0" anchor="ctr"/>
          <a:lstStyle/>
          <a:p>
            <a:pPr algn="l" indent="0" marL="0">
              <a:buNone/>
            </a:pPr>
            <a:r>
              <a:rPr lang="en-US" sz="1500" b="1" dirty="0">
                <a:solidFill>
                  <a:schemeClr val="accent1"/>
                </a:solidFill>
              </a:rPr>
              <a:t>The oracle knows</a:t>
            </a:r>
            <a:endParaRPr lang="en-US" sz="1500" dirty="0"/>
          </a:p>
          <a:p>
            <a:pPr algn="l" indent="0" marL="0">
              <a:spcBef>
                <a:spcPts val="400"/>
              </a:spcBef>
              <a:buNone/>
            </a:pPr>
            <a:r>
              <a:rPr lang="en-US" sz="1400" dirty="0">
                <a:solidFill>
                  <a:schemeClr val="tx1"/>
                </a:solidFill>
              </a:rPr>
              <a:t>current signal strength</a:t>
            </a:r>
            <a:endParaRPr lang="en-US" sz="1500" dirty="0"/>
          </a:p>
          <a:p>
            <a:pPr algn="l" indent="0" marL="0">
              <a:spcBef>
                <a:spcPts val="800"/>
              </a:spcBef>
              <a:buNone/>
            </a:pPr>
            <a:r>
              <a:rPr lang="en-US" sz="1400" dirty="0">
                <a:solidFill>
                  <a:schemeClr val="tx1"/>
                </a:solidFill>
              </a:rPr>
              <a:t>current server load</a:t>
            </a:r>
            <a:endParaRPr lang="en-US" sz="1500" dirty="0"/>
          </a:p>
          <a:p>
            <a:pPr algn="l" indent="0" marL="0">
              <a:spcBef>
                <a:spcPts val="800"/>
              </a:spcBef>
              <a:buNone/>
            </a:pPr>
            <a:r>
              <a:rPr lang="en-US" sz="1400" dirty="0">
                <a:solidFill>
                  <a:schemeClr val="tx1"/>
                </a:solidFill>
              </a:rPr>
              <a:t>the true offload time and energy</a:t>
            </a:r>
            <a:endParaRPr lang="en-US" sz="1500" dirty="0"/>
          </a:p>
        </p:txBody>
      </p:sp>
      <p:sp>
        <p:nvSpPr>
          <p:cNvPr id="5" name="Text 3"/>
          <p:cNvSpPr/>
          <p:nvPr/>
        </p:nvSpPr>
        <p:spPr>
          <a:xfrm>
            <a:off x="3337560" y="1234440"/>
            <a:ext cx="2606040" cy="2377440"/>
          </a:xfrm>
          <a:prstGeom prst="roundRect">
            <a:avLst>
              <a:gd name="adj" fmla="val 2308"/>
            </a:avLst>
          </a:prstGeom>
          <a:solidFill>
            <a:schemeClr val="bg2"/>
          </a:solidFill>
          <a:ln w="9525">
            <a:solidFill>
              <a:srgbClr val="CBD2D9"/>
            </a:solidFill>
          </a:ln>
        </p:spPr>
        <p:txBody>
          <a:bodyPr wrap="square" lIns="152400" tIns="152400" rIns="152400" bIns="152400" rtlCol="0" anchor="ctr"/>
          <a:lstStyle/>
          <a:p>
            <a:pPr algn="l" indent="0" marL="0">
              <a:buNone/>
            </a:pPr>
            <a:r>
              <a:rPr lang="en-US" sz="1500" b="1" dirty="0">
                <a:solidFill>
                  <a:schemeClr val="accent1"/>
                </a:solidFill>
              </a:rPr>
              <a:t>The ESP32 knows</a:t>
            </a:r>
            <a:endParaRPr lang="en-US" sz="1500" dirty="0"/>
          </a:p>
          <a:p>
            <a:pPr algn="l" indent="0" marL="0">
              <a:spcBef>
                <a:spcPts val="400"/>
              </a:spcBef>
              <a:buNone/>
            </a:pPr>
            <a:r>
              <a:rPr lang="en-US" sz="1400" dirty="0">
                <a:solidFill>
                  <a:schemeClr val="tx1"/>
                </a:solidFill>
              </a:rPr>
              <a:t>its battery level</a:t>
            </a:r>
            <a:endParaRPr lang="en-US" sz="1500" dirty="0"/>
          </a:p>
          <a:p>
            <a:pPr algn="l" indent="0" marL="0">
              <a:spcBef>
                <a:spcPts val="800"/>
              </a:spcBef>
              <a:buNone/>
            </a:pPr>
            <a:r>
              <a:rPr lang="en-US" sz="1400" dirty="0">
                <a:solidFill>
                  <a:schemeClr val="tx1"/>
                </a:solidFill>
              </a:rPr>
              <a:t>the task size and type</a:t>
            </a:r>
            <a:endParaRPr lang="en-US" sz="1500" dirty="0"/>
          </a:p>
          <a:p>
            <a:pPr algn="l" indent="0" marL="0">
              <a:spcBef>
                <a:spcPts val="800"/>
              </a:spcBef>
              <a:buNone/>
            </a:pPr>
            <a:r>
              <a:rPr lang="en-US" sz="1400" dirty="0">
                <a:solidFill>
                  <a:schemeClr val="tx1"/>
                </a:solidFill>
              </a:rPr>
              <a:t>its own local time and energy</a:t>
            </a:r>
            <a:endParaRPr lang="en-US" sz="1500" dirty="0"/>
          </a:p>
          <a:p>
            <a:pPr algn="l" indent="0" marL="0">
              <a:spcBef>
                <a:spcPts val="800"/>
              </a:spcBef>
              <a:buNone/>
            </a:pPr>
            <a:r>
              <a:rPr lang="en-US" sz="1400" dirty="0">
                <a:solidFill>
                  <a:schemeClr val="tx1"/>
                </a:solidFill>
              </a:rPr>
              <a:t>the last measured signal</a:t>
            </a:r>
            <a:endParaRPr lang="en-US" sz="1500" dirty="0"/>
          </a:p>
          <a:p>
            <a:pPr algn="l" indent="0" marL="0">
              <a:spcBef>
                <a:spcPts val="800"/>
              </a:spcBef>
              <a:buNone/>
            </a:pPr>
            <a:r>
              <a:rPr lang="en-US" sz="1400" dirty="0">
                <a:solidFill>
                  <a:schemeClr val="tx1"/>
                </a:solidFill>
              </a:rPr>
              <a:t>the last reported server load</a:t>
            </a:r>
            <a:endParaRPr lang="en-US" sz="1500" dirty="0"/>
          </a:p>
        </p:txBody>
      </p:sp>
      <p:sp>
        <p:nvSpPr>
          <p:cNvPr id="6" name="Shape 4"/>
          <p:cNvSpPr/>
          <p:nvPr/>
        </p:nvSpPr>
        <p:spPr>
          <a:xfrm>
            <a:off x="3246120" y="3611880"/>
            <a:ext cx="0" cy="365760"/>
          </a:xfrm>
          <a:prstGeom prst="line">
            <a:avLst/>
          </a:prstGeom>
          <a:noFill/>
          <a:ln w="19050">
            <a:solidFill>
              <a:srgbClr val="7B8794"/>
            </a:solidFill>
            <a:prstDash val="solid"/>
            <a:tailEnd type="triangle"/>
          </a:ln>
        </p:spPr>
      </p:sp>
      <p:sp>
        <p:nvSpPr>
          <p:cNvPr id="7" name="Text 5"/>
          <p:cNvSpPr/>
          <p:nvPr/>
        </p:nvSpPr>
        <p:spPr>
          <a:xfrm>
            <a:off x="548640" y="3977640"/>
            <a:ext cx="5394960" cy="685800"/>
          </a:xfrm>
          <a:prstGeom prst="roundRect">
            <a:avLst>
              <a:gd name="adj" fmla="val 8000"/>
            </a:avLst>
          </a:prstGeom>
          <a:solidFill>
            <a:schemeClr val="accent1"/>
          </a:solidFill>
          <a:ln w="9525">
            <a:solidFill>
              <a:srgbClr val="2F6F73"/>
            </a:solidFill>
          </a:ln>
        </p:spPr>
        <p:txBody>
          <a:bodyPr wrap="square" lIns="114300" tIns="114300" rIns="114300" bIns="114300" rtlCol="0" anchor="ctr"/>
          <a:lstStyle/>
          <a:p>
            <a:pPr algn="ctr" indent="0" marL="0">
              <a:spcBef>
                <a:spcPts val="400"/>
              </a:spcBef>
              <a:buNone/>
            </a:pPr>
            <a:r>
              <a:rPr lang="en-US" sz="1500" dirty="0">
                <a:solidFill>
                  <a:schemeClr val="bg1"/>
                </a:solidFill>
              </a:rPr>
              <a:t>So we need controllers that decide under uncertainty</a:t>
            </a:r>
            <a:endParaRPr lang="en-US" sz="1500" dirty="0"/>
          </a:p>
        </p:txBody>
      </p:sp>
      <p:sp>
        <p:nvSpPr>
          <p:cNvPr id="8" name="Text 6"/>
          <p:cNvSpPr/>
          <p:nvPr/>
        </p:nvSpPr>
        <p:spPr>
          <a:xfrm>
            <a:off x="6263640" y="1234440"/>
            <a:ext cx="5394960" cy="1874520"/>
          </a:xfrm>
          <a:prstGeom prst="roundRect">
            <a:avLst>
              <a:gd name="adj" fmla="val 2927"/>
            </a:avLst>
          </a:prstGeom>
          <a:solidFill>
            <a:schemeClr val="bg2"/>
          </a:solidFill>
          <a:ln w="9525">
            <a:solidFill>
              <a:srgbClr val="CBD2D9"/>
            </a:solidFill>
          </a:ln>
        </p:spPr>
        <p:txBody>
          <a:bodyPr wrap="square" lIns="152400" tIns="152400" rIns="152400" bIns="152400" rtlCol="0" anchor="ctr"/>
          <a:lstStyle/>
          <a:p>
            <a:pPr algn="l" indent="0" marL="0">
              <a:buNone/>
            </a:pPr>
            <a:r>
              <a:rPr lang="en-US" sz="1500" b="1" dirty="0">
                <a:solidFill>
                  <a:schemeClr val="accent1"/>
                </a:solidFill>
              </a:rPr>
              <a:t>Baseline 1 · Fuzzy only (Mamdani)</a:t>
            </a:r>
            <a:endParaRPr lang="en-US" sz="1500" dirty="0"/>
          </a:p>
          <a:p>
            <a:pPr algn="l" indent="0" marL="0">
              <a:spcBef>
                <a:spcPts val="400"/>
              </a:spcBef>
              <a:buNone/>
            </a:pPr>
            <a:r>
              <a:rPr lang="en-US" sz="1400" dirty="0">
                <a:solidFill>
                  <a:schemeClr val="tx1"/>
                </a:solidFill>
              </a:rPr>
              <a:t>4 inputs, each described with 3 words: battery, task load, WiFi link, server load</a:t>
            </a:r>
            <a:endParaRPr lang="en-US" sz="1500" dirty="0"/>
          </a:p>
          <a:p>
            <a:pPr algn="l" indent="0" marL="0">
              <a:spcBef>
                <a:spcPts val="800"/>
              </a:spcBef>
              <a:buNone/>
            </a:pPr>
            <a:r>
              <a:rPr lang="en-US" sz="1400" dirty="0">
                <a:solidFill>
                  <a:schemeClr val="tx1"/>
                </a:solidFill>
              </a:rPr>
              <a:t>12 hand-written rules, for example: IF the task is heavy AND the link is good, THEN offload</a:t>
            </a:r>
            <a:endParaRPr lang="en-US" sz="1500" dirty="0"/>
          </a:p>
          <a:p>
            <a:pPr algn="l" indent="0" marL="0">
              <a:spcBef>
                <a:spcPts val="800"/>
              </a:spcBef>
              <a:buNone/>
            </a:pPr>
            <a:r>
              <a:rPr lang="en-US" sz="1400" dirty="0">
                <a:solidFill>
                  <a:schemeClr val="tx1"/>
                </a:solidFill>
              </a:rPr>
              <a:t>Easy to explain, but the thresholds are guesses</a:t>
            </a:r>
            <a:endParaRPr lang="en-US" sz="1500" dirty="0"/>
          </a:p>
        </p:txBody>
      </p:sp>
      <p:sp>
        <p:nvSpPr>
          <p:cNvPr id="9" name="Text 7"/>
          <p:cNvSpPr/>
          <p:nvPr/>
        </p:nvSpPr>
        <p:spPr>
          <a:xfrm>
            <a:off x="6263640" y="3291840"/>
            <a:ext cx="5394960" cy="1371600"/>
          </a:xfrm>
          <a:prstGeom prst="roundRect">
            <a:avLst>
              <a:gd name="adj" fmla="val 4000"/>
            </a:avLst>
          </a:prstGeom>
          <a:solidFill>
            <a:schemeClr val="bg2"/>
          </a:solidFill>
          <a:ln w="9525">
            <a:solidFill>
              <a:srgbClr val="CBD2D9"/>
            </a:solidFill>
          </a:ln>
        </p:spPr>
        <p:txBody>
          <a:bodyPr wrap="square" lIns="152400" tIns="152400" rIns="152400" bIns="152400" rtlCol="0" anchor="ctr"/>
          <a:lstStyle/>
          <a:p>
            <a:pPr algn="l" indent="0" marL="0">
              <a:buNone/>
            </a:pPr>
            <a:r>
              <a:rPr lang="en-US" sz="1500" b="1" dirty="0">
                <a:solidFill>
                  <a:schemeClr val="accent1"/>
                </a:solidFill>
              </a:rPr>
              <a:t>Baseline 2 · ANN only (classifier)</a:t>
            </a:r>
            <a:endParaRPr lang="en-US" sz="1500" dirty="0"/>
          </a:p>
          <a:p>
            <a:pPr algn="l" indent="0" marL="0">
              <a:spcBef>
                <a:spcPts val="400"/>
              </a:spcBef>
              <a:buNone/>
            </a:pPr>
            <a:r>
              <a:rPr lang="en-US" sz="1400" dirty="0">
                <a:solidFill>
                  <a:schemeClr val="tx1"/>
                </a:solidFill>
              </a:rPr>
              <a:t>9 inputs → 24 → 16 → 1 neurons, trained on the oracle's choices</a:t>
            </a:r>
            <a:endParaRPr lang="en-US" sz="1500" dirty="0"/>
          </a:p>
          <a:p>
            <a:pPr algn="l" indent="0" marL="0">
              <a:spcBef>
                <a:spcPts val="800"/>
              </a:spcBef>
              <a:buNone/>
            </a:pPr>
            <a:r>
              <a:rPr lang="en-US" sz="1400" dirty="0">
                <a:solidFill>
                  <a:schemeClr val="tx1"/>
                </a:solidFill>
              </a:rPr>
              <a:t>Accurate, but a black box: it cannot say why</a:t>
            </a:r>
            <a:endParaRPr lang="en-US" sz="1500" dirty="0"/>
          </a:p>
        </p:txBody>
      </p:sp>
      <p:sp>
        <p:nvSpPr>
          <p:cNvPr id="10" name="Text 8"/>
          <p:cNvSpPr txBox="1"/>
          <p:nvPr/>
        </p:nvSpPr>
        <p:spPr>
          <a:xfrm>
            <a:off x="548640" y="5029200"/>
            <a:ext cx="11109960" cy="365760"/>
          </a:xfrm>
          <a:prstGeom prst="rect">
            <a:avLst/>
          </a:prstGeom>
          <a:noFill/>
          <a:ln/>
        </p:spPr>
        <p:txBody>
          <a:bodyPr wrap="square" lIns="0" tIns="0" rIns="0" bIns="0" rtlCol="0" anchor="t"/>
          <a:lstStyle/>
          <a:p>
            <a:pPr algn="l" indent="0" marL="0">
              <a:buNone/>
            </a:pPr>
            <a:r>
              <a:rPr lang="en-US" sz="1400" i="1" dirty="0">
                <a:solidFill>
                  <a:schemeClr val="tx2"/>
                </a:solidFill>
              </a:rPr>
              <a:t>Every controller is tested in a closed loop: it drives the battery through weeks it has never seen.</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ANN: predicting what offloading will cost</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Rohith S</a:t>
            </a:r>
            <a:endParaRPr lang="en-US" sz="1200" dirty="0"/>
          </a:p>
        </p:txBody>
      </p:sp>
      <p:sp>
        <p:nvSpPr>
          <p:cNvPr id="4" name="Text 2"/>
          <p:cNvSpPr txBox="1"/>
          <p:nvPr/>
        </p:nvSpPr>
        <p:spPr>
          <a:xfrm>
            <a:off x="548640" y="1188720"/>
            <a:ext cx="2926080" cy="320040"/>
          </a:xfrm>
          <a:prstGeom prst="rect">
            <a:avLst/>
          </a:prstGeom>
          <a:noFill/>
          <a:ln/>
        </p:spPr>
        <p:txBody>
          <a:bodyPr wrap="square" lIns="0" tIns="0" rIns="0" bIns="0" rtlCol="0" anchor="t"/>
          <a:lstStyle/>
          <a:p>
            <a:pPr algn="l" indent="0" marL="0">
              <a:buNone/>
            </a:pPr>
            <a:r>
              <a:rPr lang="en-US" sz="1200" dirty="0">
                <a:solidFill>
                  <a:schemeClr val="tx2"/>
                </a:solidFill>
              </a:rPr>
              <a:t>6 inputs (known before sending)</a:t>
            </a:r>
            <a:endParaRPr lang="en-US" sz="1200" dirty="0"/>
          </a:p>
        </p:txBody>
      </p:sp>
      <p:sp>
        <p:nvSpPr>
          <p:cNvPr id="5" name="Text 3"/>
          <p:cNvSpPr/>
          <p:nvPr/>
        </p:nvSpPr>
        <p:spPr>
          <a:xfrm>
            <a:off x="548640" y="1554480"/>
            <a:ext cx="2651760" cy="502920"/>
          </a:xfrm>
          <a:prstGeom prst="roundRect">
            <a:avLst>
              <a:gd name="adj" fmla="val 10909"/>
            </a:avLst>
          </a:prstGeom>
          <a:solidFill>
            <a:schemeClr val="bg2"/>
          </a:solidFill>
          <a:ln w="9525">
            <a:solidFill>
              <a:srgbClr val="CBD2D9"/>
            </a:solidFill>
          </a:ln>
        </p:spPr>
        <p:txBody>
          <a:bodyPr wrap="square" lIns="88900" tIns="88900" rIns="88900" bIns="88900" rtlCol="0" anchor="ctr"/>
          <a:lstStyle/>
          <a:p>
            <a:pPr algn="l" indent="0" marL="0">
              <a:spcBef>
                <a:spcPts val="400"/>
              </a:spcBef>
              <a:buNone/>
            </a:pPr>
            <a:r>
              <a:rPr lang="en-US" sz="1400" dirty="0">
                <a:solidFill>
                  <a:schemeClr val="tx1"/>
                </a:solidFill>
              </a:rPr>
              <a:t>Task size</a:t>
            </a:r>
            <a:endParaRPr lang="en-US" sz="1400" dirty="0"/>
          </a:p>
        </p:txBody>
      </p:sp>
      <p:sp>
        <p:nvSpPr>
          <p:cNvPr id="6" name="Shape 4"/>
          <p:cNvSpPr/>
          <p:nvPr/>
        </p:nvSpPr>
        <p:spPr>
          <a:xfrm>
            <a:off x="3200400" y="1805940"/>
            <a:ext cx="548640" cy="0"/>
          </a:xfrm>
          <a:prstGeom prst="line">
            <a:avLst/>
          </a:prstGeom>
          <a:noFill/>
          <a:ln w="19050">
            <a:solidFill>
              <a:srgbClr val="7B8794"/>
            </a:solidFill>
            <a:prstDash val="solid"/>
            <a:tailEnd type="triangle"/>
          </a:ln>
        </p:spPr>
      </p:sp>
      <p:sp>
        <p:nvSpPr>
          <p:cNvPr id="7" name="Text 5"/>
          <p:cNvSpPr/>
          <p:nvPr/>
        </p:nvSpPr>
        <p:spPr>
          <a:xfrm>
            <a:off x="548640" y="2167128"/>
            <a:ext cx="2651760" cy="502920"/>
          </a:xfrm>
          <a:prstGeom prst="roundRect">
            <a:avLst>
              <a:gd name="adj" fmla="val 10909"/>
            </a:avLst>
          </a:prstGeom>
          <a:solidFill>
            <a:schemeClr val="bg2"/>
          </a:solidFill>
          <a:ln w="9525">
            <a:solidFill>
              <a:srgbClr val="CBD2D9"/>
            </a:solidFill>
          </a:ln>
        </p:spPr>
        <p:txBody>
          <a:bodyPr wrap="square" lIns="88900" tIns="88900" rIns="88900" bIns="88900" rtlCol="0" anchor="ctr"/>
          <a:lstStyle/>
          <a:p>
            <a:pPr algn="l" indent="0" marL="0">
              <a:spcBef>
                <a:spcPts val="400"/>
              </a:spcBef>
              <a:buNone/>
            </a:pPr>
            <a:r>
              <a:rPr lang="en-US" sz="1400" dirty="0">
                <a:solidFill>
                  <a:schemeClr val="tx1"/>
                </a:solidFill>
              </a:rPr>
              <a:t>Work per byte</a:t>
            </a:r>
            <a:endParaRPr lang="en-US" sz="1400" dirty="0"/>
          </a:p>
        </p:txBody>
      </p:sp>
      <p:sp>
        <p:nvSpPr>
          <p:cNvPr id="8" name="Shape 6"/>
          <p:cNvSpPr/>
          <p:nvPr/>
        </p:nvSpPr>
        <p:spPr>
          <a:xfrm>
            <a:off x="3200400" y="2418588"/>
            <a:ext cx="548640" cy="0"/>
          </a:xfrm>
          <a:prstGeom prst="line">
            <a:avLst/>
          </a:prstGeom>
          <a:noFill/>
          <a:ln w="19050">
            <a:solidFill>
              <a:srgbClr val="7B8794"/>
            </a:solidFill>
            <a:prstDash val="solid"/>
            <a:tailEnd type="triangle"/>
          </a:ln>
        </p:spPr>
      </p:sp>
      <p:sp>
        <p:nvSpPr>
          <p:cNvPr id="9" name="Text 7"/>
          <p:cNvSpPr/>
          <p:nvPr/>
        </p:nvSpPr>
        <p:spPr>
          <a:xfrm>
            <a:off x="548640" y="2779776"/>
            <a:ext cx="2651760" cy="502920"/>
          </a:xfrm>
          <a:prstGeom prst="roundRect">
            <a:avLst>
              <a:gd name="adj" fmla="val 10909"/>
            </a:avLst>
          </a:prstGeom>
          <a:solidFill>
            <a:schemeClr val="bg2"/>
          </a:solidFill>
          <a:ln w="9525">
            <a:solidFill>
              <a:srgbClr val="CBD2D9"/>
            </a:solidFill>
          </a:ln>
        </p:spPr>
        <p:txBody>
          <a:bodyPr wrap="square" lIns="88900" tIns="88900" rIns="88900" bIns="88900" rtlCol="0" anchor="ctr"/>
          <a:lstStyle/>
          <a:p>
            <a:pPr algn="l" indent="0" marL="0">
              <a:spcBef>
                <a:spcPts val="400"/>
              </a:spcBef>
              <a:buNone/>
            </a:pPr>
            <a:r>
              <a:rPr lang="en-US" sz="1400" dirty="0">
                <a:solidFill>
                  <a:schemeClr val="tx1"/>
                </a:solidFill>
              </a:rPr>
              <a:t>Last signal strength</a:t>
            </a:r>
            <a:endParaRPr lang="en-US" sz="1400" dirty="0"/>
          </a:p>
        </p:txBody>
      </p:sp>
      <p:sp>
        <p:nvSpPr>
          <p:cNvPr id="10" name="Shape 8"/>
          <p:cNvSpPr/>
          <p:nvPr/>
        </p:nvSpPr>
        <p:spPr>
          <a:xfrm>
            <a:off x="3200400" y="3031236"/>
            <a:ext cx="548640" cy="0"/>
          </a:xfrm>
          <a:prstGeom prst="line">
            <a:avLst/>
          </a:prstGeom>
          <a:noFill/>
          <a:ln w="19050">
            <a:solidFill>
              <a:srgbClr val="7B8794"/>
            </a:solidFill>
            <a:prstDash val="solid"/>
            <a:tailEnd type="triangle"/>
          </a:ln>
        </p:spPr>
      </p:sp>
      <p:sp>
        <p:nvSpPr>
          <p:cNvPr id="11" name="Text 9"/>
          <p:cNvSpPr/>
          <p:nvPr/>
        </p:nvSpPr>
        <p:spPr>
          <a:xfrm>
            <a:off x="548640" y="3392424"/>
            <a:ext cx="2651760" cy="502920"/>
          </a:xfrm>
          <a:prstGeom prst="roundRect">
            <a:avLst>
              <a:gd name="adj" fmla="val 10909"/>
            </a:avLst>
          </a:prstGeom>
          <a:solidFill>
            <a:schemeClr val="bg2"/>
          </a:solidFill>
          <a:ln w="9525">
            <a:solidFill>
              <a:srgbClr val="CBD2D9"/>
            </a:solidFill>
          </a:ln>
        </p:spPr>
        <p:txBody>
          <a:bodyPr wrap="square" lIns="88900" tIns="88900" rIns="88900" bIns="88900" rtlCol="0" anchor="ctr"/>
          <a:lstStyle/>
          <a:p>
            <a:pPr algn="l" indent="0" marL="0">
              <a:spcBef>
                <a:spcPts val="400"/>
              </a:spcBef>
              <a:buNone/>
            </a:pPr>
            <a:r>
              <a:rPr lang="en-US" sz="1400" dirty="0">
                <a:solidFill>
                  <a:schemeClr val="tx1"/>
                </a:solidFill>
              </a:rPr>
              <a:t>Last server load</a:t>
            </a:r>
            <a:endParaRPr lang="en-US" sz="1400" dirty="0"/>
          </a:p>
        </p:txBody>
      </p:sp>
      <p:sp>
        <p:nvSpPr>
          <p:cNvPr id="12" name="Shape 10"/>
          <p:cNvSpPr/>
          <p:nvPr/>
        </p:nvSpPr>
        <p:spPr>
          <a:xfrm>
            <a:off x="3200400" y="3643884"/>
            <a:ext cx="548640" cy="0"/>
          </a:xfrm>
          <a:prstGeom prst="line">
            <a:avLst/>
          </a:prstGeom>
          <a:noFill/>
          <a:ln w="19050">
            <a:solidFill>
              <a:srgbClr val="7B8794"/>
            </a:solidFill>
            <a:prstDash val="solid"/>
            <a:tailEnd type="triangle"/>
          </a:ln>
        </p:spPr>
      </p:sp>
      <p:sp>
        <p:nvSpPr>
          <p:cNvPr id="13" name="Text 11"/>
          <p:cNvSpPr/>
          <p:nvPr/>
        </p:nvSpPr>
        <p:spPr>
          <a:xfrm>
            <a:off x="548640" y="4005072"/>
            <a:ext cx="2651760" cy="502920"/>
          </a:xfrm>
          <a:prstGeom prst="roundRect">
            <a:avLst>
              <a:gd name="adj" fmla="val 10909"/>
            </a:avLst>
          </a:prstGeom>
          <a:solidFill>
            <a:schemeClr val="bg2"/>
          </a:solidFill>
          <a:ln w="9525">
            <a:solidFill>
              <a:srgbClr val="CBD2D9"/>
            </a:solidFill>
          </a:ln>
        </p:spPr>
        <p:txBody>
          <a:bodyPr wrap="square" lIns="88900" tIns="88900" rIns="88900" bIns="88900" rtlCol="0" anchor="ctr"/>
          <a:lstStyle/>
          <a:p>
            <a:pPr algn="l" indent="0" marL="0">
              <a:spcBef>
                <a:spcPts val="400"/>
              </a:spcBef>
              <a:buNone/>
            </a:pPr>
            <a:r>
              <a:rPr lang="en-US" sz="1400" dirty="0">
                <a:solidFill>
                  <a:schemeClr val="tx1"/>
                </a:solidFill>
              </a:rPr>
              <a:t>Hour of day (sine)</a:t>
            </a:r>
            <a:endParaRPr lang="en-US" sz="1400" dirty="0"/>
          </a:p>
        </p:txBody>
      </p:sp>
      <p:sp>
        <p:nvSpPr>
          <p:cNvPr id="14" name="Shape 12"/>
          <p:cNvSpPr/>
          <p:nvPr/>
        </p:nvSpPr>
        <p:spPr>
          <a:xfrm>
            <a:off x="3200400" y="4256532"/>
            <a:ext cx="548640" cy="0"/>
          </a:xfrm>
          <a:prstGeom prst="line">
            <a:avLst/>
          </a:prstGeom>
          <a:noFill/>
          <a:ln w="19050">
            <a:solidFill>
              <a:srgbClr val="7B8794"/>
            </a:solidFill>
            <a:prstDash val="solid"/>
            <a:tailEnd type="triangle"/>
          </a:ln>
        </p:spPr>
      </p:sp>
      <p:sp>
        <p:nvSpPr>
          <p:cNvPr id="15" name="Text 13"/>
          <p:cNvSpPr/>
          <p:nvPr/>
        </p:nvSpPr>
        <p:spPr>
          <a:xfrm>
            <a:off x="548640" y="4617720"/>
            <a:ext cx="2651760" cy="502920"/>
          </a:xfrm>
          <a:prstGeom prst="roundRect">
            <a:avLst>
              <a:gd name="adj" fmla="val 10909"/>
            </a:avLst>
          </a:prstGeom>
          <a:solidFill>
            <a:schemeClr val="bg2"/>
          </a:solidFill>
          <a:ln w="9525">
            <a:solidFill>
              <a:srgbClr val="CBD2D9"/>
            </a:solidFill>
          </a:ln>
        </p:spPr>
        <p:txBody>
          <a:bodyPr wrap="square" lIns="88900" tIns="88900" rIns="88900" bIns="88900" rtlCol="0" anchor="ctr"/>
          <a:lstStyle/>
          <a:p>
            <a:pPr algn="l" indent="0" marL="0">
              <a:spcBef>
                <a:spcPts val="400"/>
              </a:spcBef>
              <a:buNone/>
            </a:pPr>
            <a:r>
              <a:rPr lang="en-US" sz="1400" dirty="0">
                <a:solidFill>
                  <a:schemeClr val="tx1"/>
                </a:solidFill>
              </a:rPr>
              <a:t>Hour of day (cosine)</a:t>
            </a:r>
            <a:endParaRPr lang="en-US" sz="1400" dirty="0"/>
          </a:p>
        </p:txBody>
      </p:sp>
      <p:sp>
        <p:nvSpPr>
          <p:cNvPr id="16" name="Shape 14"/>
          <p:cNvSpPr/>
          <p:nvPr/>
        </p:nvSpPr>
        <p:spPr>
          <a:xfrm>
            <a:off x="3200400" y="4869180"/>
            <a:ext cx="548640" cy="0"/>
          </a:xfrm>
          <a:prstGeom prst="line">
            <a:avLst/>
          </a:prstGeom>
          <a:noFill/>
          <a:ln w="19050">
            <a:solidFill>
              <a:srgbClr val="7B8794"/>
            </a:solidFill>
            <a:prstDash val="solid"/>
            <a:tailEnd type="triangle"/>
          </a:ln>
        </p:spPr>
      </p:sp>
      <p:sp>
        <p:nvSpPr>
          <p:cNvPr id="17" name="Text 15"/>
          <p:cNvSpPr/>
          <p:nvPr/>
        </p:nvSpPr>
        <p:spPr>
          <a:xfrm>
            <a:off x="3749040" y="1554480"/>
            <a:ext cx="1920240" cy="3566160"/>
          </a:xfrm>
          <a:prstGeom prst="roundRect">
            <a:avLst>
              <a:gd name="adj" fmla="val 2857"/>
            </a:avLst>
          </a:prstGeom>
          <a:solidFill>
            <a:schemeClr val="bg2"/>
          </a:solidFill>
          <a:ln w="9525">
            <a:solidFill>
              <a:srgbClr val="CBD2D9"/>
            </a:solidFill>
          </a:ln>
        </p:spPr>
        <p:txBody>
          <a:bodyPr wrap="square" lIns="114300" tIns="114300" rIns="114300" bIns="114300" rtlCol="0" anchor="ctr"/>
          <a:lstStyle/>
          <a:p>
            <a:pPr algn="ctr" indent="0" marL="0">
              <a:buNone/>
            </a:pPr>
            <a:r>
              <a:rPr lang="en-US" sz="1500" b="1" dirty="0">
                <a:solidFill>
                  <a:schemeClr val="accent1"/>
                </a:solidFill>
              </a:rPr>
              <a:t>Hidden layer 1</a:t>
            </a:r>
            <a:endParaRPr lang="en-US" sz="1500" dirty="0"/>
          </a:p>
          <a:p>
            <a:pPr algn="ctr" indent="0" marL="0">
              <a:spcBef>
                <a:spcPts val="400"/>
              </a:spcBef>
              <a:buNone/>
            </a:pPr>
            <a:r>
              <a:rPr lang="en-US" sz="1400" dirty="0">
                <a:solidFill>
                  <a:schemeClr val="tx1"/>
                </a:solidFill>
              </a:rPr>
              <a:t>24 neurons (tanh)</a:t>
            </a:r>
            <a:endParaRPr lang="en-US" sz="1500" dirty="0"/>
          </a:p>
        </p:txBody>
      </p:sp>
      <p:sp>
        <p:nvSpPr>
          <p:cNvPr id="18" name="Shape 16"/>
          <p:cNvSpPr/>
          <p:nvPr/>
        </p:nvSpPr>
        <p:spPr>
          <a:xfrm>
            <a:off x="5669280" y="3337560"/>
            <a:ext cx="548640" cy="0"/>
          </a:xfrm>
          <a:prstGeom prst="line">
            <a:avLst/>
          </a:prstGeom>
          <a:noFill/>
          <a:ln w="19050">
            <a:solidFill>
              <a:srgbClr val="7B8794"/>
            </a:solidFill>
            <a:prstDash val="solid"/>
            <a:tailEnd type="triangle"/>
          </a:ln>
        </p:spPr>
      </p:sp>
      <p:sp>
        <p:nvSpPr>
          <p:cNvPr id="19" name="Text 17"/>
          <p:cNvSpPr/>
          <p:nvPr/>
        </p:nvSpPr>
        <p:spPr>
          <a:xfrm>
            <a:off x="6217920" y="1554480"/>
            <a:ext cx="1920240" cy="3566160"/>
          </a:xfrm>
          <a:prstGeom prst="roundRect">
            <a:avLst>
              <a:gd name="adj" fmla="val 2857"/>
            </a:avLst>
          </a:prstGeom>
          <a:solidFill>
            <a:schemeClr val="bg2"/>
          </a:solidFill>
          <a:ln w="9525">
            <a:solidFill>
              <a:srgbClr val="CBD2D9"/>
            </a:solidFill>
          </a:ln>
        </p:spPr>
        <p:txBody>
          <a:bodyPr wrap="square" lIns="114300" tIns="114300" rIns="114300" bIns="114300" rtlCol="0" anchor="ctr"/>
          <a:lstStyle/>
          <a:p>
            <a:pPr algn="ctr" indent="0" marL="0">
              <a:buNone/>
            </a:pPr>
            <a:r>
              <a:rPr lang="en-US" sz="1500" b="1" dirty="0">
                <a:solidFill>
                  <a:schemeClr val="accent1"/>
                </a:solidFill>
              </a:rPr>
              <a:t>Hidden layer 2</a:t>
            </a:r>
            <a:endParaRPr lang="en-US" sz="1500" dirty="0"/>
          </a:p>
          <a:p>
            <a:pPr algn="ctr" indent="0" marL="0">
              <a:spcBef>
                <a:spcPts val="400"/>
              </a:spcBef>
              <a:buNone/>
            </a:pPr>
            <a:r>
              <a:rPr lang="en-US" sz="1400" dirty="0">
                <a:solidFill>
                  <a:schemeClr val="tx1"/>
                </a:solidFill>
              </a:rPr>
              <a:t>16 neurons (tanh)</a:t>
            </a:r>
            <a:endParaRPr lang="en-US" sz="1500" dirty="0"/>
          </a:p>
        </p:txBody>
      </p:sp>
      <p:sp>
        <p:nvSpPr>
          <p:cNvPr id="20" name="Text 18"/>
          <p:cNvSpPr txBox="1"/>
          <p:nvPr/>
        </p:nvSpPr>
        <p:spPr>
          <a:xfrm>
            <a:off x="8686800" y="1188720"/>
            <a:ext cx="2743200" cy="320040"/>
          </a:xfrm>
          <a:prstGeom prst="rect">
            <a:avLst/>
          </a:prstGeom>
          <a:noFill/>
          <a:ln/>
        </p:spPr>
        <p:txBody>
          <a:bodyPr wrap="square" lIns="0" tIns="0" rIns="0" bIns="0" rtlCol="0" anchor="t"/>
          <a:lstStyle/>
          <a:p>
            <a:pPr algn="l" indent="0" marL="0">
              <a:buNone/>
            </a:pPr>
            <a:r>
              <a:rPr lang="en-US" sz="1200" dirty="0">
                <a:solidFill>
                  <a:schemeClr val="tx2"/>
                </a:solidFill>
              </a:rPr>
              <a:t>2 outputs</a:t>
            </a:r>
            <a:endParaRPr lang="en-US" sz="1200" dirty="0"/>
          </a:p>
        </p:txBody>
      </p:sp>
      <p:sp>
        <p:nvSpPr>
          <p:cNvPr id="21" name="Shape 19"/>
          <p:cNvSpPr/>
          <p:nvPr/>
        </p:nvSpPr>
        <p:spPr>
          <a:xfrm>
            <a:off x="8138160" y="2697480"/>
            <a:ext cx="548640" cy="0"/>
          </a:xfrm>
          <a:prstGeom prst="line">
            <a:avLst/>
          </a:prstGeom>
          <a:noFill/>
          <a:ln w="19050">
            <a:solidFill>
              <a:srgbClr val="7B8794"/>
            </a:solidFill>
            <a:prstDash val="solid"/>
            <a:tailEnd type="triangle"/>
          </a:ln>
        </p:spPr>
      </p:sp>
      <p:sp>
        <p:nvSpPr>
          <p:cNvPr id="22" name="Text 20"/>
          <p:cNvSpPr/>
          <p:nvPr/>
        </p:nvSpPr>
        <p:spPr>
          <a:xfrm>
            <a:off x="8686800" y="2286000"/>
            <a:ext cx="2971800" cy="822960"/>
          </a:xfrm>
          <a:prstGeom prst="roundRect">
            <a:avLst>
              <a:gd name="adj" fmla="val 6667"/>
            </a:avLst>
          </a:prstGeom>
          <a:solidFill>
            <a:schemeClr val="accent1"/>
          </a:solidFill>
          <a:ln w="9525">
            <a:solidFill>
              <a:srgbClr val="2F6F73"/>
            </a:solidFill>
          </a:ln>
        </p:spPr>
        <p:txBody>
          <a:bodyPr wrap="square" lIns="114300" tIns="114300" rIns="114300" bIns="114300" rtlCol="0" anchor="ctr"/>
          <a:lstStyle/>
          <a:p>
            <a:pPr algn="ctr" indent="0" marL="0">
              <a:spcBef>
                <a:spcPts val="400"/>
              </a:spcBef>
              <a:buNone/>
            </a:pPr>
            <a:r>
              <a:rPr lang="en-US" sz="1600" dirty="0">
                <a:solidFill>
                  <a:schemeClr val="bg1"/>
                </a:solidFill>
              </a:rPr>
              <a:t>Offload time</a:t>
            </a:r>
            <a:endParaRPr lang="en-US" sz="1600" dirty="0"/>
          </a:p>
        </p:txBody>
      </p:sp>
      <p:sp>
        <p:nvSpPr>
          <p:cNvPr id="23" name="Shape 21"/>
          <p:cNvSpPr/>
          <p:nvPr/>
        </p:nvSpPr>
        <p:spPr>
          <a:xfrm>
            <a:off x="8138160" y="4069080"/>
            <a:ext cx="548640" cy="0"/>
          </a:xfrm>
          <a:prstGeom prst="line">
            <a:avLst/>
          </a:prstGeom>
          <a:noFill/>
          <a:ln w="19050">
            <a:solidFill>
              <a:srgbClr val="7B8794"/>
            </a:solidFill>
            <a:prstDash val="solid"/>
            <a:tailEnd type="triangle"/>
          </a:ln>
        </p:spPr>
      </p:sp>
      <p:sp>
        <p:nvSpPr>
          <p:cNvPr id="24" name="Text 22"/>
          <p:cNvSpPr/>
          <p:nvPr/>
        </p:nvSpPr>
        <p:spPr>
          <a:xfrm>
            <a:off x="8686800" y="3657600"/>
            <a:ext cx="2971800" cy="822960"/>
          </a:xfrm>
          <a:prstGeom prst="roundRect">
            <a:avLst>
              <a:gd name="adj" fmla="val 6667"/>
            </a:avLst>
          </a:prstGeom>
          <a:solidFill>
            <a:schemeClr val="accent1"/>
          </a:solidFill>
          <a:ln w="9525">
            <a:solidFill>
              <a:srgbClr val="2F6F73"/>
            </a:solidFill>
          </a:ln>
        </p:spPr>
        <p:txBody>
          <a:bodyPr wrap="square" lIns="114300" tIns="114300" rIns="114300" bIns="114300" rtlCol="0" anchor="ctr"/>
          <a:lstStyle/>
          <a:p>
            <a:pPr algn="ctr" indent="0" marL="0">
              <a:spcBef>
                <a:spcPts val="400"/>
              </a:spcBef>
              <a:buNone/>
            </a:pPr>
            <a:r>
              <a:rPr lang="en-US" sz="1600" dirty="0">
                <a:solidFill>
                  <a:schemeClr val="bg1"/>
                </a:solidFill>
              </a:rPr>
              <a:t>Offload energy</a:t>
            </a:r>
            <a:endParaRPr lang="en-US" sz="1600" dirty="0"/>
          </a:p>
        </p:txBody>
      </p:sp>
      <p:sp>
        <p:nvSpPr>
          <p:cNvPr id="25" name="Text 23"/>
          <p:cNvSpPr/>
          <p:nvPr/>
        </p:nvSpPr>
        <p:spPr>
          <a:xfrm>
            <a:off x="548640" y="5486400"/>
            <a:ext cx="2697480" cy="640080"/>
          </a:xfrm>
          <a:prstGeom prst="roundRect">
            <a:avLst>
              <a:gd name="adj" fmla="val 857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300" dirty="0">
                <a:solidFill>
                  <a:schemeClr val="tx1"/>
                </a:solidFill>
              </a:rPr>
              <a:t>Written from scratch in NumPy</a:t>
            </a:r>
            <a:endParaRPr lang="en-US" sz="1300" dirty="0"/>
          </a:p>
        </p:txBody>
      </p:sp>
      <p:sp>
        <p:nvSpPr>
          <p:cNvPr id="26" name="Text 24"/>
          <p:cNvSpPr/>
          <p:nvPr/>
        </p:nvSpPr>
        <p:spPr>
          <a:xfrm>
            <a:off x="3383280" y="5486400"/>
            <a:ext cx="2697480" cy="640080"/>
          </a:xfrm>
          <a:prstGeom prst="roundRect">
            <a:avLst>
              <a:gd name="adj" fmla="val 857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300" dirty="0">
                <a:solidFill>
                  <a:schemeClr val="tx1"/>
                </a:solidFill>
              </a:rPr>
              <a:t>Adam optimiser · rate 0.01 · 60 epochs</a:t>
            </a:r>
            <a:endParaRPr lang="en-US" sz="1300" dirty="0"/>
          </a:p>
        </p:txBody>
      </p:sp>
      <p:sp>
        <p:nvSpPr>
          <p:cNvPr id="27" name="Text 25"/>
          <p:cNvSpPr/>
          <p:nvPr/>
        </p:nvSpPr>
        <p:spPr>
          <a:xfrm>
            <a:off x="6217920" y="5486400"/>
            <a:ext cx="2697480" cy="640080"/>
          </a:xfrm>
          <a:prstGeom prst="roundRect">
            <a:avLst>
              <a:gd name="adj" fmla="val 857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300" dirty="0">
                <a:solidFill>
                  <a:schemeClr val="tx1"/>
                </a:solidFill>
              </a:rPr>
              <a:t>Train: first 5.6 days · test: last 1.4 days</a:t>
            </a:r>
            <a:endParaRPr lang="en-US" sz="1300" dirty="0"/>
          </a:p>
        </p:txBody>
      </p:sp>
      <p:sp>
        <p:nvSpPr>
          <p:cNvPr id="28" name="Text 26"/>
          <p:cNvSpPr/>
          <p:nvPr/>
        </p:nvSpPr>
        <p:spPr>
          <a:xfrm>
            <a:off x="9052560" y="5486400"/>
            <a:ext cx="2697480" cy="640080"/>
          </a:xfrm>
          <a:prstGeom prst="roundRect">
            <a:avLst>
              <a:gd name="adj" fmla="val 857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300" dirty="0">
                <a:solidFill>
                  <a:schemeClr val="tx1"/>
                </a:solidFill>
              </a:rPr>
              <a:t>602 learned weights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ANN results and ablation study</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Rohith S</a:t>
            </a:r>
            <a:endParaRPr lang="en-US" sz="1200" dirty="0"/>
          </a:p>
        </p:txBody>
      </p:sp>
      <p:sp>
        <p:nvSpPr>
          <p:cNvPr id="4" name="Text 2"/>
          <p:cNvSpPr/>
          <p:nvPr/>
        </p:nvSpPr>
        <p:spPr>
          <a:xfrm>
            <a:off x="548640" y="1234440"/>
            <a:ext cx="1783080" cy="1143000"/>
          </a:xfrm>
          <a:prstGeom prst="roundRect">
            <a:avLst>
              <a:gd name="adj" fmla="val 4800"/>
            </a:avLst>
          </a:prstGeom>
          <a:solidFill>
            <a:schemeClr val="bg2"/>
          </a:solidFill>
          <a:ln w="9525">
            <a:solidFill>
              <a:srgbClr val="CBD2D9"/>
            </a:solidFill>
          </a:ln>
        </p:spPr>
        <p:txBody>
          <a:bodyPr wrap="square" lIns="76200" tIns="76200" rIns="76200" bIns="7620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0.989</a:t>
            </a:r>
            <a:endParaRPr lang="en-US" sz="3000" dirty="0"/>
          </a:p>
          <a:p>
            <a:pPr algn="ctr" indent="0" marL="0">
              <a:buNone/>
            </a:pPr>
            <a:r>
              <a:rPr lang="en-US" sz="1300" dirty="0">
                <a:solidFill>
                  <a:schemeClr val="tx2"/>
                </a:solidFill>
              </a:rPr>
              <a:t>accuracy, time (R²)</a:t>
            </a:r>
            <a:endParaRPr lang="en-US" sz="3000" dirty="0"/>
          </a:p>
        </p:txBody>
      </p:sp>
      <p:sp>
        <p:nvSpPr>
          <p:cNvPr id="5" name="Text 3"/>
          <p:cNvSpPr/>
          <p:nvPr/>
        </p:nvSpPr>
        <p:spPr>
          <a:xfrm>
            <a:off x="2514600" y="1234440"/>
            <a:ext cx="1783080" cy="1143000"/>
          </a:xfrm>
          <a:prstGeom prst="roundRect">
            <a:avLst>
              <a:gd name="adj" fmla="val 4800"/>
            </a:avLst>
          </a:prstGeom>
          <a:solidFill>
            <a:schemeClr val="bg2"/>
          </a:solidFill>
          <a:ln w="9525">
            <a:solidFill>
              <a:srgbClr val="CBD2D9"/>
            </a:solidFill>
          </a:ln>
        </p:spPr>
        <p:txBody>
          <a:bodyPr wrap="square" lIns="76200" tIns="76200" rIns="76200" bIns="7620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0.987</a:t>
            </a:r>
            <a:endParaRPr lang="en-US" sz="3000" dirty="0"/>
          </a:p>
          <a:p>
            <a:pPr algn="ctr" indent="0" marL="0">
              <a:buNone/>
            </a:pPr>
            <a:r>
              <a:rPr lang="en-US" sz="1300" dirty="0">
                <a:solidFill>
                  <a:schemeClr val="tx2"/>
                </a:solidFill>
              </a:rPr>
              <a:t>accuracy, energy (R²)</a:t>
            </a:r>
            <a:endParaRPr lang="en-US" sz="3000" dirty="0"/>
          </a:p>
        </p:txBody>
      </p:sp>
      <p:sp>
        <p:nvSpPr>
          <p:cNvPr id="6" name="Text 4"/>
          <p:cNvSpPr/>
          <p:nvPr/>
        </p:nvSpPr>
        <p:spPr>
          <a:xfrm>
            <a:off x="4480560" y="1234440"/>
            <a:ext cx="1783080" cy="1143000"/>
          </a:xfrm>
          <a:prstGeom prst="roundRect">
            <a:avLst>
              <a:gd name="adj" fmla="val 4800"/>
            </a:avLst>
          </a:prstGeom>
          <a:solidFill>
            <a:schemeClr val="bg2"/>
          </a:solidFill>
          <a:ln w="9525">
            <a:solidFill>
              <a:srgbClr val="CBD2D9"/>
            </a:solidFill>
          </a:ln>
        </p:spPr>
        <p:txBody>
          <a:bodyPr wrap="square" lIns="76200" tIns="76200" rIns="76200" bIns="7620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 5 %</a:t>
            </a:r>
            <a:endParaRPr lang="en-US" sz="3000" dirty="0"/>
          </a:p>
          <a:p>
            <a:pPr algn="ctr" indent="0" marL="0">
              <a:buNone/>
            </a:pPr>
            <a:r>
              <a:rPr lang="en-US" sz="1300" dirty="0">
                <a:solidFill>
                  <a:schemeClr val="tx2"/>
                </a:solidFill>
              </a:rPr>
              <a:t>median error</a:t>
            </a:r>
            <a:endParaRPr lang="en-US" sz="3000" dirty="0"/>
          </a:p>
        </p:txBody>
      </p:sp>
      <p:sp>
        <p:nvSpPr>
          <p:cNvPr id="7" name="Text 5"/>
          <p:cNvSpPr/>
          <p:nvPr/>
        </p:nvSpPr>
        <p:spPr>
          <a:xfrm>
            <a:off x="548640" y="2606040"/>
            <a:ext cx="5715000" cy="1325880"/>
          </a:xfrm>
          <a:prstGeom prst="roundRect">
            <a:avLst>
              <a:gd name="adj" fmla="val 4138"/>
            </a:avLst>
          </a:prstGeom>
          <a:solidFill>
            <a:schemeClr val="bg2"/>
          </a:solidFill>
          <a:ln w="9525">
            <a:solidFill>
              <a:srgbClr val="CBD2D9"/>
            </a:solidFill>
          </a:ln>
        </p:spPr>
        <p:txBody>
          <a:bodyPr wrap="square" lIns="152400" tIns="152400" rIns="152400" bIns="152400" rtlCol="0" anchor="ctr"/>
          <a:lstStyle/>
          <a:p>
            <a:pPr algn="l" indent="0" marL="0">
              <a:buNone/>
            </a:pPr>
            <a:r>
              <a:rPr lang="en-US" sz="1500" b="1" dirty="0">
                <a:solidFill>
                  <a:schemeClr val="accent1"/>
                </a:solidFill>
              </a:rPr>
              <a:t>Example: task T09206</a:t>
            </a:r>
            <a:endParaRPr lang="en-US" sz="1500" dirty="0"/>
          </a:p>
          <a:p>
            <a:pPr algn="l" indent="0" marL="0">
              <a:spcBef>
                <a:spcPts val="400"/>
              </a:spcBef>
              <a:buNone/>
            </a:pPr>
            <a:r>
              <a:rPr lang="en-US" sz="1400" dirty="0">
                <a:solidFill>
                  <a:schemeClr val="tx1"/>
                </a:solidFill>
              </a:rPr>
              <a:t>Last signal −68.8 dBm, actual signal −62 dBm</a:t>
            </a:r>
            <a:endParaRPr lang="en-US" sz="1500" dirty="0"/>
          </a:p>
          <a:p>
            <a:pPr algn="l" indent="0" marL="0">
              <a:spcBef>
                <a:spcPts val="800"/>
              </a:spcBef>
              <a:buNone/>
            </a:pPr>
            <a:r>
              <a:rPr lang="en-US" sz="1400" dirty="0">
                <a:solidFill>
                  <a:schemeClr val="tx1"/>
                </a:solidFill>
              </a:rPr>
              <a:t>Predicted 353 ms and 149 mJ; real 361 ms and 151 mJ (within 2 %)</a:t>
            </a:r>
            <a:endParaRPr lang="en-US" sz="1500" dirty="0"/>
          </a:p>
        </p:txBody>
      </p:sp>
      <p:sp>
        <p:nvSpPr>
          <p:cNvPr id="8" name="Text 6"/>
          <p:cNvSpPr/>
          <p:nvPr/>
        </p:nvSpPr>
        <p:spPr>
          <a:xfrm>
            <a:off x="548640" y="4160520"/>
            <a:ext cx="5715000" cy="1325880"/>
          </a:xfrm>
          <a:prstGeom prst="roundRect">
            <a:avLst>
              <a:gd name="adj" fmla="val 4138"/>
            </a:avLst>
          </a:prstGeom>
          <a:solidFill>
            <a:schemeClr val="bg2"/>
          </a:solidFill>
          <a:ln w="9525">
            <a:solidFill>
              <a:srgbClr val="CBD2D9"/>
            </a:solidFill>
          </a:ln>
        </p:spPr>
        <p:txBody>
          <a:bodyPr wrap="square" lIns="152400" tIns="152400" rIns="152400" bIns="152400" rtlCol="0" anchor="ctr"/>
          <a:lstStyle/>
          <a:p>
            <a:pPr algn="l" indent="0" marL="0">
              <a:buNone/>
            </a:pPr>
            <a:r>
              <a:rPr lang="en-US" sz="1500" b="1" dirty="0">
                <a:solidFill>
                  <a:schemeClr val="accent1"/>
                </a:solidFill>
              </a:rPr>
              <a:t>Without the ANN</a:t>
            </a:r>
            <a:endParaRPr lang="en-US" sz="1500" dirty="0"/>
          </a:p>
          <a:p>
            <a:pPr algn="l" indent="0" marL="0">
              <a:spcBef>
                <a:spcPts val="400"/>
              </a:spcBef>
              <a:buNone/>
            </a:pPr>
            <a:r>
              <a:rPr lang="en-US" sz="1400" dirty="0">
                <a:solidFill>
                  <a:schemeClr val="tx1"/>
                </a:solidFill>
              </a:rPr>
              <a:t>If ANFIS gets the raw signal instead of the predicted cost:</a:t>
            </a:r>
            <a:endParaRPr lang="en-US" sz="1500" dirty="0"/>
          </a:p>
          <a:p>
            <a:pPr algn="l" indent="0" marL="0">
              <a:spcBef>
                <a:spcPts val="800"/>
              </a:spcBef>
              <a:buNone/>
            </a:pPr>
            <a:r>
              <a:rPr lang="en-US" sz="1400" dirty="0">
                <a:solidFill>
                  <a:schemeClr val="tx1"/>
                </a:solidFill>
              </a:rPr>
              <a:t>agreement 96.6 % → 93.6 %, deadline misses 9 → 14</a:t>
            </a:r>
            <a:endParaRPr lang="en-US" sz="1500" dirty="0"/>
          </a:p>
        </p:txBody>
      </p:sp>
      <p:graphicFrame>
        <p:nvGraphicFramePr>
          <p:cNvPr id="9" name="Ablation chart" descr=""/>
          <p:cNvGraphicFramePr/>
          <p:nvPr/>
        </p:nvGraphicFramePr>
        <p:xfrm>
          <a:off x="6537960" y="1234440"/>
          <a:ext cx="5120640" cy="42519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ANFIS: fuzzy rules that can learn</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Vishaanth R</a:t>
            </a:r>
            <a:endParaRPr lang="en-US" sz="1200" dirty="0"/>
          </a:p>
        </p:txBody>
      </p:sp>
      <p:sp>
        <p:nvSpPr>
          <p:cNvPr id="4" name="Text 2"/>
          <p:cNvSpPr/>
          <p:nvPr/>
        </p:nvSpPr>
        <p:spPr>
          <a:xfrm>
            <a:off x="548640" y="1280160"/>
            <a:ext cx="2743200" cy="777240"/>
          </a:xfrm>
          <a:prstGeom prst="roundRect">
            <a:avLst>
              <a:gd name="adj" fmla="val 7059"/>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Battery level</a:t>
            </a:r>
            <a:endParaRPr lang="en-US" sz="1400" dirty="0"/>
          </a:p>
          <a:p>
            <a:pPr algn="l" indent="0" marL="0">
              <a:spcBef>
                <a:spcPts val="400"/>
              </a:spcBef>
              <a:buNone/>
            </a:pPr>
            <a:r>
              <a:rPr lang="en-US" sz="1300" dirty="0">
                <a:solidFill>
                  <a:schemeClr val="tx1"/>
                </a:solidFill>
              </a:rPr>
              <a:t>Low · Medium · High</a:t>
            </a:r>
            <a:endParaRPr lang="en-US" sz="1400" dirty="0"/>
          </a:p>
        </p:txBody>
      </p:sp>
      <p:sp>
        <p:nvSpPr>
          <p:cNvPr id="5" name="Text 3"/>
          <p:cNvSpPr/>
          <p:nvPr/>
        </p:nvSpPr>
        <p:spPr>
          <a:xfrm>
            <a:off x="548640" y="2194560"/>
            <a:ext cx="2743200" cy="777240"/>
          </a:xfrm>
          <a:prstGeom prst="roundRect">
            <a:avLst>
              <a:gd name="adj" fmla="val 7059"/>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Energy ratio (from ANN)</a:t>
            </a:r>
            <a:endParaRPr lang="en-US" sz="1400" dirty="0"/>
          </a:p>
          <a:p>
            <a:pPr algn="l" indent="0" marL="0">
              <a:spcBef>
                <a:spcPts val="400"/>
              </a:spcBef>
              <a:buNone/>
            </a:pPr>
            <a:r>
              <a:rPr lang="en-US" sz="1300" dirty="0">
                <a:solidFill>
                  <a:schemeClr val="tx1"/>
                </a:solidFill>
              </a:rPr>
              <a:t>Offload cheaper · Similar · Local cheaper</a:t>
            </a:r>
            <a:endParaRPr lang="en-US" sz="1400" dirty="0"/>
          </a:p>
        </p:txBody>
      </p:sp>
      <p:sp>
        <p:nvSpPr>
          <p:cNvPr id="6" name="Text 4"/>
          <p:cNvSpPr/>
          <p:nvPr/>
        </p:nvSpPr>
        <p:spPr>
          <a:xfrm>
            <a:off x="548640" y="3108960"/>
            <a:ext cx="2743200" cy="777240"/>
          </a:xfrm>
          <a:prstGeom prst="roundRect">
            <a:avLst>
              <a:gd name="adj" fmla="val 7059"/>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Time gain (from ANN)</a:t>
            </a:r>
            <a:endParaRPr lang="en-US" sz="1400" dirty="0"/>
          </a:p>
          <a:p>
            <a:pPr algn="l" indent="0" marL="0">
              <a:spcBef>
                <a:spcPts val="400"/>
              </a:spcBef>
              <a:buNone/>
            </a:pPr>
            <a:r>
              <a:rPr lang="en-US" sz="1300" dirty="0">
                <a:solidFill>
                  <a:schemeClr val="tx1"/>
                </a:solidFill>
              </a:rPr>
              <a:t>Small · Large</a:t>
            </a:r>
            <a:endParaRPr lang="en-US" sz="1400" dirty="0"/>
          </a:p>
        </p:txBody>
      </p:sp>
      <p:sp>
        <p:nvSpPr>
          <p:cNvPr id="7" name="Text 5"/>
          <p:cNvSpPr/>
          <p:nvPr/>
        </p:nvSpPr>
        <p:spPr>
          <a:xfrm>
            <a:off x="548640" y="4023360"/>
            <a:ext cx="2743200" cy="777240"/>
          </a:xfrm>
          <a:prstGeom prst="roundRect">
            <a:avLst>
              <a:gd name="adj" fmla="val 7059"/>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Server load</a:t>
            </a:r>
            <a:endParaRPr lang="en-US" sz="1400" dirty="0"/>
          </a:p>
          <a:p>
            <a:pPr algn="l" indent="0" marL="0">
              <a:spcBef>
                <a:spcPts val="400"/>
              </a:spcBef>
              <a:buNone/>
            </a:pPr>
            <a:r>
              <a:rPr lang="en-US" sz="1300" dirty="0">
                <a:solidFill>
                  <a:schemeClr val="tx1"/>
                </a:solidFill>
              </a:rPr>
              <a:t>Light · Busy</a:t>
            </a:r>
            <a:endParaRPr lang="en-US" sz="1400" dirty="0"/>
          </a:p>
        </p:txBody>
      </p:sp>
      <p:sp>
        <p:nvSpPr>
          <p:cNvPr id="8" name="Shape 6"/>
          <p:cNvSpPr/>
          <p:nvPr/>
        </p:nvSpPr>
        <p:spPr>
          <a:xfrm>
            <a:off x="3291840" y="3040380"/>
            <a:ext cx="320040" cy="0"/>
          </a:xfrm>
          <a:prstGeom prst="line">
            <a:avLst/>
          </a:prstGeom>
          <a:noFill/>
          <a:ln w="19050">
            <a:solidFill>
              <a:srgbClr val="7B8794"/>
            </a:solidFill>
            <a:prstDash val="solid"/>
            <a:tailEnd type="triangle"/>
          </a:ln>
        </p:spPr>
      </p:sp>
      <p:sp>
        <p:nvSpPr>
          <p:cNvPr id="9" name="Text 7"/>
          <p:cNvSpPr/>
          <p:nvPr/>
        </p:nvSpPr>
        <p:spPr>
          <a:xfrm>
            <a:off x="3611880" y="1280160"/>
            <a:ext cx="1371600" cy="3520440"/>
          </a:xfrm>
          <a:prstGeom prst="roundRect">
            <a:avLst>
              <a:gd name="adj" fmla="val 4000"/>
            </a:avLst>
          </a:prstGeom>
          <a:solidFill>
            <a:schemeClr val="bg2"/>
          </a:solidFill>
          <a:ln w="9525">
            <a:solidFill>
              <a:srgbClr val="CBD2D9"/>
            </a:solidFill>
          </a:ln>
        </p:spPr>
        <p:txBody>
          <a:bodyPr wrap="square" lIns="88900" tIns="88900" rIns="88900" bIns="88900" rtlCol="0" anchor="ctr"/>
          <a:lstStyle/>
          <a:p>
            <a:pPr algn="l" indent="0" marL="0">
              <a:buNone/>
            </a:pPr>
            <a:r>
              <a:rPr lang="en-US" sz="1400" b="1" dirty="0">
                <a:solidFill>
                  <a:schemeClr val="accent1"/>
                </a:solidFill>
              </a:rPr>
              <a:t>1 · Fuzzify</a:t>
            </a:r>
            <a:endParaRPr lang="en-US" sz="1400" dirty="0"/>
          </a:p>
          <a:p>
            <a:pPr algn="l" indent="0" marL="0">
              <a:spcBef>
                <a:spcPts val="400"/>
              </a:spcBef>
              <a:buNone/>
            </a:pPr>
            <a:r>
              <a:rPr lang="en-US" sz="1300" dirty="0">
                <a:solidFill>
                  <a:schemeClr val="tx1"/>
                </a:solidFill>
              </a:rPr>
              <a:t>How much is each input Low, Medium or High? Bell-shaped curves, learned</a:t>
            </a:r>
            <a:endParaRPr lang="en-US" sz="1400" dirty="0"/>
          </a:p>
        </p:txBody>
      </p:sp>
      <p:sp>
        <p:nvSpPr>
          <p:cNvPr id="10" name="Shape 8"/>
          <p:cNvSpPr/>
          <p:nvPr/>
        </p:nvSpPr>
        <p:spPr>
          <a:xfrm>
            <a:off x="4983480" y="3040380"/>
            <a:ext cx="256032" cy="0"/>
          </a:xfrm>
          <a:prstGeom prst="line">
            <a:avLst/>
          </a:prstGeom>
          <a:noFill/>
          <a:ln w="19050">
            <a:solidFill>
              <a:srgbClr val="7B8794"/>
            </a:solidFill>
            <a:prstDash val="solid"/>
            <a:tailEnd type="triangle"/>
          </a:ln>
        </p:spPr>
      </p:sp>
      <p:sp>
        <p:nvSpPr>
          <p:cNvPr id="11" name="Text 9"/>
          <p:cNvSpPr/>
          <p:nvPr/>
        </p:nvSpPr>
        <p:spPr>
          <a:xfrm>
            <a:off x="5239512" y="1280160"/>
            <a:ext cx="1371600" cy="3520440"/>
          </a:xfrm>
          <a:prstGeom prst="roundRect">
            <a:avLst>
              <a:gd name="adj" fmla="val 4000"/>
            </a:avLst>
          </a:prstGeom>
          <a:solidFill>
            <a:schemeClr val="bg2"/>
          </a:solidFill>
          <a:ln w="9525">
            <a:solidFill>
              <a:srgbClr val="CBD2D9"/>
            </a:solidFill>
          </a:ln>
        </p:spPr>
        <p:txBody>
          <a:bodyPr wrap="square" lIns="88900" tIns="88900" rIns="88900" bIns="88900" rtlCol="0" anchor="ctr"/>
          <a:lstStyle/>
          <a:p>
            <a:pPr algn="l" indent="0" marL="0">
              <a:buNone/>
            </a:pPr>
            <a:r>
              <a:rPr lang="en-US" sz="1400" b="1" dirty="0">
                <a:solidFill>
                  <a:schemeClr val="accent1"/>
                </a:solidFill>
              </a:rPr>
              <a:t>2 · Rule strength</a:t>
            </a:r>
            <a:endParaRPr lang="en-US" sz="1400" dirty="0"/>
          </a:p>
          <a:p>
            <a:pPr algn="l" indent="0" marL="0">
              <a:spcBef>
                <a:spcPts val="400"/>
              </a:spcBef>
              <a:buNone/>
            </a:pPr>
            <a:r>
              <a:rPr lang="en-US" sz="1300" dirty="0">
                <a:solidFill>
                  <a:schemeClr val="tx1"/>
                </a:solidFill>
              </a:rPr>
              <a:t>Multiply the matching degrees (AND)</a:t>
            </a:r>
            <a:endParaRPr lang="en-US" sz="1400" dirty="0"/>
          </a:p>
        </p:txBody>
      </p:sp>
      <p:sp>
        <p:nvSpPr>
          <p:cNvPr id="12" name="Shape 10"/>
          <p:cNvSpPr/>
          <p:nvPr/>
        </p:nvSpPr>
        <p:spPr>
          <a:xfrm>
            <a:off x="6611112" y="3040380"/>
            <a:ext cx="256032" cy="0"/>
          </a:xfrm>
          <a:prstGeom prst="line">
            <a:avLst/>
          </a:prstGeom>
          <a:noFill/>
          <a:ln w="19050">
            <a:solidFill>
              <a:srgbClr val="7B8794"/>
            </a:solidFill>
            <a:prstDash val="solid"/>
            <a:tailEnd type="triangle"/>
          </a:ln>
        </p:spPr>
      </p:sp>
      <p:sp>
        <p:nvSpPr>
          <p:cNvPr id="13" name="Text 11"/>
          <p:cNvSpPr/>
          <p:nvPr/>
        </p:nvSpPr>
        <p:spPr>
          <a:xfrm>
            <a:off x="6867144" y="1280160"/>
            <a:ext cx="1371600" cy="3520440"/>
          </a:xfrm>
          <a:prstGeom prst="roundRect">
            <a:avLst>
              <a:gd name="adj" fmla="val 4000"/>
            </a:avLst>
          </a:prstGeom>
          <a:solidFill>
            <a:schemeClr val="bg2"/>
          </a:solidFill>
          <a:ln w="9525">
            <a:solidFill>
              <a:srgbClr val="CBD2D9"/>
            </a:solidFill>
          </a:ln>
        </p:spPr>
        <p:txBody>
          <a:bodyPr wrap="square" lIns="88900" tIns="88900" rIns="88900" bIns="88900" rtlCol="0" anchor="ctr"/>
          <a:lstStyle/>
          <a:p>
            <a:pPr algn="l" indent="0" marL="0">
              <a:buNone/>
            </a:pPr>
            <a:r>
              <a:rPr lang="en-US" sz="1400" b="1" dirty="0">
                <a:solidFill>
                  <a:schemeClr val="accent1"/>
                </a:solidFill>
              </a:rPr>
              <a:t>3 · Normalise</a:t>
            </a:r>
            <a:endParaRPr lang="en-US" sz="1400" dirty="0"/>
          </a:p>
          <a:p>
            <a:pPr algn="l" indent="0" marL="0">
              <a:spcBef>
                <a:spcPts val="400"/>
              </a:spcBef>
              <a:buNone/>
            </a:pPr>
            <a:r>
              <a:rPr lang="en-US" sz="1300" dirty="0">
                <a:solidFill>
                  <a:schemeClr val="tx1"/>
                </a:solidFill>
              </a:rPr>
              <a:t>Each rule's share of the total</a:t>
            </a:r>
            <a:endParaRPr lang="en-US" sz="1400" dirty="0"/>
          </a:p>
        </p:txBody>
      </p:sp>
      <p:sp>
        <p:nvSpPr>
          <p:cNvPr id="14" name="Shape 12"/>
          <p:cNvSpPr/>
          <p:nvPr/>
        </p:nvSpPr>
        <p:spPr>
          <a:xfrm>
            <a:off x="8238744" y="3040380"/>
            <a:ext cx="256032" cy="0"/>
          </a:xfrm>
          <a:prstGeom prst="line">
            <a:avLst/>
          </a:prstGeom>
          <a:noFill/>
          <a:ln w="19050">
            <a:solidFill>
              <a:srgbClr val="7B8794"/>
            </a:solidFill>
            <a:prstDash val="solid"/>
            <a:tailEnd type="triangle"/>
          </a:ln>
        </p:spPr>
      </p:sp>
      <p:sp>
        <p:nvSpPr>
          <p:cNvPr id="15" name="Text 13"/>
          <p:cNvSpPr/>
          <p:nvPr/>
        </p:nvSpPr>
        <p:spPr>
          <a:xfrm>
            <a:off x="8494776" y="1280160"/>
            <a:ext cx="1371600" cy="3520440"/>
          </a:xfrm>
          <a:prstGeom prst="roundRect">
            <a:avLst>
              <a:gd name="adj" fmla="val 4000"/>
            </a:avLst>
          </a:prstGeom>
          <a:solidFill>
            <a:schemeClr val="bg2"/>
          </a:solidFill>
          <a:ln w="9525">
            <a:solidFill>
              <a:srgbClr val="CBD2D9"/>
            </a:solidFill>
          </a:ln>
        </p:spPr>
        <p:txBody>
          <a:bodyPr wrap="square" lIns="88900" tIns="88900" rIns="88900" bIns="88900" rtlCol="0" anchor="ctr"/>
          <a:lstStyle/>
          <a:p>
            <a:pPr algn="l" indent="0" marL="0">
              <a:buNone/>
            </a:pPr>
            <a:r>
              <a:rPr lang="en-US" sz="1400" b="1" dirty="0">
                <a:solidFill>
                  <a:schemeClr val="accent1"/>
                </a:solidFill>
              </a:rPr>
              <a:t>4 · Rule output</a:t>
            </a:r>
            <a:endParaRPr lang="en-US" sz="1400" dirty="0"/>
          </a:p>
          <a:p>
            <a:pPr algn="l" indent="0" marL="0">
              <a:spcBef>
                <a:spcPts val="400"/>
              </a:spcBef>
              <a:buNone/>
            </a:pPr>
            <a:r>
              <a:rPr lang="en-US" sz="1300" dirty="0">
                <a:solidFill>
                  <a:schemeClr val="tx1"/>
                </a:solidFill>
              </a:rPr>
              <a:t>A simple straight-line formula of the inputs, learned</a:t>
            </a:r>
            <a:endParaRPr lang="en-US" sz="1400" dirty="0"/>
          </a:p>
        </p:txBody>
      </p:sp>
      <p:sp>
        <p:nvSpPr>
          <p:cNvPr id="16" name="Shape 14"/>
          <p:cNvSpPr/>
          <p:nvPr/>
        </p:nvSpPr>
        <p:spPr>
          <a:xfrm>
            <a:off x="9866376" y="3040380"/>
            <a:ext cx="256032" cy="0"/>
          </a:xfrm>
          <a:prstGeom prst="line">
            <a:avLst/>
          </a:prstGeom>
          <a:noFill/>
          <a:ln w="19050">
            <a:solidFill>
              <a:srgbClr val="7B8794"/>
            </a:solidFill>
            <a:prstDash val="solid"/>
            <a:tailEnd type="triangle"/>
          </a:ln>
        </p:spPr>
      </p:sp>
      <p:sp>
        <p:nvSpPr>
          <p:cNvPr id="17" name="Text 15"/>
          <p:cNvSpPr/>
          <p:nvPr/>
        </p:nvSpPr>
        <p:spPr>
          <a:xfrm>
            <a:off x="10122408" y="1280160"/>
            <a:ext cx="1371600" cy="3520440"/>
          </a:xfrm>
          <a:prstGeom prst="roundRect">
            <a:avLst>
              <a:gd name="adj" fmla="val 4000"/>
            </a:avLst>
          </a:prstGeom>
          <a:solidFill>
            <a:schemeClr val="accent1"/>
          </a:solidFill>
          <a:ln w="9525">
            <a:solidFill>
              <a:srgbClr val="2F6F73"/>
            </a:solidFill>
          </a:ln>
        </p:spPr>
        <p:txBody>
          <a:bodyPr wrap="square" lIns="88900" tIns="88900" rIns="88900" bIns="88900" rtlCol="0" anchor="ctr"/>
          <a:lstStyle/>
          <a:p>
            <a:pPr algn="l" indent="0" marL="0">
              <a:buNone/>
            </a:pPr>
            <a:r>
              <a:rPr lang="en-US" sz="1400" b="1" dirty="0">
                <a:solidFill>
                  <a:schemeClr val="bg1"/>
                </a:solidFill>
              </a:rPr>
              <a:t>5 · Add up</a:t>
            </a:r>
            <a:endParaRPr lang="en-US" sz="1400" dirty="0"/>
          </a:p>
          <a:p>
            <a:pPr algn="l" indent="0" marL="0">
              <a:spcBef>
                <a:spcPts val="400"/>
              </a:spcBef>
              <a:buNone/>
            </a:pPr>
            <a:r>
              <a:rPr lang="en-US" sz="1300" dirty="0">
                <a:solidFill>
                  <a:schemeClr val="bg1"/>
                </a:solidFill>
              </a:rPr>
              <a:t>Weighted sum = offload score; above 0.5 means offload</a:t>
            </a:r>
            <a:endParaRPr lang="en-US" sz="1400" dirty="0"/>
          </a:p>
        </p:txBody>
      </p:sp>
      <p:sp>
        <p:nvSpPr>
          <p:cNvPr id="18" name="Text 16"/>
          <p:cNvSpPr/>
          <p:nvPr/>
        </p:nvSpPr>
        <p:spPr>
          <a:xfrm>
            <a:off x="548640" y="5120640"/>
            <a:ext cx="11109960" cy="640080"/>
          </a:xfrm>
          <a:prstGeom prst="roundRect">
            <a:avLst>
              <a:gd name="adj" fmla="val 8571"/>
            </a:avLst>
          </a:prstGeom>
          <a:solidFill>
            <a:schemeClr val="bg2"/>
          </a:solidFill>
          <a:ln w="9525">
            <a:solidFill>
              <a:srgbClr val="CBD2D9"/>
            </a:solidFill>
          </a:ln>
        </p:spPr>
        <p:txBody>
          <a:bodyPr wrap="square" lIns="114300" tIns="114300" rIns="114300" bIns="114300" rtlCol="0" anchor="ctr"/>
          <a:lstStyle/>
          <a:p>
            <a:pPr algn="ctr" indent="0" marL="0">
              <a:spcBef>
                <a:spcPts val="400"/>
              </a:spcBef>
              <a:buNone/>
            </a:pPr>
            <a:r>
              <a:rPr lang="en-US" sz="1500" dirty="0">
                <a:solidFill>
                  <a:schemeClr val="tx1"/>
                </a:solidFill>
              </a:rPr>
              <a:t>3 × 3 × 2 × 2 = 36 rules (one for every combination)  ·  200 learned numbers: 20 for curve shapes, 180 for rule outputs</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How ANFIS is trained, and one real decision</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Vishaanth R</a:t>
            </a:r>
            <a:endParaRPr lang="en-US" sz="1200" dirty="0"/>
          </a:p>
        </p:txBody>
      </p:sp>
      <p:sp>
        <p:nvSpPr>
          <p:cNvPr id="4" name="Text 2"/>
          <p:cNvSpPr txBox="1"/>
          <p:nvPr/>
        </p:nvSpPr>
        <p:spPr>
          <a:xfrm>
            <a:off x="548640" y="1188720"/>
            <a:ext cx="5486400" cy="320040"/>
          </a:xfrm>
          <a:prstGeom prst="rect">
            <a:avLst/>
          </a:prstGeom>
          <a:noFill/>
          <a:ln/>
        </p:spPr>
        <p:txBody>
          <a:bodyPr wrap="square" lIns="0" tIns="0" rIns="0" bIns="0" rtlCol="0" anchor="t"/>
          <a:lstStyle/>
          <a:p>
            <a:pPr algn="l" indent="0" marL="0">
              <a:buNone/>
            </a:pPr>
            <a:r>
              <a:rPr lang="en-US" sz="1500" b="1" dirty="0">
                <a:solidFill>
                  <a:schemeClr val="tx1"/>
                </a:solidFill>
              </a:rPr>
              <a:t>Hybrid learning (repeated 30 times)</a:t>
            </a:r>
            <a:endParaRPr lang="en-US" sz="1500" dirty="0"/>
          </a:p>
        </p:txBody>
      </p:sp>
      <p:sp>
        <p:nvSpPr>
          <p:cNvPr id="5" name="Text 3"/>
          <p:cNvSpPr/>
          <p:nvPr/>
        </p:nvSpPr>
        <p:spPr>
          <a:xfrm>
            <a:off x="548640" y="1645920"/>
            <a:ext cx="5120640" cy="1005840"/>
          </a:xfrm>
          <a:prstGeom prst="roundRect">
            <a:avLst>
              <a:gd name="adj" fmla="val 5455"/>
            </a:avLst>
          </a:prstGeom>
          <a:solidFill>
            <a:schemeClr val="bg2"/>
          </a:solidFill>
          <a:ln w="9525">
            <a:solidFill>
              <a:srgbClr val="CBD2D9"/>
            </a:solidFill>
          </a:ln>
        </p:spPr>
        <p:txBody>
          <a:bodyPr wrap="square" lIns="114300" tIns="114300" rIns="114300" bIns="114300" rtlCol="0" anchor="ctr"/>
          <a:lstStyle/>
          <a:p>
            <a:pPr algn="l" indent="0" marL="0">
              <a:buNone/>
            </a:pPr>
            <a:r>
              <a:rPr lang="en-US" sz="1500" b="1" dirty="0">
                <a:solidFill>
                  <a:schemeClr val="accent1"/>
                </a:solidFill>
              </a:rPr>
              <a:t>Step 1 · Least squares</a:t>
            </a:r>
            <a:endParaRPr lang="en-US" sz="1500" dirty="0"/>
          </a:p>
          <a:p>
            <a:pPr algn="l" indent="0" marL="0">
              <a:spcBef>
                <a:spcPts val="400"/>
              </a:spcBef>
              <a:buNone/>
            </a:pPr>
            <a:r>
              <a:rPr lang="en-US" sz="1400" dirty="0">
                <a:solidFill>
                  <a:schemeClr val="tx1"/>
                </a:solidFill>
              </a:rPr>
              <a:t>Solve the 180 rule-output numbers exactly</a:t>
            </a:r>
            <a:endParaRPr lang="en-US" sz="1500" dirty="0"/>
          </a:p>
        </p:txBody>
      </p:sp>
      <p:sp>
        <p:nvSpPr>
          <p:cNvPr id="6" name="Shape 4"/>
          <p:cNvSpPr/>
          <p:nvPr/>
        </p:nvSpPr>
        <p:spPr>
          <a:xfrm>
            <a:off x="3108960" y="2651760"/>
            <a:ext cx="0" cy="365760"/>
          </a:xfrm>
          <a:prstGeom prst="line">
            <a:avLst/>
          </a:prstGeom>
          <a:noFill/>
          <a:ln w="19050">
            <a:solidFill>
              <a:srgbClr val="7B8794"/>
            </a:solidFill>
            <a:prstDash val="solid"/>
            <a:tailEnd type="triangle"/>
          </a:ln>
        </p:spPr>
      </p:sp>
      <p:sp>
        <p:nvSpPr>
          <p:cNvPr id="7" name="Text 5"/>
          <p:cNvSpPr/>
          <p:nvPr/>
        </p:nvSpPr>
        <p:spPr>
          <a:xfrm>
            <a:off x="548640" y="3017520"/>
            <a:ext cx="5120640" cy="1005840"/>
          </a:xfrm>
          <a:prstGeom prst="roundRect">
            <a:avLst>
              <a:gd name="adj" fmla="val 5455"/>
            </a:avLst>
          </a:prstGeom>
          <a:solidFill>
            <a:schemeClr val="bg2"/>
          </a:solidFill>
          <a:ln w="9525">
            <a:solidFill>
              <a:srgbClr val="CBD2D9"/>
            </a:solidFill>
          </a:ln>
        </p:spPr>
        <p:txBody>
          <a:bodyPr wrap="square" lIns="114300" tIns="114300" rIns="114300" bIns="114300" rtlCol="0" anchor="ctr"/>
          <a:lstStyle/>
          <a:p>
            <a:pPr algn="l" indent="0" marL="0">
              <a:buNone/>
            </a:pPr>
            <a:r>
              <a:rPr lang="en-US" sz="1500" b="1" dirty="0">
                <a:solidFill>
                  <a:schemeClr val="accent1"/>
                </a:solidFill>
              </a:rPr>
              <a:t>Step 2 · Gradient descent</a:t>
            </a:r>
            <a:endParaRPr lang="en-US" sz="1500" dirty="0"/>
          </a:p>
          <a:p>
            <a:pPr algn="l" indent="0" marL="0">
              <a:spcBef>
                <a:spcPts val="400"/>
              </a:spcBef>
              <a:buNone/>
            </a:pPr>
            <a:r>
              <a:rPr lang="en-US" sz="1400" dirty="0">
                <a:solidFill>
                  <a:schemeClr val="tx1"/>
                </a:solidFill>
              </a:rPr>
              <a:t>Nudge the 20 curve centres and widths</a:t>
            </a:r>
            <a:endParaRPr lang="en-US" sz="1500" dirty="0"/>
          </a:p>
        </p:txBody>
      </p:sp>
      <p:sp>
        <p:nvSpPr>
          <p:cNvPr id="8" name="Shape 6"/>
          <p:cNvSpPr/>
          <p:nvPr/>
        </p:nvSpPr>
        <p:spPr>
          <a:xfrm>
            <a:off x="5669280" y="3520440"/>
            <a:ext cx="274320" cy="0"/>
          </a:xfrm>
          <a:prstGeom prst="line">
            <a:avLst/>
          </a:prstGeom>
          <a:noFill/>
          <a:ln w="19050">
            <a:solidFill>
              <a:srgbClr val="7B8794"/>
            </a:solidFill>
            <a:prstDash val="solid"/>
          </a:ln>
        </p:spPr>
      </p:sp>
      <p:sp>
        <p:nvSpPr>
          <p:cNvPr id="9" name="Shape 7"/>
          <p:cNvSpPr/>
          <p:nvPr/>
        </p:nvSpPr>
        <p:spPr>
          <a:xfrm flipV="1">
            <a:off x="5943600" y="2148840"/>
            <a:ext cx="0" cy="1371600"/>
          </a:xfrm>
          <a:prstGeom prst="line">
            <a:avLst/>
          </a:prstGeom>
          <a:noFill/>
          <a:ln w="19050">
            <a:solidFill>
              <a:srgbClr val="7B8794"/>
            </a:solidFill>
            <a:prstDash val="solid"/>
          </a:ln>
        </p:spPr>
      </p:sp>
      <p:sp>
        <p:nvSpPr>
          <p:cNvPr id="10" name="Shape 8"/>
          <p:cNvSpPr/>
          <p:nvPr/>
        </p:nvSpPr>
        <p:spPr>
          <a:xfrm flipH="1">
            <a:off x="5669280" y="2148840"/>
            <a:ext cx="274320" cy="0"/>
          </a:xfrm>
          <a:prstGeom prst="line">
            <a:avLst/>
          </a:prstGeom>
          <a:noFill/>
          <a:ln w="19050">
            <a:solidFill>
              <a:srgbClr val="7B8794"/>
            </a:solidFill>
            <a:prstDash val="solid"/>
            <a:tailEnd type="triangle"/>
          </a:ln>
        </p:spPr>
      </p:sp>
      <p:sp>
        <p:nvSpPr>
          <p:cNvPr id="11" name="Text 9"/>
          <p:cNvSpPr/>
          <p:nvPr/>
        </p:nvSpPr>
        <p:spPr>
          <a:xfrm>
            <a:off x="548640" y="4343400"/>
            <a:ext cx="5394960" cy="1600200"/>
          </a:xfrm>
          <a:prstGeom prst="roundRect">
            <a:avLst>
              <a:gd name="adj" fmla="val 3429"/>
            </a:avLst>
          </a:prstGeom>
          <a:solidFill>
            <a:schemeClr val="bg2"/>
          </a:solidFill>
          <a:ln w="9525">
            <a:solidFill>
              <a:srgbClr val="CBD2D9"/>
            </a:solidFill>
          </a:ln>
        </p:spPr>
        <p:txBody>
          <a:bodyPr wrap="square" lIns="152400" tIns="152400" rIns="152400" bIns="152400" rtlCol="0" anchor="ctr"/>
          <a:lstStyle/>
          <a:p>
            <a:pPr algn="l" indent="0" marL="0">
              <a:buNone/>
            </a:pPr>
            <a:r>
              <a:rPr lang="en-US" sz="1500" b="1" dirty="0">
                <a:solidFill>
                  <a:schemeClr val="accent1"/>
                </a:solidFill>
              </a:rPr>
              <a:t>Teacher: a soft target</a:t>
            </a:r>
            <a:endParaRPr lang="en-US" sz="1500" dirty="0"/>
          </a:p>
          <a:p>
            <a:pPr algn="l" indent="0" marL="0">
              <a:spcBef>
                <a:spcPts val="400"/>
              </a:spcBef>
              <a:buNone/>
            </a:pPr>
            <a:r>
              <a:rPr lang="en-US" sz="1300" dirty="0">
                <a:solidFill>
                  <a:schemeClr val="tx1"/>
                </a:solidFill>
              </a:rPr>
              <a:t>How strongly one option is cheaper: 0 = clearly local, 0.5 = a tie, 1 = clearly offload</a:t>
            </a:r>
            <a:endParaRPr lang="en-US" sz="1500" dirty="0"/>
          </a:p>
          <a:p>
            <a:pPr algn="l" indent="0" marL="0">
              <a:spcBef>
                <a:spcPts val="800"/>
              </a:spcBef>
              <a:buNone/>
            </a:pPr>
            <a:r>
              <a:rPr lang="en-US" sz="1300" dirty="0">
                <a:solidFill>
                  <a:schemeClr val="tx1"/>
                </a:solidFill>
              </a:rPr>
              <a:t>Trained on the ANN's predictions, so it learns to live with the ANN's errors</a:t>
            </a:r>
            <a:endParaRPr lang="en-US" sz="1500" dirty="0"/>
          </a:p>
        </p:txBody>
      </p:sp>
      <p:sp>
        <p:nvSpPr>
          <p:cNvPr id="12" name="Text 10"/>
          <p:cNvSpPr txBox="1"/>
          <p:nvPr/>
        </p:nvSpPr>
        <p:spPr>
          <a:xfrm>
            <a:off x="6537960" y="1188720"/>
            <a:ext cx="5120640" cy="320040"/>
          </a:xfrm>
          <a:prstGeom prst="rect">
            <a:avLst/>
          </a:prstGeom>
          <a:noFill/>
          <a:ln/>
        </p:spPr>
        <p:txBody>
          <a:bodyPr wrap="square" lIns="0" tIns="0" rIns="0" bIns="0" rtlCol="0" anchor="t"/>
          <a:lstStyle/>
          <a:p>
            <a:pPr algn="l" indent="0" marL="0">
              <a:buNone/>
            </a:pPr>
            <a:r>
              <a:rPr lang="en-US" sz="1500" b="1" dirty="0">
                <a:solidFill>
                  <a:schemeClr val="tx1"/>
                </a:solidFill>
              </a:rPr>
              <a:t>Worked example · task T09206</a:t>
            </a:r>
            <a:endParaRPr lang="en-US" sz="1500" dirty="0"/>
          </a:p>
        </p:txBody>
      </p:sp>
      <p:sp>
        <p:nvSpPr>
          <p:cNvPr id="13" name="Text 11"/>
          <p:cNvSpPr/>
          <p:nvPr/>
        </p:nvSpPr>
        <p:spPr>
          <a:xfrm>
            <a:off x="6537960" y="1645920"/>
            <a:ext cx="5120640" cy="868680"/>
          </a:xfrm>
          <a:prstGeom prst="roundRect">
            <a:avLst>
              <a:gd name="adj" fmla="val 6316"/>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ANN predicts</a:t>
            </a:r>
            <a:endParaRPr lang="en-US" sz="1400" dirty="0"/>
          </a:p>
          <a:p>
            <a:pPr algn="l" indent="0" marL="0">
              <a:spcBef>
                <a:spcPts val="400"/>
              </a:spcBef>
              <a:buNone/>
            </a:pPr>
            <a:r>
              <a:rPr lang="en-US" sz="1300" dirty="0">
                <a:solidFill>
                  <a:schemeClr val="tx1"/>
                </a:solidFill>
              </a:rPr>
              <a:t>353 ms and 149 mJ to offload</a:t>
            </a:r>
            <a:endParaRPr lang="en-US" sz="1400" dirty="0"/>
          </a:p>
        </p:txBody>
      </p:sp>
      <p:sp>
        <p:nvSpPr>
          <p:cNvPr id="14" name="Shape 12"/>
          <p:cNvSpPr/>
          <p:nvPr/>
        </p:nvSpPr>
        <p:spPr>
          <a:xfrm>
            <a:off x="9098280" y="2514600"/>
            <a:ext cx="0" cy="228600"/>
          </a:xfrm>
          <a:prstGeom prst="line">
            <a:avLst/>
          </a:prstGeom>
          <a:noFill/>
          <a:ln w="19050">
            <a:solidFill>
              <a:srgbClr val="7B8794"/>
            </a:solidFill>
            <a:prstDash val="solid"/>
            <a:tailEnd type="triangle"/>
          </a:ln>
        </p:spPr>
      </p:sp>
      <p:sp>
        <p:nvSpPr>
          <p:cNvPr id="15" name="Text 13"/>
          <p:cNvSpPr/>
          <p:nvPr/>
        </p:nvSpPr>
        <p:spPr>
          <a:xfrm>
            <a:off x="6537960" y="2743200"/>
            <a:ext cx="5120640" cy="868680"/>
          </a:xfrm>
          <a:prstGeom prst="roundRect">
            <a:avLst>
              <a:gd name="adj" fmla="val 6316"/>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ANFIS inputs</a:t>
            </a:r>
            <a:endParaRPr lang="en-US" sz="1400" dirty="0"/>
          </a:p>
          <a:p>
            <a:pPr algn="l" indent="0" marL="0">
              <a:spcBef>
                <a:spcPts val="400"/>
              </a:spcBef>
              <a:buNone/>
            </a:pPr>
            <a:r>
              <a:rPr lang="en-US" sz="1300" dirty="0">
                <a:solidFill>
                  <a:schemeClr val="tx1"/>
                </a:solidFill>
              </a:rPr>
              <a:t>battery 33.5 % · offload needs about half the energy · time gain 29 % · server 49 %</a:t>
            </a:r>
            <a:endParaRPr lang="en-US" sz="1400" dirty="0"/>
          </a:p>
        </p:txBody>
      </p:sp>
      <p:sp>
        <p:nvSpPr>
          <p:cNvPr id="16" name="Shape 14"/>
          <p:cNvSpPr/>
          <p:nvPr/>
        </p:nvSpPr>
        <p:spPr>
          <a:xfrm>
            <a:off x="9098280" y="3611880"/>
            <a:ext cx="0" cy="228600"/>
          </a:xfrm>
          <a:prstGeom prst="line">
            <a:avLst/>
          </a:prstGeom>
          <a:noFill/>
          <a:ln w="19050">
            <a:solidFill>
              <a:srgbClr val="7B8794"/>
            </a:solidFill>
            <a:prstDash val="solid"/>
            <a:tailEnd type="triangle"/>
          </a:ln>
        </p:spPr>
      </p:sp>
      <p:sp>
        <p:nvSpPr>
          <p:cNvPr id="17" name="Text 15"/>
          <p:cNvSpPr/>
          <p:nvPr/>
        </p:nvSpPr>
        <p:spPr>
          <a:xfrm>
            <a:off x="6537960" y="3840480"/>
            <a:ext cx="5120640" cy="868680"/>
          </a:xfrm>
          <a:prstGeom prst="roundRect">
            <a:avLst>
              <a:gd name="adj" fmla="val 6316"/>
            </a:avLst>
          </a:prstGeom>
          <a:solidFill>
            <a:schemeClr val="bg2"/>
          </a:solidFill>
          <a:ln w="9525">
            <a:solidFill>
              <a:srgbClr val="CBD2D9"/>
            </a:solidFill>
          </a:ln>
        </p:spPr>
        <p:txBody>
          <a:bodyPr wrap="square" lIns="114300" tIns="114300" rIns="114300" bIns="114300" rtlCol="0" anchor="ctr"/>
          <a:lstStyle/>
          <a:p>
            <a:pPr algn="l" indent="0" marL="0">
              <a:buNone/>
            </a:pPr>
            <a:r>
              <a:rPr lang="en-US" sz="1400" b="1" dirty="0">
                <a:solidFill>
                  <a:schemeClr val="accent1"/>
                </a:solidFill>
              </a:rPr>
              <a:t>Strongest rule</a:t>
            </a:r>
            <a:endParaRPr lang="en-US" sz="1400" dirty="0"/>
          </a:p>
          <a:p>
            <a:pPr algn="l" indent="0" marL="0">
              <a:spcBef>
                <a:spcPts val="400"/>
              </a:spcBef>
              <a:buNone/>
            </a:pPr>
            <a:r>
              <a:rPr lang="en-US" sz="1300" dirty="0">
                <a:solidFill>
                  <a:schemeClr val="tx1"/>
                </a:solidFill>
              </a:rPr>
              <a:t>Battery Medium AND Offload cheaper AND Small gain AND Busy server: 19 % of the decision</a:t>
            </a:r>
            <a:endParaRPr lang="en-US" sz="1400" dirty="0"/>
          </a:p>
        </p:txBody>
      </p:sp>
      <p:sp>
        <p:nvSpPr>
          <p:cNvPr id="18" name="Shape 16"/>
          <p:cNvSpPr/>
          <p:nvPr/>
        </p:nvSpPr>
        <p:spPr>
          <a:xfrm>
            <a:off x="9098280" y="4709160"/>
            <a:ext cx="0" cy="228600"/>
          </a:xfrm>
          <a:prstGeom prst="line">
            <a:avLst/>
          </a:prstGeom>
          <a:noFill/>
          <a:ln w="19050">
            <a:solidFill>
              <a:srgbClr val="7B8794"/>
            </a:solidFill>
            <a:prstDash val="solid"/>
            <a:tailEnd type="triangle"/>
          </a:ln>
        </p:spPr>
      </p:sp>
      <p:sp>
        <p:nvSpPr>
          <p:cNvPr id="19" name="Text 17"/>
          <p:cNvSpPr/>
          <p:nvPr/>
        </p:nvSpPr>
        <p:spPr>
          <a:xfrm>
            <a:off x="6537960" y="4937760"/>
            <a:ext cx="5120640" cy="1005840"/>
          </a:xfrm>
          <a:prstGeom prst="roundRect">
            <a:avLst>
              <a:gd name="adj" fmla="val 5455"/>
            </a:avLst>
          </a:prstGeom>
          <a:solidFill>
            <a:schemeClr val="accent1"/>
          </a:solidFill>
          <a:ln w="9525">
            <a:solidFill>
              <a:srgbClr val="2F6F73"/>
            </a:solidFill>
          </a:ln>
        </p:spPr>
        <p:txBody>
          <a:bodyPr wrap="square" lIns="114300" tIns="114300" rIns="114300" bIns="114300" rtlCol="0" anchor="ctr"/>
          <a:lstStyle/>
          <a:p>
            <a:pPr algn="l" indent="0" marL="0">
              <a:buNone/>
            </a:pPr>
            <a:r>
              <a:rPr lang="en-US" sz="1500" b="1" dirty="0">
                <a:solidFill>
                  <a:schemeClr val="bg1"/>
                </a:solidFill>
              </a:rPr>
              <a:t>Offload score 0.9965 → OFFLOAD</a:t>
            </a:r>
            <a:endParaRPr lang="en-US" sz="1500" dirty="0"/>
          </a:p>
          <a:p>
            <a:pPr algn="l" indent="0" marL="0">
              <a:spcBef>
                <a:spcPts val="400"/>
              </a:spcBef>
              <a:buNone/>
            </a:pPr>
            <a:r>
              <a:rPr lang="en-US" sz="1300" dirty="0">
                <a:solidFill>
                  <a:schemeClr val="bg1"/>
                </a:solidFill>
              </a:rPr>
              <a:t>The teacher's value was 0.9945</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Every decision is explained on the dashboard</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Vishaanth R</a:t>
            </a:r>
            <a:endParaRPr lang="en-US" sz="1200" dirty="0"/>
          </a:p>
        </p:txBody>
      </p:sp>
      <p:pic>
        <p:nvPicPr>
          <p:cNvPr id="4" name="Dashboard live decisions" descr="Dashboard: decisions of the four controllers for the live task, ANN prediction versus reality, and the ANFIS rules that fired with their weights">    </p:cNvPr>
          <p:cNvPicPr>
            <a:picLocks noChangeAspect="1"/>
          </p:cNvPicPr>
          <p:nvPr/>
        </p:nvPicPr>
        <p:blipFill>
          <a:blip r:embed="rId1"/>
          <a:stretch>
            <a:fillRect/>
          </a:stretch>
        </p:blipFill>
        <p:spPr>
          <a:xfrm>
            <a:off x="548640" y="1234440"/>
            <a:ext cx="5943600" cy="2862072"/>
          </a:xfrm>
          <a:prstGeom prst="rect">
            <a:avLst/>
          </a:prstGeom>
        </p:spPr>
      </p:pic>
      <p:sp>
        <p:nvSpPr>
          <p:cNvPr id="5" name="Text 2"/>
          <p:cNvSpPr txBox="1"/>
          <p:nvPr/>
        </p:nvSpPr>
        <p:spPr>
          <a:xfrm>
            <a:off x="548640" y="4160520"/>
            <a:ext cx="5943600" cy="274320"/>
          </a:xfrm>
          <a:prstGeom prst="rect">
            <a:avLst/>
          </a:prstGeom>
          <a:noFill/>
          <a:ln/>
        </p:spPr>
        <p:txBody>
          <a:bodyPr wrap="square" lIns="0" tIns="0" rIns="0" bIns="0" rtlCol="0" anchor="t"/>
          <a:lstStyle/>
          <a:p>
            <a:pPr algn="l" indent="0" marL="0">
              <a:buNone/>
            </a:pPr>
            <a:r>
              <a:rPr lang="en-US" sz="1100" dirty="0">
                <a:solidFill>
                  <a:schemeClr val="tx2"/>
                </a:solidFill>
              </a:rPr>
              <a:t>Live view: each controller's decision and the ANFIS rules that fired</a:t>
            </a:r>
            <a:endParaRPr lang="en-US" sz="1100" dirty="0"/>
          </a:p>
        </p:txBody>
      </p:sp>
      <p:pic>
        <p:nvPicPr>
          <p:cNvPr id="6" name="Dashboard ANFIS tab" descr="Dashboard ANFIS tab: 36 rules, 98.1 % validation accuracy, 200 parameters, learned membership functions and the training curve">    </p:cNvPr>
          <p:cNvPicPr>
            <a:picLocks noChangeAspect="1"/>
          </p:cNvPicPr>
          <p:nvPr/>
        </p:nvPicPr>
        <p:blipFill>
          <a:blip r:embed="rId2"/>
          <a:stretch>
            <a:fillRect/>
          </a:stretch>
        </p:blipFill>
        <p:spPr>
          <a:xfrm>
            <a:off x="6766560" y="1234440"/>
            <a:ext cx="4892040" cy="4133088"/>
          </a:xfrm>
          <a:prstGeom prst="rect">
            <a:avLst/>
          </a:prstGeom>
        </p:spPr>
      </p:pic>
      <p:sp>
        <p:nvSpPr>
          <p:cNvPr id="7" name="Text 3"/>
          <p:cNvSpPr txBox="1"/>
          <p:nvPr/>
        </p:nvSpPr>
        <p:spPr>
          <a:xfrm>
            <a:off x="6766560" y="5431536"/>
            <a:ext cx="4892040" cy="274320"/>
          </a:xfrm>
          <a:prstGeom prst="rect">
            <a:avLst/>
          </a:prstGeom>
          <a:noFill/>
          <a:ln/>
        </p:spPr>
        <p:txBody>
          <a:bodyPr wrap="square" lIns="0" tIns="0" rIns="0" bIns="0" rtlCol="0" anchor="t"/>
          <a:lstStyle/>
          <a:p>
            <a:pPr algn="l" indent="0" marL="0">
              <a:buNone/>
            </a:pPr>
            <a:r>
              <a:rPr lang="en-US" sz="1100" dirty="0">
                <a:solidFill>
                  <a:schemeClr val="tx2"/>
                </a:solidFill>
              </a:rPr>
              <a:t>ANFIS tab: the learned curves and the training curve</a:t>
            </a:r>
            <a:endParaRPr lang="en-US" sz="1100" dirty="0"/>
          </a:p>
        </p:txBody>
      </p:sp>
      <p:graphicFrame>
        <p:nvGraphicFramePr>
          <p:cNvPr id="12" name="Design ablation table"/>
          <p:cNvGraphicFramePr>
            <a:graphicFrameLocks noGrp="1"/>
          </p:cNvGraphicFramePr>
          <p:nvPr>
            <p:extLst>
              <p:ext uri="{D42A27DB-BD31-4B8C-83A1-F6EECF244321}">
                <p14:modId xmlns:p14="http://schemas.microsoft.com/office/powerpoint/2010/main" val="1579011935"/>
              </p:ext>
            </p:extLst>
          </p:nvPr>
        </p:nvGraphicFramePr>
        <p:xfrm>
          <a:off x="548640" y="4572000"/>
          <a:ext cx="5943600" cy="914400"/>
        </p:xfrm>
        <a:graphic>
          <a:graphicData uri="http://schemas.openxmlformats.org/drawingml/2006/table">
            <a:tbl>
              <a:tblPr/>
              <a:tblGrid>
                <a:gridCol w="4206240"/>
                <a:gridCol w="1737360"/>
              </a:tblGrid>
              <a:tr h="274320">
                <a:tc>
                  <a:txBody>
                    <a:bodyPr/>
                    <a:lstStyle/>
                    <a:p>
                      <a:pPr indent="0" marL="0">
                        <a:buNone/>
                      </a:pPr>
                      <a:r>
                        <a:rPr lang="en-US" sz="1300" b="1" dirty="0">
                          <a:solidFill>
                            <a:schemeClr val="bg1"/>
                          </a:solidFill>
                        </a:rPr>
                        <a:t>Design check (unseen week)</a:t>
                      </a:r>
                      <a:endParaRPr lang="en-US" sz="1300" dirty="0"/>
                    </a:p>
                  </a:txBody>
                  <a:tcPr marL="91440" marR="91440" marT="27432" marB="27432"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Agreement</a:t>
                      </a:r>
                      <a:endParaRPr lang="en-US" sz="1300" dirty="0"/>
                    </a:p>
                  </a:txBody>
                  <a:tcPr marL="91440" marR="91440" marT="27432" marB="27432"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chemeClr val="accent1"/>
                    </a:solidFill>
                  </a:tcPr>
                </a:tc>
              </a:tr>
              <a:tr h="274320">
                <a:tc>
                  <a:txBody>
                    <a:bodyPr/>
                    <a:lstStyle/>
                    <a:p>
                      <a:pPr indent="0" marL="0">
                        <a:buNone/>
                      </a:pPr>
                      <a:r>
                        <a:rPr lang="en-US" sz="1300" dirty="0">
                          <a:solidFill>
                            <a:schemeClr val="tx1"/>
                          </a:solidFill>
                        </a:rPr>
                        <a:t>Full hybrid</a:t>
                      </a:r>
                      <a:endParaRPr lang="en-US" sz="1300" dirty="0"/>
                    </a:p>
                  </a:txBody>
                  <a:tcPr marL="91440" marR="91440" marT="27432" marB="27432"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96.6 %</a:t>
                      </a:r>
                      <a:endParaRPr lang="en-US" sz="1300" dirty="0"/>
                    </a:p>
                  </a:txBody>
                  <a:tcPr marL="91440" marR="91440" marT="27432" marB="27432"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Hard 0/1 target instead of soft</a:t>
                      </a:r>
                      <a:endParaRPr lang="en-US" sz="1300" dirty="0"/>
                    </a:p>
                  </a:txBody>
                  <a:tcPr marL="91440" marR="91440" marT="27432" marB="27432"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92.5 %</a:t>
                      </a:r>
                      <a:endParaRPr lang="en-US" sz="1300" dirty="0"/>
                    </a:p>
                  </a:txBody>
                  <a:tcPr marL="91440" marR="91440" marT="27432" marB="27432"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No curve tuning</a:t>
                      </a:r>
                      <a:endParaRPr lang="en-US" sz="1300" dirty="0"/>
                    </a:p>
                  </a:txBody>
                  <a:tcPr marL="91440" marR="91440" marT="27432" marB="27432"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97.0 %</a:t>
                      </a:r>
                      <a:endParaRPr lang="en-US" sz="1300" dirty="0"/>
                    </a:p>
                  </a:txBody>
                  <a:tcPr marL="91440" marR="91440" marT="27432" marB="27432"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No ANN</a:t>
                      </a:r>
                      <a:endParaRPr lang="en-US" sz="1300" dirty="0"/>
                    </a:p>
                  </a:txBody>
                  <a:tcPr marL="91440" marR="91440" marT="27432" marB="27432"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93.6 %</a:t>
                      </a:r>
                      <a:endParaRPr lang="en-US" sz="1300" dirty="0"/>
                    </a:p>
                  </a:txBody>
                  <a:tcPr marL="91440" marR="91440" marT="27432" marB="27432"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052560" cy="731520"/>
          </a:xfrm>
          <a:prstGeom prst="rect">
            <a:avLst/>
          </a:prstGeom>
          <a:noFill/>
          <a:ln/>
        </p:spPr>
        <p:txBody>
          <a:bodyPr wrap="square" lIns="0" tIns="0" rIns="0" bIns="0" rtlCol="0" anchor="ctr"/>
          <a:lstStyle/>
          <a:p>
            <a:pPr algn="l" indent="0" marL="0">
              <a:buNone/>
            </a:pPr>
            <a:r>
              <a:rPr lang="en-US" sz="3000" b="1" dirty="0">
                <a:solidFill>
                  <a:srgbClr val="1F2933"/>
                </a:solidFill>
                <a:latin typeface="Cambria" pitchFamily="34" charset="0"/>
                <a:ea typeface="Cambria" pitchFamily="34" charset="-122"/>
                <a:cs typeface="Cambria" pitchFamily="34" charset="-120"/>
              </a:rPr>
              <a:t>Results on 11 unseen weeks</a:t>
            </a:r>
            <a:endParaRPr lang="en-US" sz="3000" dirty="0"/>
          </a:p>
        </p:txBody>
      </p:sp>
      <p:sp>
        <p:nvSpPr>
          <p:cNvPr id="3" name="Text 1"/>
          <p:cNvSpPr/>
          <p:nvPr>
            <p:ph idx="102" type="body" hasCustomPrompt="1"/>
          </p:nvPr>
        </p:nvSpPr>
        <p:spPr>
          <a:xfrm>
            <a:off x="9692640" y="457200"/>
            <a:ext cx="1965960" cy="457200"/>
          </a:xfrm>
          <a:prstGeom prst="rect">
            <a:avLst/>
          </a:prstGeom>
          <a:noFill/>
          <a:ln/>
        </p:spPr>
        <p:txBody>
          <a:bodyPr wrap="square" lIns="0" tIns="0" rIns="0" bIns="0" rtlCol="0" anchor="ctr"/>
          <a:lstStyle/>
          <a:p>
            <a:pPr algn="r" indent="0" marL="0">
              <a:buNone/>
            </a:pPr>
            <a:r>
              <a:rPr lang="en-US" sz="1200" dirty="0">
                <a:solidFill>
                  <a:srgbClr val="52606D"/>
                </a:solidFill>
              </a:rPr>
              <a:t>Darshan R</a:t>
            </a:r>
            <a:endParaRPr lang="en-US" sz="1200" dirty="0"/>
          </a:p>
        </p:txBody>
      </p:sp>
      <p:graphicFrame>
        <p:nvGraphicFramePr>
          <p:cNvPr id="4" name="Agreement chart" descr=""/>
          <p:cNvGraphicFramePr/>
          <p:nvPr/>
        </p:nvGraphicFramePr>
        <p:xfrm>
          <a:off x="548640" y="1234440"/>
          <a:ext cx="548640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Energy chart" descr=""/>
          <p:cNvGraphicFramePr/>
          <p:nvPr/>
        </p:nvGraphicFramePr>
        <p:xfrm>
          <a:off x="6172200" y="1234440"/>
          <a:ext cx="5486400" cy="34290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548640" y="4892040"/>
            <a:ext cx="3566160" cy="1051560"/>
          </a:xfrm>
          <a:prstGeom prst="roundRect">
            <a:avLst>
              <a:gd name="adj" fmla="val 5217"/>
            </a:avLst>
          </a:prstGeom>
          <a:solidFill>
            <a:schemeClr val="bg2"/>
          </a:solidFill>
          <a:ln w="9525">
            <a:solidFill>
              <a:srgbClr val="CBD2D9"/>
            </a:solidFill>
          </a:ln>
        </p:spPr>
        <p:txBody>
          <a:bodyPr wrap="square" lIns="127000" tIns="127000" rIns="127000" bIns="127000" rtlCol="0" anchor="ctr"/>
          <a:lstStyle/>
          <a:p>
            <a:pPr algn="l" indent="0" marL="0">
              <a:buNone/>
            </a:pPr>
            <a:r>
              <a:rPr lang="en-US" sz="1400" b="1" dirty="0">
                <a:solidFill>
                  <a:schemeClr val="accent1"/>
                </a:solidFill>
              </a:rPr>
              <a:t>vs Fuzzy only</a:t>
            </a:r>
            <a:endParaRPr lang="en-US" sz="1400" dirty="0"/>
          </a:p>
          <a:p>
            <a:pPr algn="l" indent="0" marL="0">
              <a:spcBef>
                <a:spcPts val="400"/>
              </a:spcBef>
              <a:buNone/>
            </a:pPr>
            <a:r>
              <a:rPr lang="en-US" sz="1300" dirty="0">
                <a:solidFill>
                  <a:schemeClr val="tx1"/>
                </a:solidFill>
              </a:rPr>
              <a:t>Better in all 11 weeks on accuracy, energy and extra cost (p ≈ 0.001)</a:t>
            </a:r>
            <a:endParaRPr lang="en-US" sz="1400" dirty="0"/>
          </a:p>
        </p:txBody>
      </p:sp>
      <p:sp>
        <p:nvSpPr>
          <p:cNvPr id="7" name="Text 3"/>
          <p:cNvSpPr/>
          <p:nvPr/>
        </p:nvSpPr>
        <p:spPr>
          <a:xfrm>
            <a:off x="4320540" y="4892040"/>
            <a:ext cx="3566160" cy="1051560"/>
          </a:xfrm>
          <a:prstGeom prst="roundRect">
            <a:avLst>
              <a:gd name="adj" fmla="val 5217"/>
            </a:avLst>
          </a:prstGeom>
          <a:solidFill>
            <a:schemeClr val="bg2"/>
          </a:solidFill>
          <a:ln w="9525">
            <a:solidFill>
              <a:srgbClr val="CBD2D9"/>
            </a:solidFill>
          </a:ln>
        </p:spPr>
        <p:txBody>
          <a:bodyPr wrap="square" lIns="127000" tIns="127000" rIns="127000" bIns="127000" rtlCol="0" anchor="ctr"/>
          <a:lstStyle/>
          <a:p>
            <a:pPr algn="l" indent="0" marL="0">
              <a:buNone/>
            </a:pPr>
            <a:r>
              <a:rPr lang="en-US" sz="1400" b="1" dirty="0">
                <a:solidFill>
                  <a:schemeClr val="accent1"/>
                </a:solidFill>
              </a:rPr>
              <a:t>vs ANN only</a:t>
            </a:r>
            <a:endParaRPr lang="en-US" sz="1400" dirty="0"/>
          </a:p>
          <a:p>
            <a:pPr algn="l" indent="0" marL="0">
              <a:spcBef>
                <a:spcPts val="400"/>
              </a:spcBef>
              <a:buNone/>
            </a:pPr>
            <a:r>
              <a:rPr lang="en-US" sz="1300" dirty="0">
                <a:solidFill>
                  <a:schemeClr val="tx1"/>
                </a:solidFill>
              </a:rPr>
              <a:t>Same accuracy (p = 0.83), but less energy in all 11 weeks (p ≈ 0.001)</a:t>
            </a:r>
            <a:endParaRPr lang="en-US" sz="1400" dirty="0"/>
          </a:p>
        </p:txBody>
      </p:sp>
      <p:sp>
        <p:nvSpPr>
          <p:cNvPr id="8" name="Text 4"/>
          <p:cNvSpPr/>
          <p:nvPr/>
        </p:nvSpPr>
        <p:spPr>
          <a:xfrm>
            <a:off x="8092440" y="4892040"/>
            <a:ext cx="3566160" cy="1051560"/>
          </a:xfrm>
          <a:prstGeom prst="roundRect">
            <a:avLst>
              <a:gd name="adj" fmla="val 5217"/>
            </a:avLst>
          </a:prstGeom>
          <a:solidFill>
            <a:schemeClr val="bg2"/>
          </a:solidFill>
          <a:ln w="9525">
            <a:solidFill>
              <a:srgbClr val="CBD2D9"/>
            </a:solidFill>
          </a:ln>
        </p:spPr>
        <p:txBody>
          <a:bodyPr wrap="square" lIns="127000" tIns="127000" rIns="127000" bIns="127000" rtlCol="0" anchor="ctr"/>
          <a:lstStyle/>
          <a:p>
            <a:pPr algn="l" indent="0" marL="0">
              <a:buNone/>
            </a:pPr>
            <a:r>
              <a:rPr lang="en-US" sz="1400" b="1" dirty="0">
                <a:solidFill>
                  <a:schemeClr val="accent1"/>
                </a:solidFill>
              </a:rPr>
              <a:t>And it explains itself</a:t>
            </a:r>
            <a:endParaRPr lang="en-US" sz="1400" dirty="0"/>
          </a:p>
          <a:p>
            <a:pPr algn="l" indent="0" marL="0">
              <a:spcBef>
                <a:spcPts val="400"/>
              </a:spcBef>
              <a:buNone/>
            </a:pPr>
            <a:r>
              <a:rPr lang="en-US" sz="1300" dirty="0">
                <a:solidFill>
                  <a:schemeClr val="tx1"/>
                </a:solidFill>
              </a:rPr>
              <a:t>Every decision shows the rules that fired</a:t>
            </a:r>
            <a:endParaRPr lang="en-US" sz="1400" dirty="0"/>
          </a:p>
        </p:txBody>
      </p:sp>
      <p:sp>
        <p:nvSpPr>
          <p:cNvPr id="9" name="Text 5"/>
          <p:cNvSpPr txBox="1"/>
          <p:nvPr/>
        </p:nvSpPr>
        <p:spPr>
          <a:xfrm>
            <a:off x="548640" y="6035040"/>
            <a:ext cx="11109960" cy="274320"/>
          </a:xfrm>
          <a:prstGeom prst="rect">
            <a:avLst/>
          </a:prstGeom>
          <a:noFill/>
          <a:ln/>
        </p:spPr>
        <p:txBody>
          <a:bodyPr wrap="square" lIns="0" tIns="0" rIns="0" bIns="0" rtlCol="0" anchor="t"/>
          <a:lstStyle/>
          <a:p>
            <a:pPr algn="l" indent="0" marL="0">
              <a:buNone/>
            </a:pPr>
            <a:r>
              <a:rPr lang="en-US" sz="1100" dirty="0">
                <a:solidFill>
                  <a:schemeClr val="tx2"/>
                </a:solidFill>
              </a:rPr>
              <a:t>Charts start at 90 % and 950 J so the differences are visible. Significance: Wilcoxon signed-rank test, paired by week.</a:t>
            </a:r>
            <a:endParaRPr lang="en-US" sz="11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5852160" cy="21945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640080" y="2148840"/>
            <a:ext cx="5486400" cy="1828800"/>
          </a:xfrm>
          <a:prstGeom prst="rect">
            <a:avLst/>
          </a:prstGeom>
          <a:noFill/>
          <a:ln/>
        </p:spPr>
        <p:txBody>
          <a:bodyPr wrap="square" lIns="0" tIns="0" rIns="0" bIns="0" rtlCol="0" anchor="t"/>
          <a:lstStyle/>
          <a:p>
            <a:pPr algn="l" marL="342900" indent="-342900">
              <a:buSzPct val="100000"/>
              <a:buChar char="•"/>
            </a:pPr>
            <a:r>
              <a:rPr lang="en-US" sz="1800" dirty="0">
                <a:solidFill>
                  <a:srgbClr val="FFFFFF"/>
                </a:solidFill>
              </a:rPr>
              <a:t>As accurate as the best black-box ANN</a:t>
            </a:r>
            <a:endParaRPr lang="en-US" sz="1800" dirty="0"/>
          </a:p>
          <a:p>
            <a:pPr algn="l" marL="342900" indent="-342900">
              <a:buSzPct val="100000"/>
              <a:buChar char="•"/>
            </a:pPr>
            <a:r>
              <a:rPr lang="en-US" sz="1800" dirty="0">
                <a:solidFill>
                  <a:srgbClr val="FFFFFF"/>
                </a:solidFill>
              </a:rPr>
              <a:t>Makes cheaper decisions: less energy, lower extra cost</a:t>
            </a:r>
            <a:endParaRPr lang="en-US" sz="1800" dirty="0"/>
          </a:p>
          <a:p>
            <a:pPr algn="l" marL="342900" indent="-342900">
              <a:buSzPct val="100000"/>
              <a:buChar char="•"/>
            </a:pPr>
            <a:r>
              <a:rPr lang="en-US" sz="1800" dirty="0">
                <a:solidFill>
                  <a:srgbClr val="FFFFFF"/>
                </a:solidFill>
              </a:rPr>
              <a:t>Explains every decision with readable rules</a:t>
            </a:r>
            <a:endParaRPr lang="en-US" sz="1800" dirty="0"/>
          </a:p>
        </p:txBody>
      </p:sp>
      <p:sp>
        <p:nvSpPr>
          <p:cNvPr id="4" name="Text 2"/>
          <p:cNvSpPr txBox="1"/>
          <p:nvPr/>
        </p:nvSpPr>
        <p:spPr>
          <a:xfrm>
            <a:off x="6766560" y="2148840"/>
            <a:ext cx="4846320" cy="2377440"/>
          </a:xfrm>
          <a:prstGeom prst="rect">
            <a:avLst/>
          </a:prstGeom>
          <a:noFill/>
          <a:ln/>
        </p:spPr>
        <p:txBody>
          <a:bodyPr wrap="square" lIns="0" tIns="0" rIns="0" bIns="0" rtlCol="0" anchor="t"/>
          <a:lstStyle/>
          <a:p>
            <a:pPr algn="l" indent="0" marL="0">
              <a:buNone/>
            </a:pPr>
            <a:r>
              <a:rPr lang="en-US" sz="1600" b="1" dirty="0">
                <a:solidFill>
                  <a:srgbClr val="CBD2D9"/>
                </a:solidFill>
              </a:rPr>
              <a:t>Limitations</a:t>
            </a:r>
            <a:endParaRPr lang="en-US" sz="1600" dirty="0"/>
          </a:p>
          <a:p>
            <a:pPr algn="l" indent="0" marL="0">
              <a:buNone/>
            </a:pPr>
            <a:r>
              <a:rPr lang="en-US" sz="1600" dirty="0">
                <a:solidFill>
                  <a:srgbClr val="FFFFFF"/>
                </a:solidFill>
              </a:rPr>
              <a:t>Simulated, not yet calibrated on real hardware; no cloud tier</a:t>
            </a:r>
            <a:endParaRPr lang="en-US" sz="1600" dirty="0"/>
          </a:p>
          <a:p>
            <a:pPr algn="l" indent="0" marL="0">
              <a:buNone/>
            </a:pPr>
            <a:r>
              <a:rPr lang="en-US" sz="1600" dirty="0">
                <a:solidFill>
                  <a:srgbClr val="FFFFFF"/>
                </a:solidFill>
              </a:rPr>
              <a:t> </a:t>
            </a:r>
            <a:endParaRPr lang="en-US" sz="1600" dirty="0"/>
          </a:p>
          <a:p>
            <a:pPr algn="l" indent="0" marL="0">
              <a:buNone/>
            </a:pPr>
            <a:r>
              <a:rPr lang="en-US" sz="1600" b="1" dirty="0">
                <a:solidFill>
                  <a:srgbClr val="CBD2D9"/>
                </a:solidFill>
              </a:rPr>
              <a:t>Next steps</a:t>
            </a:r>
            <a:endParaRPr lang="en-US" sz="1600" dirty="0"/>
          </a:p>
          <a:p>
            <a:pPr algn="l" indent="0" marL="0">
              <a:buNone/>
            </a:pPr>
            <a:r>
              <a:rPr lang="en-US" sz="1600" dirty="0">
                <a:solidFill>
                  <a:srgbClr val="FFFFFF"/>
                </a:solidFill>
              </a:rPr>
              <a:t>Hardware calibration, a cloud tier, and running ANFIS on the ESP32 itself</a:t>
            </a:r>
            <a:endParaRPr lang="en-US" sz="1600" dirty="0"/>
          </a:p>
        </p:txBody>
      </p:sp>
      <p:sp>
        <p:nvSpPr>
          <p:cNvPr id="5" name="Text 3"/>
          <p:cNvSpPr txBox="1"/>
          <p:nvPr/>
        </p:nvSpPr>
        <p:spPr>
          <a:xfrm>
            <a:off x="640080" y="5120640"/>
            <a:ext cx="10972800" cy="731520"/>
          </a:xfrm>
          <a:prstGeom prst="rect">
            <a:avLst/>
          </a:prstGeom>
          <a:noFill/>
          <a:ln/>
        </p:spPr>
        <p:txBody>
          <a:bodyPr wrap="square" lIns="0" tIns="0" rIns="0" bIns="0" rtlCol="0" anchor="t"/>
          <a:lstStyle/>
          <a:p>
            <a:pPr algn="l" indent="0" marL="0">
              <a:buNone/>
            </a:pPr>
            <a:r>
              <a:rPr lang="en-US" sz="2800" b="1" dirty="0">
                <a:solidFill>
                  <a:srgbClr val="FFFFFF"/>
                </a:solidFill>
              </a:rPr>
              <a:t>Thank you. Questions?</a:t>
            </a:r>
            <a:endParaRPr lang="en-US" sz="2800" dirty="0"/>
          </a:p>
        </p:txBody>
      </p:sp>
    </p:spTree>
  </p:cSld>
  <p:clrMapOvr>
    <a:masterClrMapping/>
  </p:clrMapOvr>
</p:sld>
</file>

<file path=ppt/theme/theme1.xml><?xml version="1.0" encoding="utf-8"?>
<a:theme xmlns:a="http://schemas.openxmlformats.org/drawingml/2006/main" name="Twin Offloading">
  <a:themeElements>
    <a:clrScheme name="Twin Offloading">
      <a:dk1>
        <a:srgbClr val="1F2933"/>
      </a:dk1>
      <a:lt1>
        <a:srgbClr val="FFFFFF"/>
      </a:lt1>
      <a:dk2>
        <a:srgbClr val="52606D"/>
      </a:dk2>
      <a:lt2>
        <a:srgbClr val="F2F4F6"/>
      </a:lt2>
      <a:accent1>
        <a:srgbClr val="2F6F73"/>
      </a:accent1>
      <a:accent2>
        <a:srgbClr val="B7791F"/>
      </a:accent2>
      <a:accent3>
        <a:srgbClr val="7B8794"/>
      </a:accent3>
      <a:accent4>
        <a:srgbClr val="4C6A92"/>
      </a:accent4>
      <a:accent5>
        <a:srgbClr val="CBD2D9"/>
      </a:accent5>
      <a:accent6>
        <a:srgbClr val="5E7D55"/>
      </a:accent6>
      <a:hlink>
        <a:srgbClr val="2F6F73"/>
      </a:hlink>
      <a:folHlink>
        <a:srgbClr val="4C6A92"/>
      </a:folHlink>
    </a:clrScheme>
    <a:fontScheme name="Twin Offload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ANN-ANFIS Hybrid for Renewable-Aware Task Offloading</dc:title>
  <dc:subject>PptxGenJS Presentation</dc:subject>
  <dc:creator>Sanjith M P, Rohith S, Darshan R, Vishaanth R</dc:creator>
  <cp:lastModifiedBy>Sanjith M P, Rohith S, Darshan R, Vishaanth R</cp:lastModifiedBy>
  <cp:revision>1</cp:revision>
  <dcterms:created xsi:type="dcterms:W3CDTF">2026-10-26T05:47:44Z</dcterms:created>
  <dcterms:modified xsi:type="dcterms:W3CDTF">2026-10-26T05:47:44Z</dcterms:modified>
</cp:coreProperties>
</file>